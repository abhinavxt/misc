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E32538-80CD-4FE4-A093-8D48B9661E90}" v="42" dt="2026-09-28T18:13:06.7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499" y="-8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7365D"/>
                </a:solidFill>
                <a:latin typeface="Arial"/>
              </a:defRPr>
            </a:pPr>
            <a:r>
              <a:rPr lang="en-US" sz="1300" b="0" i="0" u="none" strike="noStrike">
                <a:solidFill>
                  <a:srgbClr val="17365D"/>
                </a:solidFill>
                <a:latin typeface="Arial"/>
              </a:rPr>
              <a:t>Transfer time for an 800 KB image (seconds)</a:t>
            </a:r>
          </a:p>
        </c:rich>
      </c:tx>
      <c:overlay val="0"/>
    </c:title>
    <c:autoTitleDeleted val="0"/>
    <c:plotArea>
      <c:layout/>
      <c:barChart>
        <c:barDir val="bar"/>
        <c:grouping val="clustered"/>
        <c:varyColors val="0"/>
        <c:ser>
          <c:idx val="0"/>
          <c:order val="0"/>
          <c:tx>
            <c:strRef>
              <c:f>Sheet1!$B$1</c:f>
              <c:strCache>
                <c:ptCount val="1"/>
                <c:pt idx="0">
                  <c:v>Transfer time (s)</c:v>
                </c:pt>
              </c:strCache>
            </c:strRef>
          </c:tx>
          <c:spPr>
            <a:solidFill>
              <a:srgbClr val="6B778A"/>
            </a:solidFill>
            <a:effectLst/>
          </c:spPr>
          <c:invertIfNegative val="0"/>
          <c:dPt>
            <c:idx val="0"/>
            <c:invertIfNegative val="0"/>
            <c:bubble3D val="0"/>
            <c:extLst>
              <c:ext xmlns:c16="http://schemas.microsoft.com/office/drawing/2014/chart" uri="{C3380CC4-5D6E-409C-BE32-E72D297353CC}">
                <c16:uniqueId val="{00000000-F778-4991-8286-C8E98D5345CB}"/>
              </c:ext>
            </c:extLst>
          </c:dPt>
          <c:dPt>
            <c:idx val="1"/>
            <c:invertIfNegative val="0"/>
            <c:bubble3D val="0"/>
            <c:spPr>
              <a:solidFill>
                <a:srgbClr val="1F6FB5"/>
              </a:solidFill>
              <a:effectLst/>
            </c:spPr>
            <c:extLst>
              <c:ext xmlns:c16="http://schemas.microsoft.com/office/drawing/2014/chart" uri="{C3380CC4-5D6E-409C-BE32-E72D297353CC}">
                <c16:uniqueId val="{00000002-F778-4991-8286-C8E98D5345CB}"/>
              </c:ext>
            </c:extLst>
          </c:dPt>
          <c:dPt>
            <c:idx val="2"/>
            <c:invertIfNegative val="0"/>
            <c:bubble3D val="0"/>
            <c:spPr>
              <a:solidFill>
                <a:srgbClr val="C8102E"/>
              </a:solidFill>
              <a:effectLst/>
            </c:spPr>
            <c:extLst>
              <c:ext xmlns:c16="http://schemas.microsoft.com/office/drawing/2014/chart" uri="{C3380CC4-5D6E-409C-BE32-E72D297353CC}">
                <c16:uniqueId val="{00000004-F778-4991-8286-C8E98D5345CB}"/>
              </c:ext>
            </c:extLst>
          </c:dPt>
          <c:dLbls>
            <c:numFmt formatCode="0.0#\ &quot;s&quot;" sourceLinked="0"/>
            <c:spPr>
              <a:noFill/>
              <a:ln>
                <a:noFill/>
              </a:ln>
              <a:effectLst/>
            </c:spPr>
            <c:txPr>
              <a:bodyPr/>
              <a:lstStyle/>
              <a:p>
                <a:pPr>
                  <a:defRPr sz="1300" b="1" i="0" u="none" strike="noStrike">
                    <a:solidFill>
                      <a:srgbClr val="17365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UART</c:v>
                </c:pt>
                <c:pt idx="1">
                  <c:v>CAN-FD</c:v>
                </c:pt>
                <c:pt idx="2">
                  <c:v>UDP</c:v>
                </c:pt>
              </c:strCache>
            </c:strRef>
          </c:cat>
          <c:val>
            <c:numRef>
              <c:f>Sheet1!$B$2:$B$4</c:f>
              <c:numCache>
                <c:formatCode>General</c:formatCode>
                <c:ptCount val="3"/>
                <c:pt idx="0">
                  <c:v>105.9</c:v>
                </c:pt>
                <c:pt idx="1">
                  <c:v>4.0999999999999996</c:v>
                </c:pt>
                <c:pt idx="2">
                  <c:v>0.92</c:v>
                </c:pt>
              </c:numCache>
            </c:numRef>
          </c:val>
          <c:extLst>
            <c:ext xmlns:c16="http://schemas.microsoft.com/office/drawing/2014/chart" uri="{C3380CC4-5D6E-409C-BE32-E72D297353CC}">
              <c16:uniqueId val="{00000005-F778-4991-8286-C8E98D5345CB}"/>
            </c:ext>
          </c:extLst>
        </c:ser>
        <c:dLbls>
          <c:showLegendKey val="0"/>
          <c:showVal val="1"/>
          <c:showCatName val="0"/>
          <c:showSerName val="0"/>
          <c:showPercent val="0"/>
          <c:showBubbleSize val="0"/>
        </c:dLbls>
        <c:gapWidth val="60"/>
        <c:axId val="134340608"/>
        <c:axId val="195292544"/>
      </c:barChart>
      <c:catAx>
        <c:axId val="134340608"/>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7365D"/>
                </a:solidFill>
                <a:latin typeface="Arial"/>
              </a:defRPr>
            </a:pPr>
            <a:endParaRPr lang="en-US"/>
          </a:p>
        </c:txPr>
        <c:crossAx val="195292544"/>
        <c:crosses val="autoZero"/>
        <c:auto val="1"/>
        <c:lblAlgn val="ctr"/>
        <c:lblOffset val="100"/>
        <c:noMultiLvlLbl val="1"/>
      </c:catAx>
      <c:valAx>
        <c:axId val="195292544"/>
        <c:scaling>
          <c:orientation val="minMax"/>
          <c:max val="130"/>
          <c:min val="0"/>
        </c:scaling>
        <c:delete val="0"/>
        <c:axPos val="b"/>
        <c:majorGridlines>
          <c:spPr>
            <a:ln w="6350" cap="flat">
              <a:solidFill>
                <a:srgbClr val="D6E4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F"/>
                </a:solidFill>
                <a:latin typeface="Arial"/>
              </a:defRPr>
            </a:pPr>
            <a:endParaRPr lang="en-US"/>
          </a:p>
        </c:txPr>
        <c:crossAx val="134340608"/>
        <c:crosses val="autoZero"/>
        <c:crossBetween val="between"/>
        <c:majorUnit val="2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EC34A2F2-539D-4180-B94A-ACCCFE959954}" type="datetimeFigureOut">
              <a:rPr lang="en-IN" smtClean="0"/>
              <a:t>28-09-2026</a:t>
            </a:fld>
            <a:endParaRPr lang="en-IN"/>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C7BFE91A-0A13-4525-9E42-E1AF0759B543}" type="slidenum">
              <a:rPr lang="en-IN" smtClean="0"/>
              <a:t>‹#›</a:t>
            </a:fld>
            <a:endParaRPr lang="en-IN"/>
          </a:p>
        </p:txBody>
      </p:sp>
    </p:spTree>
    <p:extLst>
      <p:ext uri="{BB962C8B-B14F-4D97-AF65-F5344CB8AC3E}">
        <p14:creationId xmlns:p14="http://schemas.microsoft.com/office/powerpoint/2010/main" val="3876451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Abhinav from CRL Ghaziabad. Today I'll show how we update firmware on every card of a Kavach ATP unit from one Ethernet port, and why a failed update never leaves a card dead.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plan. We start with the problem, walk through the transfer protocol, then the flash side: dual banks, safe writes, rollback. We close with security and on-target numbers.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ATP unit isn't one controller. It's a master plus several I/O cards. Updating each card by hand is slow and risky. We wanted one entry point that reaches every card and can survive anything that goes wrong mid-update.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make this harder than a phone update. The links are different, the channel loses and repeats packets, and the card must never brick. Our design answers each one.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images enter through the master over Ethernet. The master reads the target id. If the image is its own, it flashes it. If not, it forwards it on the internal CAN-FD bus, and falls back to UART if CAN-FD is down. Every card commits to its own flash and rolls back on its own.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image left to right. The host sends metadata, then the blocks. The master checks each block, then the whole image. It routes the image by target id. The target commits it: copies it to its spare bank and reboots to try it. The bottom half solves a race: the peripheral would otherwise boot away before the master finishes.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design choice. The reliability logic lives in one protocol-agnostic core. It never needs to know which link a block came over. Each link only supplies framing. The master and every peripheral run the same receive code, so we verify it once.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each link behaves and what job it does. UDP brings images in fast. CAN-FD fans them out inside the unit. UART is the safety net when the CAN bus is down.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split the image into N blocks sized to fit one frame. On UDP, 1450 bytes fits the 1500 byte MTU with a little room to spare. On CAN-FD, the 64 byte frame leaves 47 bytes. UART keeps 47 for uniformity. Block count drives bitmap size.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four messages cross the wire, on every link. Each starts with a one-byte type. The whole-image CRC acts as a session id, so a stale poll or status from an aborted session can't corrupt the current one.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phases. Announce: the sender repeats META so one lost copy can't kill the session. Bulk send: every block goes out once. Poll and repair: the receiver says what's missing, the sender resends only that. The receiver replies COMPLETE before it commits and reboots, and repeats that reply three times.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counting bytes, the receiver keeps one bit per block. A good block sets its bit. Anything else leaves it clear. One status message tells the sender exactly which blocks to resend. Every channel fault collapses into the same thing: a clear bit.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8 MB QSPI flash holds the bootloader, two 1 MB image banks and two copies of the metadata. We always write to the bank that isn't running. The old image stays untouched until the new one proves itself.</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order the writes so that a power cut at any step leaves one good path to boot. Two image slots and two metadata copies give us that. The backup metadata is always written before the primary.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CRC only catches corrupted flash. It can't catch a clean image that crashes. So the bootloader counts trial boots. The new app must confirm itself once it runs correctly. If it resets three times first, we roll back to the other bank. One bank is always confirmed, because the first image is confirmed by default. In steady state the bootloader writes nothing to flash.</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CRC protects against accidents, not attackers. So the host signs the image. The host hashes the image with SHA-256 and signs that digest with its private key. The host sends its public key along with the signature. The controller first hashes that key and matches it with the key hash stored in OTP, so a fake key is rejected. Then it uses the key to verify the signature, recomputes the image hash and compares. Only a match gets committed. This part is designed and integration is in progress.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measured end-to-end time from the first META to the first COMPLETE. Ten runs, 800 KB image, nominal conditions. UDP moves the image in under a second, CAN-FD in about four. UART is slow but it's a fallback, and it still finishes in under two minutes. Repair rounds stay cheap on every link.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one protocol over three links, a bitmap that makes loss and duplication harmless, and a flash commit that survives power cuts and bad images. Every node runs this on its own. Next, we want the nodes to find each other and spread updates without a central host.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EL_CONTENT">
    <p:bg>
      <p:bgPr>
        <a:solidFill>
          <a:srgbClr val="FFFFFF"/>
        </a:solidFill>
        <a:effectLst/>
      </p:bgPr>
    </p:bg>
    <p:spTree>
      <p:nvGrpSpPr>
        <p:cNvPr id="1" name=""/>
        <p:cNvGrpSpPr/>
        <p:nvPr/>
      </p:nvGrpSpPr>
      <p:grpSpPr>
        <a:xfrm>
          <a:off x="0" y="0"/>
          <a:ext cx="0" cy="0"/>
          <a:chOff x="0" y="0"/>
          <a:chExt cx="0" cy="0"/>
        </a:xfrm>
      </p:grpSpPr>
      <p:pic>
        <p:nvPicPr>
          <p:cNvPr id="2" name="Image 0" descr="/home/claude/build/header_line.png"/>
          <p:cNvPicPr>
            <a:picLocks noChangeAspect="1"/>
          </p:cNvPicPr>
          <p:nvPr/>
        </p:nvPicPr>
        <p:blipFill>
          <a:blip r:embed="rId2"/>
          <a:stretch>
            <a:fillRect/>
          </a:stretch>
        </p:blipFill>
        <p:spPr>
          <a:xfrm>
            <a:off x="0" y="457200"/>
            <a:ext cx="12188952" cy="228600"/>
          </a:xfrm>
          <a:prstGeom prst="rect">
            <a:avLst/>
          </a:prstGeom>
        </p:spPr>
      </p:pic>
      <p:pic>
        <p:nvPicPr>
          <p:cNvPr id="3" name="Image 1" descr="/home/claude/build/logo35.png"/>
          <p:cNvPicPr>
            <a:picLocks noChangeAspect="1"/>
          </p:cNvPicPr>
          <p:nvPr/>
        </p:nvPicPr>
        <p:blipFill>
          <a:blip r:embed="rId3"/>
          <a:stretch>
            <a:fillRect/>
          </a:stretch>
        </p:blipFill>
        <p:spPr>
          <a:xfrm>
            <a:off x="9372600" y="18288"/>
            <a:ext cx="566928" cy="429768"/>
          </a:xfrm>
          <a:prstGeom prst="rect">
            <a:avLst/>
          </a:prstGeom>
        </p:spPr>
      </p:pic>
      <p:pic>
        <p:nvPicPr>
          <p:cNvPr id="4" name="Image 2" descr="/home/claude/build/bel_small.png"/>
          <p:cNvPicPr>
            <a:picLocks noChangeAspect="1"/>
          </p:cNvPicPr>
          <p:nvPr/>
        </p:nvPicPr>
        <p:blipFill>
          <a:blip r:embed="rId4"/>
          <a:stretch>
            <a:fillRect/>
          </a:stretch>
        </p:blipFill>
        <p:spPr>
          <a:xfrm>
            <a:off x="10058400" y="54864"/>
            <a:ext cx="1783080" cy="475488"/>
          </a:xfrm>
          <a:prstGeom prst="rect">
            <a:avLst/>
          </a:prstGeom>
        </p:spPr>
      </p:pic>
      <p:sp>
        <p:nvSpPr>
          <p:cNvPr id="5" name="Text 0"/>
          <p:cNvSpPr/>
          <p:nvPr/>
        </p:nvSpPr>
        <p:spPr>
          <a:xfrm>
            <a:off x="3566160" y="6510528"/>
            <a:ext cx="5029200" cy="274320"/>
          </a:xfrm>
          <a:prstGeom prst="rect">
            <a:avLst/>
          </a:prstGeom>
          <a:noFill/>
          <a:ln/>
        </p:spPr>
        <p:txBody>
          <a:bodyPr wrap="square" lIns="0" tIns="0" rIns="0" bIns="0" rtlCol="0" anchor="ctr"/>
          <a:lstStyle/>
          <a:p>
            <a:pPr marL="0" indent="0" algn="ctr">
              <a:buNone/>
            </a:pPr>
            <a:r>
              <a:rPr lang="en-US" sz="1000" b="1" dirty="0">
                <a:solidFill>
                  <a:srgbClr val="0070C0"/>
                </a:solidFill>
                <a:latin typeface="Arial" pitchFamily="34" charset="0"/>
                <a:ea typeface="Arial" pitchFamily="34" charset="-122"/>
                <a:cs typeface="Arial" pitchFamily="34" charset="-120"/>
              </a:rPr>
              <a:t>CRL Technical Symposium 2026</a:t>
            </a:r>
            <a:endParaRPr lang="en-US" sz="1000" dirty="0"/>
          </a:p>
        </p:txBody>
      </p:sp>
      <p:sp>
        <p:nvSpPr>
          <p:cNvPr id="25" name="Slide Number Placeholder 0"/>
          <p:cNvSpPr>
            <a:spLocks noGrp="1"/>
          </p:cNvSpPr>
          <p:nvPr>
            <p:ph type="sldNum" sz="quarter" idx="4294967295"/>
          </p:nvPr>
        </p:nvSpPr>
        <p:spPr>
          <a:xfrm>
            <a:off x="1138428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A"/>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A"/>
                </a:solidFill>
                <a:latin typeface="Arial"/>
                <a:ea typeface="Arial"/>
                <a:cs typeface="Aria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1.png"/><Relationship Id="rId7"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home/claude/build/bel_big.png"/>
          <p:cNvPicPr>
            <a:picLocks noChangeAspect="1"/>
          </p:cNvPicPr>
          <p:nvPr/>
        </p:nvPicPr>
        <p:blipFill>
          <a:blip r:embed="rId4"/>
          <a:stretch>
            <a:fillRect/>
          </a:stretch>
        </p:blipFill>
        <p:spPr>
          <a:xfrm>
            <a:off x="3913632" y="566928"/>
            <a:ext cx="4352544" cy="1152144"/>
          </a:xfrm>
          <a:prstGeom prst="rect">
            <a:avLst/>
          </a:prstGeom>
        </p:spPr>
      </p:pic>
      <p:pic>
        <p:nvPicPr>
          <p:cNvPr id="3" name="Image 1" descr="/home/claude/build/title_box.png"/>
          <p:cNvPicPr>
            <a:picLocks noChangeAspect="1"/>
          </p:cNvPicPr>
          <p:nvPr/>
        </p:nvPicPr>
        <p:blipFill>
          <a:blip r:embed="rId5">
            <a:alphaModFix amt="95000"/>
          </a:blip>
          <a:stretch>
            <a:fillRect/>
          </a:stretch>
        </p:blipFill>
        <p:spPr>
          <a:xfrm>
            <a:off x="5715000" y="2377440"/>
            <a:ext cx="6263640" cy="2514600"/>
          </a:xfrm>
          <a:prstGeom prst="rect">
            <a:avLst/>
          </a:prstGeom>
        </p:spPr>
      </p:pic>
      <p:sp>
        <p:nvSpPr>
          <p:cNvPr id="4" name="Text 0"/>
          <p:cNvSpPr txBox="1"/>
          <p:nvPr/>
        </p:nvSpPr>
        <p:spPr>
          <a:xfrm>
            <a:off x="6812280" y="2673917"/>
            <a:ext cx="5029200" cy="1194699"/>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A Multi-protocol Fail-Safe Bootloader Framework for Remote Firmware Updates in Automatic Train Protection Systems</a:t>
            </a:r>
            <a:endParaRPr lang="en-US" sz="1800" dirty="0"/>
          </a:p>
          <a:p>
            <a:pPr marL="0" indent="0" algn="ctr">
              <a:buNone/>
            </a:pPr>
            <a:endParaRPr lang="en-US" sz="1800" dirty="0"/>
          </a:p>
        </p:txBody>
      </p:sp>
      <p:sp>
        <p:nvSpPr>
          <p:cNvPr id="5" name="Text 1"/>
          <p:cNvSpPr txBox="1"/>
          <p:nvPr/>
        </p:nvSpPr>
        <p:spPr>
          <a:xfrm>
            <a:off x="6812280" y="4023360"/>
            <a:ext cx="5029200" cy="731520"/>
          </a:xfrm>
          <a:prstGeom prst="rect">
            <a:avLst/>
          </a:prstGeom>
          <a:noFill/>
          <a:ln/>
        </p:spPr>
        <p:txBody>
          <a:bodyPr wrap="square" lIns="0" tIns="0" rIns="0" bIns="0" rtlCol="0" anchor="ctr"/>
          <a:lstStyle/>
          <a:p>
            <a:pPr marL="0" indent="0" algn="ctr">
              <a:buNone/>
            </a:pPr>
            <a:r>
              <a:rPr lang="en-US" sz="1250" b="1" dirty="0">
                <a:solidFill>
                  <a:srgbClr val="E6F2FF"/>
                </a:solidFill>
                <a:latin typeface="Arial" pitchFamily="34" charset="0"/>
                <a:ea typeface="Arial" pitchFamily="34" charset="-122"/>
                <a:cs typeface="Arial" pitchFamily="34" charset="-120"/>
              </a:rPr>
              <a:t>Abhinav Pathak, Manu Pratap Shekhawat, Munish Khanna</a:t>
            </a:r>
            <a:endParaRPr lang="en-US" sz="1250" dirty="0"/>
          </a:p>
          <a:p>
            <a:pPr marL="0" indent="0" algn="ctr">
              <a:buNone/>
            </a:pPr>
            <a:r>
              <a:rPr lang="en-US" sz="1100" dirty="0">
                <a:solidFill>
                  <a:srgbClr val="E6F2FF"/>
                </a:solidFill>
                <a:latin typeface="Arial" pitchFamily="34" charset="0"/>
                <a:ea typeface="Arial" pitchFamily="34" charset="-122"/>
                <a:cs typeface="Arial" pitchFamily="34" charset="-120"/>
              </a:rPr>
              <a:t>Central Research Laboratory, BEL Ghaziabad</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6576"/>
            <a:ext cx="8686800" cy="420624"/>
          </a:xfrm>
          <a:prstGeom prst="rect">
            <a:avLst/>
          </a:prstGeom>
          <a:noFill/>
          <a:ln/>
        </p:spPr>
        <p:txBody>
          <a:bodyPr wrap="square" lIns="0" tIns="0" rIns="0" bIns="0" rtlCol="0" anchor="ctr"/>
          <a:lstStyle/>
          <a:p>
            <a:pPr marL="0" indent="0">
              <a:buNone/>
            </a:pPr>
            <a:r>
              <a:rPr lang="en-US" sz="2400" b="1" dirty="0">
                <a:solidFill>
                  <a:srgbClr val="1F5A9E"/>
                </a:solidFill>
                <a:latin typeface="Arial" pitchFamily="34" charset="0"/>
                <a:ea typeface="Arial" pitchFamily="34" charset="-122"/>
                <a:cs typeface="Arial" pitchFamily="34" charset="-120"/>
              </a:rPr>
              <a:t>Content</a:t>
            </a:r>
            <a:endParaRPr lang="en-US" sz="2400" dirty="0"/>
          </a:p>
        </p:txBody>
      </p:sp>
      <p:sp>
        <p:nvSpPr>
          <p:cNvPr id="4" name="Shape 1"/>
          <p:cNvSpPr/>
          <p:nvPr/>
        </p:nvSpPr>
        <p:spPr>
          <a:xfrm>
            <a:off x="457200" y="914400"/>
            <a:ext cx="11274552" cy="384048"/>
          </a:xfrm>
          <a:prstGeom prst="roundRect">
            <a:avLst>
              <a:gd name="adj" fmla="val 14286"/>
            </a:avLst>
          </a:prstGeom>
          <a:solidFill>
            <a:srgbClr val="08A1D9"/>
          </a:solidFill>
          <a:ln/>
        </p:spPr>
      </p:sp>
      <p:sp>
        <p:nvSpPr>
          <p:cNvPr id="5" name="Text 2"/>
          <p:cNvSpPr txBox="1"/>
          <p:nvPr/>
        </p:nvSpPr>
        <p:spPr>
          <a:xfrm>
            <a:off x="548640" y="914400"/>
            <a:ext cx="11091672"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Agenda</a:t>
            </a:r>
            <a:endParaRPr lang="en-US" sz="1500" dirty="0"/>
          </a:p>
        </p:txBody>
      </p:sp>
      <p:sp>
        <p:nvSpPr>
          <p:cNvPr id="6" name="Shape 3"/>
          <p:cNvSpPr/>
          <p:nvPr/>
        </p:nvSpPr>
        <p:spPr>
          <a:xfrm>
            <a:off x="457200" y="1353312"/>
            <a:ext cx="11274552" cy="4910328"/>
          </a:xfrm>
          <a:prstGeom prst="roundRect">
            <a:avLst>
              <a:gd name="adj" fmla="val 1862"/>
            </a:avLst>
          </a:prstGeom>
          <a:solidFill>
            <a:srgbClr val="E8F6FD"/>
          </a:solidFill>
          <a:ln/>
        </p:spPr>
      </p:sp>
      <p:sp>
        <p:nvSpPr>
          <p:cNvPr id="7" name="Shape 4"/>
          <p:cNvSpPr/>
          <p:nvPr/>
        </p:nvSpPr>
        <p:spPr>
          <a:xfrm>
            <a:off x="1097280" y="1627632"/>
            <a:ext cx="420624" cy="420624"/>
          </a:xfrm>
          <a:prstGeom prst="ellipse">
            <a:avLst/>
          </a:prstGeom>
          <a:solidFill>
            <a:srgbClr val="08A1D9"/>
          </a:solidFill>
          <a:ln/>
        </p:spPr>
      </p:sp>
      <p:sp>
        <p:nvSpPr>
          <p:cNvPr id="8" name="Text 5"/>
          <p:cNvSpPr txBox="1"/>
          <p:nvPr/>
        </p:nvSpPr>
        <p:spPr>
          <a:xfrm>
            <a:off x="1097280" y="162763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6"/>
          <p:cNvSpPr txBox="1"/>
          <p:nvPr/>
        </p:nvSpPr>
        <p:spPr>
          <a:xfrm>
            <a:off x="1691640" y="1627632"/>
            <a:ext cx="4480560" cy="420624"/>
          </a:xfrm>
          <a:prstGeom prst="rect">
            <a:avLst/>
          </a:prstGeom>
          <a:noFill/>
          <a:ln/>
        </p:spPr>
        <p:txBody>
          <a:bodyPr wrap="square" lIns="0" tIns="0" rIns="0" bIns="0" rtlCol="0" anchor="ctr"/>
          <a:lstStyle/>
          <a:p>
            <a:pPr marL="0" indent="0">
              <a:buNone/>
            </a:pPr>
            <a:r>
              <a:rPr lang="en-US" sz="1700" dirty="0">
                <a:solidFill>
                  <a:srgbClr val="1E2A3A"/>
                </a:solidFill>
                <a:latin typeface="Arial" pitchFamily="34" charset="0"/>
                <a:ea typeface="Arial" pitchFamily="34" charset="-122"/>
                <a:cs typeface="Arial" pitchFamily="34" charset="-120"/>
              </a:rPr>
              <a:t>Introduction</a:t>
            </a:r>
            <a:endParaRPr lang="en-US" sz="1700" dirty="0"/>
          </a:p>
        </p:txBody>
      </p:sp>
      <p:sp>
        <p:nvSpPr>
          <p:cNvPr id="10" name="Shape 7"/>
          <p:cNvSpPr/>
          <p:nvPr/>
        </p:nvSpPr>
        <p:spPr>
          <a:xfrm>
            <a:off x="1097280" y="2267712"/>
            <a:ext cx="420624" cy="420624"/>
          </a:xfrm>
          <a:prstGeom prst="ellipse">
            <a:avLst/>
          </a:prstGeom>
          <a:solidFill>
            <a:srgbClr val="1F6FB5"/>
          </a:solidFill>
          <a:ln/>
        </p:spPr>
      </p:sp>
      <p:sp>
        <p:nvSpPr>
          <p:cNvPr id="11" name="Text 8"/>
          <p:cNvSpPr txBox="1"/>
          <p:nvPr/>
        </p:nvSpPr>
        <p:spPr>
          <a:xfrm>
            <a:off x="1097280" y="226771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9"/>
          <p:cNvSpPr txBox="1"/>
          <p:nvPr/>
        </p:nvSpPr>
        <p:spPr>
          <a:xfrm>
            <a:off x="1691640" y="2267712"/>
            <a:ext cx="4480560" cy="420624"/>
          </a:xfrm>
          <a:prstGeom prst="rect">
            <a:avLst/>
          </a:prstGeom>
          <a:noFill/>
          <a:ln/>
        </p:spPr>
        <p:txBody>
          <a:bodyPr wrap="square" lIns="0" tIns="0" rIns="0" bIns="0" rtlCol="0" anchor="ctr"/>
          <a:lstStyle/>
          <a:p>
            <a:pPr marL="0" indent="0">
              <a:buNone/>
            </a:pPr>
            <a:r>
              <a:rPr lang="en-US" sz="1700" dirty="0">
                <a:solidFill>
                  <a:srgbClr val="1E2A3A"/>
                </a:solidFill>
                <a:latin typeface="Arial" pitchFamily="34" charset="0"/>
                <a:ea typeface="Arial" pitchFamily="34" charset="-122"/>
                <a:cs typeface="Arial" pitchFamily="34" charset="-120"/>
              </a:rPr>
              <a:t>Design Constraints</a:t>
            </a:r>
            <a:endParaRPr lang="en-US" sz="1700" dirty="0"/>
          </a:p>
        </p:txBody>
      </p:sp>
      <p:sp>
        <p:nvSpPr>
          <p:cNvPr id="13" name="Shape 10"/>
          <p:cNvSpPr/>
          <p:nvPr/>
        </p:nvSpPr>
        <p:spPr>
          <a:xfrm>
            <a:off x="1097280" y="2907792"/>
            <a:ext cx="420624" cy="420624"/>
          </a:xfrm>
          <a:prstGeom prst="ellipse">
            <a:avLst/>
          </a:prstGeom>
          <a:solidFill>
            <a:srgbClr val="08A1D9"/>
          </a:solidFill>
          <a:ln/>
        </p:spPr>
      </p:sp>
      <p:sp>
        <p:nvSpPr>
          <p:cNvPr id="14" name="Text 11"/>
          <p:cNvSpPr txBox="1"/>
          <p:nvPr/>
        </p:nvSpPr>
        <p:spPr>
          <a:xfrm>
            <a:off x="1097280" y="290779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5" name="Text 12"/>
          <p:cNvSpPr txBox="1"/>
          <p:nvPr/>
        </p:nvSpPr>
        <p:spPr>
          <a:xfrm>
            <a:off x="1691640" y="2907792"/>
            <a:ext cx="4480560" cy="420624"/>
          </a:xfrm>
          <a:prstGeom prst="rect">
            <a:avLst/>
          </a:prstGeom>
          <a:noFill/>
          <a:ln/>
        </p:spPr>
        <p:txBody>
          <a:bodyPr wrap="square" lIns="0" tIns="0" rIns="0" bIns="0" rtlCol="0" anchor="ctr"/>
          <a:lstStyle/>
          <a:p>
            <a:pPr marL="0" indent="0">
              <a:buNone/>
            </a:pPr>
            <a:r>
              <a:rPr lang="en-US" sz="1700" dirty="0">
                <a:solidFill>
                  <a:srgbClr val="1E2A3A"/>
                </a:solidFill>
                <a:latin typeface="Arial" pitchFamily="34" charset="0"/>
                <a:ea typeface="Arial" pitchFamily="34" charset="-122"/>
                <a:cs typeface="Arial" pitchFamily="34" charset="-120"/>
              </a:rPr>
              <a:t>System Architecture</a:t>
            </a:r>
            <a:endParaRPr lang="en-US" sz="1700" dirty="0"/>
          </a:p>
        </p:txBody>
      </p:sp>
      <p:sp>
        <p:nvSpPr>
          <p:cNvPr id="16" name="Shape 13"/>
          <p:cNvSpPr/>
          <p:nvPr/>
        </p:nvSpPr>
        <p:spPr>
          <a:xfrm>
            <a:off x="1097280" y="3547872"/>
            <a:ext cx="420624" cy="420624"/>
          </a:xfrm>
          <a:prstGeom prst="ellipse">
            <a:avLst/>
          </a:prstGeom>
          <a:solidFill>
            <a:srgbClr val="1F6FB5"/>
          </a:solidFill>
          <a:ln/>
        </p:spPr>
      </p:sp>
      <p:sp>
        <p:nvSpPr>
          <p:cNvPr id="17" name="Text 14"/>
          <p:cNvSpPr txBox="1"/>
          <p:nvPr/>
        </p:nvSpPr>
        <p:spPr>
          <a:xfrm>
            <a:off x="1097280" y="354787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8" name="Text 15"/>
          <p:cNvSpPr txBox="1"/>
          <p:nvPr/>
        </p:nvSpPr>
        <p:spPr>
          <a:xfrm>
            <a:off x="1691640" y="3547872"/>
            <a:ext cx="4480560" cy="420624"/>
          </a:xfrm>
          <a:prstGeom prst="rect">
            <a:avLst/>
          </a:prstGeom>
          <a:noFill/>
          <a:ln/>
        </p:spPr>
        <p:txBody>
          <a:bodyPr wrap="square" lIns="0" tIns="0" rIns="0" bIns="0" rtlCol="0" anchor="ctr"/>
          <a:lstStyle/>
          <a:p>
            <a:pPr marL="0" indent="0">
              <a:buNone/>
            </a:pPr>
            <a:r>
              <a:rPr lang="en-US" sz="1700" dirty="0">
                <a:solidFill>
                  <a:srgbClr val="1E2A3A"/>
                </a:solidFill>
                <a:latin typeface="Arial" pitchFamily="34" charset="0"/>
                <a:ea typeface="Arial" pitchFamily="34" charset="-122"/>
                <a:cs typeface="Arial" pitchFamily="34" charset="-120"/>
              </a:rPr>
              <a:t>How an Image Travels</a:t>
            </a:r>
            <a:endParaRPr lang="en-US" sz="1700" dirty="0"/>
          </a:p>
        </p:txBody>
      </p:sp>
      <p:sp>
        <p:nvSpPr>
          <p:cNvPr id="19" name="Shape 16"/>
          <p:cNvSpPr/>
          <p:nvPr/>
        </p:nvSpPr>
        <p:spPr>
          <a:xfrm>
            <a:off x="1097280" y="4187952"/>
            <a:ext cx="420624" cy="420624"/>
          </a:xfrm>
          <a:prstGeom prst="ellipse">
            <a:avLst/>
          </a:prstGeom>
          <a:solidFill>
            <a:srgbClr val="08A1D9"/>
          </a:solidFill>
          <a:ln/>
        </p:spPr>
      </p:sp>
      <p:sp>
        <p:nvSpPr>
          <p:cNvPr id="20" name="Text 17"/>
          <p:cNvSpPr txBox="1"/>
          <p:nvPr/>
        </p:nvSpPr>
        <p:spPr>
          <a:xfrm>
            <a:off x="1097280" y="418795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1" name="Text 18"/>
          <p:cNvSpPr txBox="1"/>
          <p:nvPr/>
        </p:nvSpPr>
        <p:spPr>
          <a:xfrm>
            <a:off x="1691640" y="4187952"/>
            <a:ext cx="4480560" cy="420624"/>
          </a:xfrm>
          <a:prstGeom prst="rect">
            <a:avLst/>
          </a:prstGeom>
          <a:noFill/>
          <a:ln/>
        </p:spPr>
        <p:txBody>
          <a:bodyPr wrap="square" lIns="0" tIns="0" rIns="0" bIns="0" rtlCol="0" anchor="ctr"/>
          <a:lstStyle/>
          <a:p>
            <a:pPr marL="0" indent="0">
              <a:buNone/>
            </a:pPr>
            <a:r>
              <a:rPr lang="en-US" sz="1700" dirty="0">
                <a:solidFill>
                  <a:srgbClr val="1E2A3A"/>
                </a:solidFill>
                <a:latin typeface="Arial" pitchFamily="34" charset="0"/>
                <a:ea typeface="Arial" pitchFamily="34" charset="-122"/>
                <a:cs typeface="Arial" pitchFamily="34" charset="-120"/>
              </a:rPr>
              <a:t>One Updater, Three Links</a:t>
            </a:r>
            <a:endParaRPr lang="en-US" sz="1700" dirty="0"/>
          </a:p>
        </p:txBody>
      </p:sp>
      <p:sp>
        <p:nvSpPr>
          <p:cNvPr id="22" name="Shape 19"/>
          <p:cNvSpPr/>
          <p:nvPr/>
        </p:nvSpPr>
        <p:spPr>
          <a:xfrm>
            <a:off x="1097280" y="4828032"/>
            <a:ext cx="420624" cy="420624"/>
          </a:xfrm>
          <a:prstGeom prst="ellipse">
            <a:avLst/>
          </a:prstGeom>
          <a:solidFill>
            <a:srgbClr val="1F6FB5"/>
          </a:solidFill>
          <a:ln/>
        </p:spPr>
      </p:sp>
      <p:sp>
        <p:nvSpPr>
          <p:cNvPr id="23" name="Text 20"/>
          <p:cNvSpPr txBox="1"/>
          <p:nvPr/>
        </p:nvSpPr>
        <p:spPr>
          <a:xfrm>
            <a:off x="1097280" y="482803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4" name="Text 21"/>
          <p:cNvSpPr txBox="1"/>
          <p:nvPr/>
        </p:nvSpPr>
        <p:spPr>
          <a:xfrm>
            <a:off x="1691640" y="4828032"/>
            <a:ext cx="4480560" cy="420624"/>
          </a:xfrm>
          <a:prstGeom prst="rect">
            <a:avLst/>
          </a:prstGeom>
          <a:noFill/>
          <a:ln/>
        </p:spPr>
        <p:txBody>
          <a:bodyPr wrap="square" lIns="0" tIns="0" rIns="0" bIns="0" rtlCol="0" anchor="ctr"/>
          <a:lstStyle/>
          <a:p>
            <a:pPr marL="0" indent="0">
              <a:buNone/>
            </a:pPr>
            <a:r>
              <a:rPr lang="en-US" sz="1700" dirty="0">
                <a:solidFill>
                  <a:srgbClr val="1E2A3A"/>
                </a:solidFill>
                <a:latin typeface="Arial" pitchFamily="34" charset="0"/>
                <a:ea typeface="Arial" pitchFamily="34" charset="-122"/>
                <a:cs typeface="Arial" pitchFamily="34" charset="-120"/>
              </a:rPr>
              <a:t>The Links in Detail</a:t>
            </a:r>
            <a:endParaRPr lang="en-US" sz="1700" dirty="0"/>
          </a:p>
        </p:txBody>
      </p:sp>
      <p:sp>
        <p:nvSpPr>
          <p:cNvPr id="25" name="Shape 22"/>
          <p:cNvSpPr/>
          <p:nvPr/>
        </p:nvSpPr>
        <p:spPr>
          <a:xfrm>
            <a:off x="1097280" y="5468112"/>
            <a:ext cx="420624" cy="420624"/>
          </a:xfrm>
          <a:prstGeom prst="ellipse">
            <a:avLst/>
          </a:prstGeom>
          <a:solidFill>
            <a:srgbClr val="08A1D9"/>
          </a:solidFill>
          <a:ln/>
        </p:spPr>
      </p:sp>
      <p:sp>
        <p:nvSpPr>
          <p:cNvPr id="26" name="Text 23"/>
          <p:cNvSpPr txBox="1"/>
          <p:nvPr/>
        </p:nvSpPr>
        <p:spPr>
          <a:xfrm>
            <a:off x="1097280" y="546811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7" name="Text 24"/>
          <p:cNvSpPr txBox="1"/>
          <p:nvPr/>
        </p:nvSpPr>
        <p:spPr>
          <a:xfrm>
            <a:off x="1691640" y="5468112"/>
            <a:ext cx="4480560" cy="420624"/>
          </a:xfrm>
          <a:prstGeom prst="rect">
            <a:avLst/>
          </a:prstGeom>
          <a:noFill/>
          <a:ln/>
        </p:spPr>
        <p:txBody>
          <a:bodyPr wrap="square" lIns="0" tIns="0" rIns="0" bIns="0" rtlCol="0" anchor="ctr"/>
          <a:lstStyle/>
          <a:p>
            <a:pPr marL="0" indent="0">
              <a:buNone/>
            </a:pPr>
            <a:r>
              <a:rPr lang="en-US" sz="1700" dirty="0">
                <a:solidFill>
                  <a:srgbClr val="1E2A3A"/>
                </a:solidFill>
                <a:latin typeface="Arial" pitchFamily="34" charset="0"/>
                <a:ea typeface="Arial" pitchFamily="34" charset="-122"/>
                <a:cs typeface="Arial" pitchFamily="34" charset="-120"/>
              </a:rPr>
              <a:t>Block Size Division</a:t>
            </a:r>
            <a:endParaRPr lang="en-US" sz="1700" dirty="0"/>
          </a:p>
        </p:txBody>
      </p:sp>
      <p:sp>
        <p:nvSpPr>
          <p:cNvPr id="28" name="Shape 25"/>
          <p:cNvSpPr/>
          <p:nvPr/>
        </p:nvSpPr>
        <p:spPr>
          <a:xfrm>
            <a:off x="6492240" y="1627632"/>
            <a:ext cx="420624" cy="420624"/>
          </a:xfrm>
          <a:prstGeom prst="ellipse">
            <a:avLst/>
          </a:prstGeom>
          <a:solidFill>
            <a:srgbClr val="1F6FB5"/>
          </a:solidFill>
          <a:ln/>
        </p:spPr>
      </p:sp>
      <p:sp>
        <p:nvSpPr>
          <p:cNvPr id="29" name="Text 26"/>
          <p:cNvSpPr txBox="1"/>
          <p:nvPr/>
        </p:nvSpPr>
        <p:spPr>
          <a:xfrm>
            <a:off x="6492240" y="162763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30" name="Text 27"/>
          <p:cNvSpPr txBox="1"/>
          <p:nvPr/>
        </p:nvSpPr>
        <p:spPr>
          <a:xfrm>
            <a:off x="7086600" y="1627632"/>
            <a:ext cx="4480560" cy="420624"/>
          </a:xfrm>
          <a:prstGeom prst="rect">
            <a:avLst/>
          </a:prstGeom>
          <a:noFill/>
          <a:ln/>
        </p:spPr>
        <p:txBody>
          <a:bodyPr wrap="square" lIns="0" tIns="0" rIns="0" bIns="0" rtlCol="0" anchor="ctr"/>
          <a:lstStyle/>
          <a:p>
            <a:pPr marL="0" indent="0">
              <a:buNone/>
            </a:pPr>
            <a:r>
              <a:rPr lang="en-US" sz="1700" dirty="0">
                <a:solidFill>
                  <a:srgbClr val="1E2A3A"/>
                </a:solidFill>
                <a:latin typeface="Arial" pitchFamily="34" charset="0"/>
                <a:ea typeface="Arial" pitchFamily="34" charset="-122"/>
                <a:cs typeface="Arial" pitchFamily="34" charset="-120"/>
              </a:rPr>
              <a:t>Transfer Stages</a:t>
            </a:r>
            <a:endParaRPr lang="en-US" sz="1700" dirty="0"/>
          </a:p>
        </p:txBody>
      </p:sp>
      <p:sp>
        <p:nvSpPr>
          <p:cNvPr id="31" name="Shape 28"/>
          <p:cNvSpPr/>
          <p:nvPr/>
        </p:nvSpPr>
        <p:spPr>
          <a:xfrm>
            <a:off x="6492240" y="2267712"/>
            <a:ext cx="420624" cy="420624"/>
          </a:xfrm>
          <a:prstGeom prst="ellipse">
            <a:avLst/>
          </a:prstGeom>
          <a:solidFill>
            <a:srgbClr val="08A1D9"/>
          </a:solidFill>
          <a:ln/>
        </p:spPr>
      </p:sp>
      <p:sp>
        <p:nvSpPr>
          <p:cNvPr id="32" name="Text 29"/>
          <p:cNvSpPr txBox="1"/>
          <p:nvPr/>
        </p:nvSpPr>
        <p:spPr>
          <a:xfrm>
            <a:off x="6492240" y="226771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
        <p:nvSpPr>
          <p:cNvPr id="33" name="Text 30"/>
          <p:cNvSpPr txBox="1"/>
          <p:nvPr/>
        </p:nvSpPr>
        <p:spPr>
          <a:xfrm>
            <a:off x="7086600" y="2267712"/>
            <a:ext cx="4480560" cy="420624"/>
          </a:xfrm>
          <a:prstGeom prst="rect">
            <a:avLst/>
          </a:prstGeom>
          <a:noFill/>
          <a:ln/>
        </p:spPr>
        <p:txBody>
          <a:bodyPr wrap="square" lIns="0" tIns="0" rIns="0" bIns="0" rtlCol="0" anchor="ctr"/>
          <a:lstStyle/>
          <a:p>
            <a:pPr marL="0" indent="0">
              <a:buNone/>
            </a:pPr>
            <a:r>
              <a:rPr lang="en-US" sz="1700" dirty="0">
                <a:solidFill>
                  <a:srgbClr val="1E2A3A"/>
                </a:solidFill>
                <a:latin typeface="Arial" pitchFamily="34" charset="0"/>
                <a:ea typeface="Arial" pitchFamily="34" charset="-122"/>
                <a:cs typeface="Arial" pitchFamily="34" charset="-120"/>
              </a:rPr>
              <a:t>Bitmap Selective Repeat</a:t>
            </a:r>
            <a:endParaRPr lang="en-US" sz="1700" dirty="0"/>
          </a:p>
        </p:txBody>
      </p:sp>
      <p:sp>
        <p:nvSpPr>
          <p:cNvPr id="34" name="Shape 31"/>
          <p:cNvSpPr/>
          <p:nvPr/>
        </p:nvSpPr>
        <p:spPr>
          <a:xfrm>
            <a:off x="6492240" y="2907792"/>
            <a:ext cx="420624" cy="420624"/>
          </a:xfrm>
          <a:prstGeom prst="ellipse">
            <a:avLst/>
          </a:prstGeom>
          <a:solidFill>
            <a:srgbClr val="1F6FB5"/>
          </a:solidFill>
          <a:ln/>
        </p:spPr>
      </p:sp>
      <p:sp>
        <p:nvSpPr>
          <p:cNvPr id="35" name="Text 32"/>
          <p:cNvSpPr txBox="1"/>
          <p:nvPr/>
        </p:nvSpPr>
        <p:spPr>
          <a:xfrm>
            <a:off x="6492240" y="290779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10</a:t>
            </a:r>
            <a:endParaRPr lang="en-US" sz="1300" dirty="0"/>
          </a:p>
        </p:txBody>
      </p:sp>
      <p:sp>
        <p:nvSpPr>
          <p:cNvPr id="36" name="Text 33"/>
          <p:cNvSpPr txBox="1"/>
          <p:nvPr/>
        </p:nvSpPr>
        <p:spPr>
          <a:xfrm>
            <a:off x="7086600" y="2907792"/>
            <a:ext cx="4480560" cy="420624"/>
          </a:xfrm>
          <a:prstGeom prst="rect">
            <a:avLst/>
          </a:prstGeom>
          <a:noFill/>
          <a:ln/>
        </p:spPr>
        <p:txBody>
          <a:bodyPr wrap="square" lIns="0" tIns="0" rIns="0" bIns="0" rtlCol="0" anchor="ctr"/>
          <a:lstStyle/>
          <a:p>
            <a:pPr marL="0" indent="0">
              <a:buNone/>
            </a:pPr>
            <a:r>
              <a:rPr lang="en-US" sz="1700" dirty="0">
                <a:solidFill>
                  <a:srgbClr val="1E2A3A"/>
                </a:solidFill>
                <a:latin typeface="Arial" pitchFamily="34" charset="0"/>
                <a:ea typeface="Arial" pitchFamily="34" charset="-122"/>
                <a:cs typeface="Arial" pitchFamily="34" charset="-120"/>
              </a:rPr>
              <a:t>Dual-Bank Flash &amp; Memory Map</a:t>
            </a:r>
            <a:endParaRPr lang="en-US" sz="1700" dirty="0"/>
          </a:p>
        </p:txBody>
      </p:sp>
      <p:sp>
        <p:nvSpPr>
          <p:cNvPr id="37" name="Shape 34"/>
          <p:cNvSpPr/>
          <p:nvPr/>
        </p:nvSpPr>
        <p:spPr>
          <a:xfrm>
            <a:off x="6492240" y="3547872"/>
            <a:ext cx="420624" cy="420624"/>
          </a:xfrm>
          <a:prstGeom prst="ellipse">
            <a:avLst/>
          </a:prstGeom>
          <a:solidFill>
            <a:srgbClr val="08A1D9"/>
          </a:solidFill>
          <a:ln/>
        </p:spPr>
      </p:sp>
      <p:sp>
        <p:nvSpPr>
          <p:cNvPr id="38" name="Text 35"/>
          <p:cNvSpPr txBox="1"/>
          <p:nvPr/>
        </p:nvSpPr>
        <p:spPr>
          <a:xfrm>
            <a:off x="6492240" y="354787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11</a:t>
            </a:r>
            <a:endParaRPr lang="en-US" sz="1300" dirty="0"/>
          </a:p>
        </p:txBody>
      </p:sp>
      <p:sp>
        <p:nvSpPr>
          <p:cNvPr id="39" name="Text 36"/>
          <p:cNvSpPr txBox="1"/>
          <p:nvPr/>
        </p:nvSpPr>
        <p:spPr>
          <a:xfrm>
            <a:off x="7086600" y="3547872"/>
            <a:ext cx="4480560" cy="420624"/>
          </a:xfrm>
          <a:prstGeom prst="rect">
            <a:avLst/>
          </a:prstGeom>
          <a:noFill/>
          <a:ln/>
        </p:spPr>
        <p:txBody>
          <a:bodyPr wrap="square" lIns="0" tIns="0" rIns="0" bIns="0" rtlCol="0" anchor="ctr"/>
          <a:lstStyle/>
          <a:p>
            <a:pPr marL="0" indent="0">
              <a:buNone/>
            </a:pPr>
            <a:r>
              <a:rPr lang="en-US" sz="1700" dirty="0">
                <a:solidFill>
                  <a:srgbClr val="1E2A3A"/>
                </a:solidFill>
                <a:latin typeface="Arial" pitchFamily="34" charset="0"/>
                <a:ea typeface="Arial" pitchFamily="34" charset="-122"/>
                <a:cs typeface="Arial" pitchFamily="34" charset="-120"/>
              </a:rPr>
              <a:t>Power-Safe Commit</a:t>
            </a:r>
            <a:endParaRPr lang="en-US" sz="1700" dirty="0"/>
          </a:p>
        </p:txBody>
      </p:sp>
      <p:sp>
        <p:nvSpPr>
          <p:cNvPr id="40" name="Shape 37"/>
          <p:cNvSpPr/>
          <p:nvPr/>
        </p:nvSpPr>
        <p:spPr>
          <a:xfrm>
            <a:off x="6492240" y="4187952"/>
            <a:ext cx="420624" cy="420624"/>
          </a:xfrm>
          <a:prstGeom prst="ellipse">
            <a:avLst/>
          </a:prstGeom>
          <a:solidFill>
            <a:srgbClr val="1F6FB5"/>
          </a:solidFill>
          <a:ln/>
        </p:spPr>
      </p:sp>
      <p:sp>
        <p:nvSpPr>
          <p:cNvPr id="41" name="Text 38"/>
          <p:cNvSpPr txBox="1"/>
          <p:nvPr/>
        </p:nvSpPr>
        <p:spPr>
          <a:xfrm>
            <a:off x="6492240" y="418795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12</a:t>
            </a:r>
            <a:endParaRPr lang="en-US" sz="1300" dirty="0"/>
          </a:p>
        </p:txBody>
      </p:sp>
      <p:sp>
        <p:nvSpPr>
          <p:cNvPr id="42" name="Text 39"/>
          <p:cNvSpPr txBox="1"/>
          <p:nvPr/>
        </p:nvSpPr>
        <p:spPr>
          <a:xfrm>
            <a:off x="7086600" y="4187952"/>
            <a:ext cx="4480560" cy="420624"/>
          </a:xfrm>
          <a:prstGeom prst="rect">
            <a:avLst/>
          </a:prstGeom>
          <a:noFill/>
          <a:ln/>
        </p:spPr>
        <p:txBody>
          <a:bodyPr wrap="square" lIns="0" tIns="0" rIns="0" bIns="0" rtlCol="0" anchor="ctr"/>
          <a:lstStyle/>
          <a:p>
            <a:pPr marL="0" indent="0">
              <a:buNone/>
            </a:pPr>
            <a:r>
              <a:rPr lang="en-US" sz="1700" dirty="0">
                <a:solidFill>
                  <a:srgbClr val="1E2A3A"/>
                </a:solidFill>
                <a:latin typeface="Arial" pitchFamily="34" charset="0"/>
                <a:ea typeface="Arial" pitchFamily="34" charset="-122"/>
                <a:cs typeface="Arial" pitchFamily="34" charset="-120"/>
              </a:rPr>
              <a:t>Boot Watchdog &amp; Rollback</a:t>
            </a:r>
            <a:endParaRPr lang="en-US" sz="1700" dirty="0"/>
          </a:p>
        </p:txBody>
      </p:sp>
      <p:sp>
        <p:nvSpPr>
          <p:cNvPr id="43" name="Shape 40"/>
          <p:cNvSpPr/>
          <p:nvPr/>
        </p:nvSpPr>
        <p:spPr>
          <a:xfrm>
            <a:off x="6492240" y="4828032"/>
            <a:ext cx="420624" cy="420624"/>
          </a:xfrm>
          <a:prstGeom prst="ellipse">
            <a:avLst/>
          </a:prstGeom>
          <a:solidFill>
            <a:srgbClr val="08A1D9"/>
          </a:solidFill>
          <a:ln/>
        </p:spPr>
      </p:sp>
      <p:sp>
        <p:nvSpPr>
          <p:cNvPr id="44" name="Text 41"/>
          <p:cNvSpPr txBox="1"/>
          <p:nvPr/>
        </p:nvSpPr>
        <p:spPr>
          <a:xfrm>
            <a:off x="6492240" y="482803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13</a:t>
            </a:r>
            <a:endParaRPr lang="en-US" sz="1300" dirty="0"/>
          </a:p>
        </p:txBody>
      </p:sp>
      <p:sp>
        <p:nvSpPr>
          <p:cNvPr id="45" name="Text 42"/>
          <p:cNvSpPr txBox="1"/>
          <p:nvPr/>
        </p:nvSpPr>
        <p:spPr>
          <a:xfrm>
            <a:off x="7086600" y="4828032"/>
            <a:ext cx="4480560" cy="420624"/>
          </a:xfrm>
          <a:prstGeom prst="rect">
            <a:avLst/>
          </a:prstGeom>
          <a:noFill/>
          <a:ln/>
        </p:spPr>
        <p:txBody>
          <a:bodyPr wrap="square" lIns="0" tIns="0" rIns="0" bIns="0" rtlCol="0" anchor="ctr"/>
          <a:lstStyle/>
          <a:p>
            <a:pPr marL="0" indent="0">
              <a:buNone/>
            </a:pPr>
            <a:r>
              <a:rPr lang="en-US" sz="1700" dirty="0">
                <a:solidFill>
                  <a:srgbClr val="1E2A3A"/>
                </a:solidFill>
                <a:latin typeface="Arial" pitchFamily="34" charset="0"/>
                <a:ea typeface="Arial" pitchFamily="34" charset="-122"/>
                <a:cs typeface="Arial" pitchFamily="34" charset="-120"/>
              </a:rPr>
              <a:t>Image Authentication</a:t>
            </a:r>
            <a:endParaRPr lang="en-US" sz="1700" dirty="0"/>
          </a:p>
        </p:txBody>
      </p:sp>
      <p:sp>
        <p:nvSpPr>
          <p:cNvPr id="46" name="Shape 43"/>
          <p:cNvSpPr/>
          <p:nvPr/>
        </p:nvSpPr>
        <p:spPr>
          <a:xfrm>
            <a:off x="6492240" y="5468112"/>
            <a:ext cx="420624" cy="420624"/>
          </a:xfrm>
          <a:prstGeom prst="ellipse">
            <a:avLst/>
          </a:prstGeom>
          <a:solidFill>
            <a:srgbClr val="1F6FB5"/>
          </a:solidFill>
          <a:ln/>
        </p:spPr>
      </p:sp>
      <p:sp>
        <p:nvSpPr>
          <p:cNvPr id="47" name="Text 44"/>
          <p:cNvSpPr txBox="1"/>
          <p:nvPr/>
        </p:nvSpPr>
        <p:spPr>
          <a:xfrm>
            <a:off x="6492240" y="546811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14</a:t>
            </a:r>
            <a:endParaRPr lang="en-US" sz="1300" dirty="0"/>
          </a:p>
        </p:txBody>
      </p:sp>
      <p:sp>
        <p:nvSpPr>
          <p:cNvPr id="48" name="Text 45"/>
          <p:cNvSpPr txBox="1"/>
          <p:nvPr/>
        </p:nvSpPr>
        <p:spPr>
          <a:xfrm>
            <a:off x="7086600" y="5468112"/>
            <a:ext cx="4480560" cy="420624"/>
          </a:xfrm>
          <a:prstGeom prst="rect">
            <a:avLst/>
          </a:prstGeom>
          <a:noFill/>
          <a:ln/>
        </p:spPr>
        <p:txBody>
          <a:bodyPr wrap="square" lIns="0" tIns="0" rIns="0" bIns="0" rtlCol="0" anchor="ctr"/>
          <a:lstStyle/>
          <a:p>
            <a:pPr marL="0" indent="0">
              <a:buNone/>
            </a:pPr>
            <a:r>
              <a:rPr lang="en-US" sz="1700" dirty="0">
                <a:solidFill>
                  <a:srgbClr val="1E2A3A"/>
                </a:solidFill>
                <a:latin typeface="Arial" pitchFamily="34" charset="0"/>
                <a:ea typeface="Arial" pitchFamily="34" charset="-122"/>
                <a:cs typeface="Arial" pitchFamily="34" charset="-120"/>
              </a:rPr>
              <a:t>Timing &amp; Benchmarks</a:t>
            </a:r>
            <a:endParaRPr lang="en-US" sz="1700" dirty="0"/>
          </a:p>
        </p:txBody>
      </p:sp>
      <p:sp>
        <p:nvSpPr>
          <p:cNvPr id="3" name="Slide Number Placeholder 0"/>
          <p:cNvSpPr>
            <a:spLocks noGrp="1"/>
          </p:cNvSpPr>
          <p:nvPr>
            <p:ph type="sldNum" sz="quarter" idx="4294967295"/>
          </p:nvPr>
        </p:nvSpPr>
        <p:spPr>
          <a:prstGeom prst="rect">
            <a:avLst/>
          </a:prstGeom>
          <a:extLst>
            <a:ext uri="{C572A759-6A51-4108-AA02-DFA0A04FC94B}">
              <ma14:wrappingTextBoxFlag xmlns="" xmlns:ma14="http://schemas.microsoft.com/office/mac/drawingml/2011/main" val="0"/>
            </a:ext>
          </a:extLst>
        </p:spPr>
        <p:txBody>
          <a:bodyPr/>
          <a:lstStyle>
            <a:lvl1pPr>
              <a:defRPr sz="1000">
                <a:solidFill>
                  <a:srgbClr val="8A94AA"/>
                </a:solidFill>
                <a:latin typeface="Arial"/>
                <a:ea typeface="Arial"/>
                <a:cs typeface="Aria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6576"/>
            <a:ext cx="8686800" cy="420624"/>
          </a:xfrm>
          <a:prstGeom prst="rect">
            <a:avLst/>
          </a:prstGeom>
          <a:noFill/>
          <a:ln/>
        </p:spPr>
        <p:txBody>
          <a:bodyPr wrap="square" lIns="0" tIns="0" rIns="0" bIns="0" rtlCol="0" anchor="ctr"/>
          <a:lstStyle/>
          <a:p>
            <a:pPr marL="0" indent="0">
              <a:buNone/>
            </a:pPr>
            <a:r>
              <a:rPr lang="en-US" sz="2400" b="1" dirty="0">
                <a:solidFill>
                  <a:srgbClr val="1F5A9E"/>
                </a:solidFill>
                <a:latin typeface="Arial" pitchFamily="34" charset="0"/>
                <a:ea typeface="Arial" pitchFamily="34" charset="-122"/>
                <a:cs typeface="Arial" pitchFamily="34" charset="-120"/>
              </a:rPr>
              <a:t>Introduction</a:t>
            </a:r>
            <a:endParaRPr lang="en-US" sz="2400" dirty="0"/>
          </a:p>
        </p:txBody>
      </p:sp>
      <p:sp>
        <p:nvSpPr>
          <p:cNvPr id="4" name="Shape 1"/>
          <p:cNvSpPr/>
          <p:nvPr/>
        </p:nvSpPr>
        <p:spPr>
          <a:xfrm>
            <a:off x="457200" y="1051560"/>
            <a:ext cx="6492240" cy="1371600"/>
          </a:xfrm>
          <a:prstGeom prst="roundRect">
            <a:avLst>
              <a:gd name="adj" fmla="val 6667"/>
            </a:avLst>
          </a:prstGeom>
          <a:solidFill>
            <a:srgbClr val="E8F6FD"/>
          </a:solidFill>
          <a:ln/>
        </p:spPr>
      </p:sp>
      <p:sp>
        <p:nvSpPr>
          <p:cNvPr id="5" name="Shape 2"/>
          <p:cNvSpPr/>
          <p:nvPr/>
        </p:nvSpPr>
        <p:spPr>
          <a:xfrm>
            <a:off x="685800" y="1325880"/>
            <a:ext cx="822960" cy="822960"/>
          </a:xfrm>
          <a:prstGeom prst="ellipse">
            <a:avLst/>
          </a:prstGeom>
          <a:solidFill>
            <a:srgbClr val="FFFFFF"/>
          </a:solidFill>
          <a:ln/>
        </p:spPr>
      </p:sp>
      <p:pic>
        <p:nvPicPr>
          <p:cNvPr id="6" name="Image 0" descr="preencoded.png"/>
          <p:cNvPicPr>
            <a:picLocks noChangeAspect="1"/>
          </p:cNvPicPr>
          <p:nvPr/>
        </p:nvPicPr>
        <p:blipFill>
          <a:blip r:embed="rId3"/>
          <a:stretch>
            <a:fillRect/>
          </a:stretch>
        </p:blipFill>
        <p:spPr>
          <a:xfrm>
            <a:off x="868680" y="1508760"/>
            <a:ext cx="457200" cy="457200"/>
          </a:xfrm>
          <a:prstGeom prst="rect">
            <a:avLst/>
          </a:prstGeom>
        </p:spPr>
      </p:pic>
      <p:sp>
        <p:nvSpPr>
          <p:cNvPr id="7" name="Text 3"/>
          <p:cNvSpPr txBox="1"/>
          <p:nvPr/>
        </p:nvSpPr>
        <p:spPr>
          <a:xfrm>
            <a:off x="1783080" y="1252728"/>
            <a:ext cx="4937760" cy="384048"/>
          </a:xfrm>
          <a:prstGeom prst="rect">
            <a:avLst/>
          </a:prstGeom>
          <a:noFill/>
          <a:ln/>
        </p:spPr>
        <p:txBody>
          <a:bodyPr wrap="square" lIns="0" tIns="0" rIns="0" bIns="0" rtlCol="0" anchor="t"/>
          <a:lstStyle/>
          <a:p>
            <a:pPr marL="0" indent="0">
              <a:buNone/>
            </a:pPr>
            <a:r>
              <a:rPr lang="en-US" sz="1800" b="1" dirty="0">
                <a:solidFill>
                  <a:srgbClr val="17365D"/>
                </a:solidFill>
                <a:latin typeface="Arial" pitchFamily="34" charset="0"/>
                <a:ea typeface="Arial" pitchFamily="34" charset="-122"/>
                <a:cs typeface="Arial" pitchFamily="34" charset="-120"/>
              </a:rPr>
              <a:t>ATP is a distributed system</a:t>
            </a:r>
            <a:endParaRPr lang="en-US" sz="1800" dirty="0"/>
          </a:p>
        </p:txBody>
      </p:sp>
      <p:sp>
        <p:nvSpPr>
          <p:cNvPr id="8" name="Text 4"/>
          <p:cNvSpPr txBox="1"/>
          <p:nvPr/>
        </p:nvSpPr>
        <p:spPr>
          <a:xfrm>
            <a:off x="1783080" y="1673352"/>
            <a:ext cx="4937760" cy="640080"/>
          </a:xfrm>
          <a:prstGeom prst="rect">
            <a:avLst/>
          </a:prstGeom>
          <a:noFill/>
          <a:ln/>
        </p:spPr>
        <p:txBody>
          <a:bodyPr wrap="square" lIns="0" tIns="0" rIns="0" bIns="0" rtlCol="0" anchor="t"/>
          <a:lstStyle/>
          <a:p>
            <a:pPr marL="0" indent="0">
              <a:buNone/>
            </a:pPr>
            <a:r>
              <a:rPr lang="en-US" sz="1400" dirty="0">
                <a:solidFill>
                  <a:srgbClr val="1E2A3A"/>
                </a:solidFill>
                <a:latin typeface="Arial" pitchFamily="34" charset="0"/>
                <a:ea typeface="Arial" pitchFamily="34" charset="-122"/>
                <a:cs typeface="Arial" pitchFamily="34" charset="-120"/>
              </a:rPr>
              <a:t>Each onboard and wayside unit has a master controller plus input, output and analog cards.</a:t>
            </a:r>
            <a:endParaRPr lang="en-US" sz="1400" dirty="0"/>
          </a:p>
        </p:txBody>
      </p:sp>
      <p:sp>
        <p:nvSpPr>
          <p:cNvPr id="9" name="Shape 5"/>
          <p:cNvSpPr/>
          <p:nvPr/>
        </p:nvSpPr>
        <p:spPr>
          <a:xfrm>
            <a:off x="457200" y="2624328"/>
            <a:ext cx="6492240" cy="1371600"/>
          </a:xfrm>
          <a:prstGeom prst="roundRect">
            <a:avLst>
              <a:gd name="adj" fmla="val 6667"/>
            </a:avLst>
          </a:prstGeom>
          <a:solidFill>
            <a:srgbClr val="E8F6FD"/>
          </a:solidFill>
          <a:ln/>
        </p:spPr>
      </p:sp>
      <p:sp>
        <p:nvSpPr>
          <p:cNvPr id="10" name="Shape 6"/>
          <p:cNvSpPr/>
          <p:nvPr/>
        </p:nvSpPr>
        <p:spPr>
          <a:xfrm>
            <a:off x="685800" y="2898648"/>
            <a:ext cx="822960" cy="822960"/>
          </a:xfrm>
          <a:prstGeom prst="ellipse">
            <a:avLst/>
          </a:prstGeom>
          <a:solidFill>
            <a:srgbClr val="FFFFFF"/>
          </a:solidFill>
          <a:ln/>
        </p:spPr>
      </p:sp>
      <p:pic>
        <p:nvPicPr>
          <p:cNvPr id="11" name="Image 1" descr="preencoded.png"/>
          <p:cNvPicPr>
            <a:picLocks noChangeAspect="1"/>
          </p:cNvPicPr>
          <p:nvPr/>
        </p:nvPicPr>
        <p:blipFill>
          <a:blip r:embed="rId4"/>
          <a:stretch>
            <a:fillRect/>
          </a:stretch>
        </p:blipFill>
        <p:spPr>
          <a:xfrm>
            <a:off x="868680" y="3081528"/>
            <a:ext cx="457200" cy="457200"/>
          </a:xfrm>
          <a:prstGeom prst="rect">
            <a:avLst/>
          </a:prstGeom>
        </p:spPr>
      </p:pic>
      <p:sp>
        <p:nvSpPr>
          <p:cNvPr id="12" name="Text 7"/>
          <p:cNvSpPr txBox="1"/>
          <p:nvPr/>
        </p:nvSpPr>
        <p:spPr>
          <a:xfrm>
            <a:off x="1783080" y="2825496"/>
            <a:ext cx="4937760" cy="384048"/>
          </a:xfrm>
          <a:prstGeom prst="rect">
            <a:avLst/>
          </a:prstGeom>
          <a:noFill/>
          <a:ln/>
        </p:spPr>
        <p:txBody>
          <a:bodyPr wrap="square" lIns="0" tIns="0" rIns="0" bIns="0" rtlCol="0" anchor="t"/>
          <a:lstStyle/>
          <a:p>
            <a:pPr marL="0" indent="0">
              <a:buNone/>
            </a:pPr>
            <a:r>
              <a:rPr lang="en-US" sz="1800" b="1" dirty="0">
                <a:solidFill>
                  <a:srgbClr val="17365D"/>
                </a:solidFill>
                <a:latin typeface="Arial" pitchFamily="34" charset="0"/>
                <a:ea typeface="Arial" pitchFamily="34" charset="-122"/>
                <a:cs typeface="Arial" pitchFamily="34" charset="-120"/>
              </a:rPr>
              <a:t>Manual updates don't scale</a:t>
            </a:r>
            <a:endParaRPr lang="en-US" sz="1800" dirty="0"/>
          </a:p>
        </p:txBody>
      </p:sp>
      <p:sp>
        <p:nvSpPr>
          <p:cNvPr id="13" name="Text 8"/>
          <p:cNvSpPr txBox="1"/>
          <p:nvPr/>
        </p:nvSpPr>
        <p:spPr>
          <a:xfrm>
            <a:off x="1783080" y="3246120"/>
            <a:ext cx="4937760" cy="640080"/>
          </a:xfrm>
          <a:prstGeom prst="rect">
            <a:avLst/>
          </a:prstGeom>
          <a:noFill/>
          <a:ln/>
        </p:spPr>
        <p:txBody>
          <a:bodyPr wrap="square" lIns="0" tIns="0" rIns="0" bIns="0" rtlCol="0" anchor="t"/>
          <a:lstStyle/>
          <a:p>
            <a:pPr marL="0" indent="0">
              <a:buNone/>
            </a:pPr>
            <a:r>
              <a:rPr lang="en-US" sz="1400" dirty="0">
                <a:solidFill>
                  <a:srgbClr val="1E2A3A"/>
                </a:solidFill>
                <a:latin typeface="Arial" pitchFamily="34" charset="0"/>
                <a:ea typeface="Arial" pitchFamily="34" charset="-122"/>
                <a:cs typeface="Arial" pitchFamily="34" charset="-120"/>
              </a:rPr>
              <a:t>Technicians must reach every card on a large fleet. It takes time, and mistakes creep in.</a:t>
            </a:r>
            <a:endParaRPr lang="en-US" sz="1400" dirty="0"/>
          </a:p>
        </p:txBody>
      </p:sp>
      <p:sp>
        <p:nvSpPr>
          <p:cNvPr id="14" name="Shape 9"/>
          <p:cNvSpPr/>
          <p:nvPr/>
        </p:nvSpPr>
        <p:spPr>
          <a:xfrm>
            <a:off x="457200" y="4197096"/>
            <a:ext cx="6492240" cy="1371600"/>
          </a:xfrm>
          <a:prstGeom prst="roundRect">
            <a:avLst>
              <a:gd name="adj" fmla="val 6667"/>
            </a:avLst>
          </a:prstGeom>
          <a:solidFill>
            <a:srgbClr val="E8F6FD"/>
          </a:solidFill>
          <a:ln/>
        </p:spPr>
      </p:sp>
      <p:sp>
        <p:nvSpPr>
          <p:cNvPr id="15" name="Shape 10"/>
          <p:cNvSpPr/>
          <p:nvPr/>
        </p:nvSpPr>
        <p:spPr>
          <a:xfrm>
            <a:off x="685800" y="4471416"/>
            <a:ext cx="822960" cy="822960"/>
          </a:xfrm>
          <a:prstGeom prst="ellipse">
            <a:avLst/>
          </a:prstGeom>
          <a:solidFill>
            <a:srgbClr val="FFFFFF"/>
          </a:solidFill>
          <a:ln/>
        </p:spPr>
      </p:sp>
      <p:pic>
        <p:nvPicPr>
          <p:cNvPr id="16" name="Image 2" descr="preencoded.png"/>
          <p:cNvPicPr>
            <a:picLocks noChangeAspect="1"/>
          </p:cNvPicPr>
          <p:nvPr/>
        </p:nvPicPr>
        <p:blipFill>
          <a:blip r:embed="rId5"/>
          <a:stretch>
            <a:fillRect/>
          </a:stretch>
        </p:blipFill>
        <p:spPr>
          <a:xfrm>
            <a:off x="868680" y="4654296"/>
            <a:ext cx="457200" cy="457200"/>
          </a:xfrm>
          <a:prstGeom prst="rect">
            <a:avLst/>
          </a:prstGeom>
        </p:spPr>
      </p:pic>
      <p:sp>
        <p:nvSpPr>
          <p:cNvPr id="17" name="Text 11"/>
          <p:cNvSpPr txBox="1"/>
          <p:nvPr/>
        </p:nvSpPr>
        <p:spPr>
          <a:xfrm>
            <a:off x="1783080" y="4398264"/>
            <a:ext cx="4937760" cy="384048"/>
          </a:xfrm>
          <a:prstGeom prst="rect">
            <a:avLst/>
          </a:prstGeom>
          <a:noFill/>
          <a:ln/>
        </p:spPr>
        <p:txBody>
          <a:bodyPr wrap="square" lIns="0" tIns="0" rIns="0" bIns="0" rtlCol="0" anchor="t"/>
          <a:lstStyle/>
          <a:p>
            <a:pPr marL="0" indent="0">
              <a:buNone/>
            </a:pPr>
            <a:r>
              <a:rPr lang="en-US" sz="1800" b="1" dirty="0">
                <a:solidFill>
                  <a:srgbClr val="17365D"/>
                </a:solidFill>
                <a:latin typeface="Arial" pitchFamily="34" charset="0"/>
                <a:ea typeface="Arial" pitchFamily="34" charset="-122"/>
                <a:cs typeface="Arial" pitchFamily="34" charset="-120"/>
              </a:rPr>
              <a:t>Safety comes first</a:t>
            </a:r>
            <a:endParaRPr lang="en-US" sz="1800" dirty="0"/>
          </a:p>
        </p:txBody>
      </p:sp>
      <p:sp>
        <p:nvSpPr>
          <p:cNvPr id="18" name="Text 12"/>
          <p:cNvSpPr txBox="1"/>
          <p:nvPr/>
        </p:nvSpPr>
        <p:spPr>
          <a:xfrm>
            <a:off x="1783080" y="4818888"/>
            <a:ext cx="4937760" cy="640080"/>
          </a:xfrm>
          <a:prstGeom prst="rect">
            <a:avLst/>
          </a:prstGeom>
          <a:noFill/>
          <a:ln/>
        </p:spPr>
        <p:txBody>
          <a:bodyPr wrap="square" lIns="0" tIns="0" rIns="0" bIns="0" rtlCol="0" anchor="t"/>
          <a:lstStyle/>
          <a:p>
            <a:pPr marL="0" indent="0">
              <a:buNone/>
            </a:pPr>
            <a:r>
              <a:rPr lang="en-US" sz="1400" dirty="0">
                <a:solidFill>
                  <a:srgbClr val="1E2A3A"/>
                </a:solidFill>
                <a:latin typeface="Arial" pitchFamily="34" charset="0"/>
                <a:ea typeface="Arial" pitchFamily="34" charset="-122"/>
                <a:cs typeface="Arial" pitchFamily="34" charset="-120"/>
              </a:rPr>
              <a:t>A failed or corrupted update must never leave a card unable to boot.</a:t>
            </a:r>
            <a:endParaRPr lang="en-US" sz="1400" dirty="0"/>
          </a:p>
        </p:txBody>
      </p:sp>
      <p:sp>
        <p:nvSpPr>
          <p:cNvPr id="19" name="Shape 13"/>
          <p:cNvSpPr/>
          <p:nvPr/>
        </p:nvSpPr>
        <p:spPr>
          <a:xfrm>
            <a:off x="7315200" y="1051560"/>
            <a:ext cx="4416552" cy="4517136"/>
          </a:xfrm>
          <a:prstGeom prst="roundRect">
            <a:avLst>
              <a:gd name="adj" fmla="val 2484"/>
            </a:avLst>
          </a:prstGeom>
          <a:solidFill>
            <a:srgbClr val="17365D"/>
          </a:solidFill>
          <a:ln/>
          <a:effectLst>
            <a:outerShdw blurRad="76200" dist="25400" dir="5400000" algn="bl" rotWithShape="0">
              <a:srgbClr val="7A8CA3">
                <a:alpha val="25000"/>
              </a:srgbClr>
            </a:outerShdw>
          </a:effectLst>
        </p:spPr>
      </p:sp>
      <p:sp>
        <p:nvSpPr>
          <p:cNvPr id="20" name="Text 14"/>
          <p:cNvSpPr txBox="1"/>
          <p:nvPr/>
        </p:nvSpPr>
        <p:spPr>
          <a:xfrm>
            <a:off x="7589520" y="1234440"/>
            <a:ext cx="3931920" cy="411480"/>
          </a:xfrm>
          <a:prstGeom prst="rect">
            <a:avLst/>
          </a:prstGeom>
          <a:noFill/>
          <a:ln/>
        </p:spPr>
        <p:txBody>
          <a:bodyPr wrap="square" lIns="0" tIns="0" rIns="0" bIns="0" rtlCol="0" anchor="t"/>
          <a:lstStyle/>
          <a:p>
            <a:pPr marL="0" indent="0">
              <a:buNone/>
            </a:pPr>
            <a:r>
              <a:rPr lang="en-US" sz="1900" b="1" dirty="0">
                <a:solidFill>
                  <a:srgbClr val="FFFFFF"/>
                </a:solidFill>
                <a:latin typeface="Arial" pitchFamily="34" charset="0"/>
                <a:ea typeface="Arial" pitchFamily="34" charset="-122"/>
                <a:cs typeface="Arial" pitchFamily="34" charset="-120"/>
              </a:rPr>
              <a:t>What we built</a:t>
            </a:r>
            <a:endParaRPr lang="en-US" sz="1900" dirty="0"/>
          </a:p>
        </p:txBody>
      </p:sp>
      <p:sp>
        <p:nvSpPr>
          <p:cNvPr id="21" name="Text 15"/>
          <p:cNvSpPr txBox="1"/>
          <p:nvPr/>
        </p:nvSpPr>
        <p:spPr>
          <a:xfrm>
            <a:off x="7589520" y="1691640"/>
            <a:ext cx="3931920" cy="731520"/>
          </a:xfrm>
          <a:prstGeom prst="rect">
            <a:avLst/>
          </a:prstGeom>
          <a:noFill/>
          <a:ln/>
        </p:spPr>
        <p:txBody>
          <a:bodyPr wrap="square" lIns="0" tIns="0" rIns="0" bIns="0" rtlCol="0" anchor="t"/>
          <a:lstStyle/>
          <a:p>
            <a:pPr marL="0" indent="0">
              <a:buNone/>
            </a:pPr>
            <a:r>
              <a:rPr lang="en-US" sz="1350" dirty="0">
                <a:solidFill>
                  <a:srgbClr val="CFE6FA"/>
                </a:solidFill>
                <a:latin typeface="Arial" pitchFamily="34" charset="0"/>
                <a:ea typeface="Arial" pitchFamily="34" charset="-122"/>
                <a:cs typeface="Arial" pitchFamily="34" charset="-120"/>
              </a:rPr>
              <a:t>A bootloader that runs on every card, before the application, at every reset.</a:t>
            </a:r>
            <a:endParaRPr lang="en-US" sz="1350" dirty="0"/>
          </a:p>
        </p:txBody>
      </p:sp>
      <p:sp>
        <p:nvSpPr>
          <p:cNvPr id="22" name="Shape 16"/>
          <p:cNvSpPr/>
          <p:nvPr/>
        </p:nvSpPr>
        <p:spPr>
          <a:xfrm>
            <a:off x="7589520" y="2788920"/>
            <a:ext cx="457200" cy="457200"/>
          </a:xfrm>
          <a:prstGeom prst="ellipse">
            <a:avLst/>
          </a:prstGeom>
          <a:solidFill>
            <a:srgbClr val="08A1D9"/>
          </a:solidFill>
          <a:ln/>
        </p:spPr>
      </p:sp>
      <p:sp>
        <p:nvSpPr>
          <p:cNvPr id="23" name="Text 17"/>
          <p:cNvSpPr txBox="1"/>
          <p:nvPr/>
        </p:nvSpPr>
        <p:spPr>
          <a:xfrm>
            <a:off x="7589520" y="27889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24" name="Text 18"/>
          <p:cNvSpPr txBox="1"/>
          <p:nvPr/>
        </p:nvSpPr>
        <p:spPr>
          <a:xfrm>
            <a:off x="8229600" y="2606040"/>
            <a:ext cx="3291840" cy="822960"/>
          </a:xfrm>
          <a:prstGeom prst="rect">
            <a:avLst/>
          </a:prstGeom>
          <a:noFill/>
          <a:ln/>
        </p:spPr>
        <p:txBody>
          <a:bodyPr wrap="square" lIns="0" tIns="0" rIns="0" bIns="0" rtlCol="0" anchor="ctr"/>
          <a:lstStyle/>
          <a:p>
            <a:pPr marL="0" indent="0">
              <a:buNone/>
            </a:pPr>
            <a:r>
              <a:rPr lang="en-US" sz="1450" dirty="0">
                <a:solidFill>
                  <a:srgbClr val="FFFFFF"/>
                </a:solidFill>
                <a:latin typeface="Arial" pitchFamily="34" charset="0"/>
                <a:ea typeface="Arial" pitchFamily="34" charset="-122"/>
                <a:cs typeface="Arial" pitchFamily="34" charset="-120"/>
              </a:rPr>
              <a:t>One reliable-transfer protocol for UDP, CAN-FD and UART</a:t>
            </a:r>
            <a:endParaRPr lang="en-US" sz="1450" dirty="0"/>
          </a:p>
        </p:txBody>
      </p:sp>
      <p:sp>
        <p:nvSpPr>
          <p:cNvPr id="25" name="Shape 19"/>
          <p:cNvSpPr/>
          <p:nvPr/>
        </p:nvSpPr>
        <p:spPr>
          <a:xfrm>
            <a:off x="7589520" y="3721608"/>
            <a:ext cx="457200" cy="457200"/>
          </a:xfrm>
          <a:prstGeom prst="ellipse">
            <a:avLst/>
          </a:prstGeom>
          <a:solidFill>
            <a:srgbClr val="08A1D9"/>
          </a:solidFill>
          <a:ln/>
        </p:spPr>
      </p:sp>
      <p:sp>
        <p:nvSpPr>
          <p:cNvPr id="26" name="Text 20"/>
          <p:cNvSpPr txBox="1"/>
          <p:nvPr/>
        </p:nvSpPr>
        <p:spPr>
          <a:xfrm>
            <a:off x="7589520" y="372160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27" name="Text 21"/>
          <p:cNvSpPr txBox="1"/>
          <p:nvPr/>
        </p:nvSpPr>
        <p:spPr>
          <a:xfrm>
            <a:off x="8229600" y="3538728"/>
            <a:ext cx="3291840" cy="822960"/>
          </a:xfrm>
          <a:prstGeom prst="rect">
            <a:avLst/>
          </a:prstGeom>
          <a:noFill/>
          <a:ln/>
        </p:spPr>
        <p:txBody>
          <a:bodyPr wrap="square" lIns="0" tIns="0" rIns="0" bIns="0" rtlCol="0" anchor="ctr"/>
          <a:lstStyle/>
          <a:p>
            <a:pPr marL="0" indent="0">
              <a:buNone/>
            </a:pPr>
            <a:r>
              <a:rPr lang="en-US" sz="1450" dirty="0">
                <a:solidFill>
                  <a:srgbClr val="FFFFFF"/>
                </a:solidFill>
                <a:latin typeface="Arial" pitchFamily="34" charset="0"/>
                <a:ea typeface="Arial" pitchFamily="34" charset="-122"/>
                <a:cs typeface="Arial" pitchFamily="34" charset="-120"/>
              </a:rPr>
              <a:t>A coverage bitmap that decides when an image is complete</a:t>
            </a:r>
            <a:endParaRPr lang="en-US" sz="1450" dirty="0"/>
          </a:p>
        </p:txBody>
      </p:sp>
      <p:sp>
        <p:nvSpPr>
          <p:cNvPr id="28" name="Shape 22"/>
          <p:cNvSpPr/>
          <p:nvPr/>
        </p:nvSpPr>
        <p:spPr>
          <a:xfrm>
            <a:off x="7589520" y="4654296"/>
            <a:ext cx="457200" cy="457200"/>
          </a:xfrm>
          <a:prstGeom prst="ellipse">
            <a:avLst/>
          </a:prstGeom>
          <a:solidFill>
            <a:srgbClr val="08A1D9"/>
          </a:solidFill>
          <a:ln/>
        </p:spPr>
      </p:sp>
      <p:sp>
        <p:nvSpPr>
          <p:cNvPr id="29" name="Text 23"/>
          <p:cNvSpPr txBox="1"/>
          <p:nvPr/>
        </p:nvSpPr>
        <p:spPr>
          <a:xfrm>
            <a:off x="7589520" y="465429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30" name="Text 24"/>
          <p:cNvSpPr txBox="1"/>
          <p:nvPr/>
        </p:nvSpPr>
        <p:spPr>
          <a:xfrm>
            <a:off x="8229600" y="4471416"/>
            <a:ext cx="3291840" cy="822960"/>
          </a:xfrm>
          <a:prstGeom prst="rect">
            <a:avLst/>
          </a:prstGeom>
          <a:noFill/>
          <a:ln/>
        </p:spPr>
        <p:txBody>
          <a:bodyPr wrap="square" lIns="0" tIns="0" rIns="0" bIns="0" rtlCol="0" anchor="ctr"/>
          <a:lstStyle/>
          <a:p>
            <a:pPr marL="0" indent="0">
              <a:buNone/>
            </a:pPr>
            <a:r>
              <a:rPr lang="en-US" sz="1450" dirty="0">
                <a:solidFill>
                  <a:srgbClr val="FFFFFF"/>
                </a:solidFill>
                <a:latin typeface="Arial" pitchFamily="34" charset="0"/>
                <a:ea typeface="Arial" pitchFamily="34" charset="-122"/>
                <a:cs typeface="Arial" pitchFamily="34" charset="-120"/>
              </a:rPr>
              <a:t>A dual-bank commit that rolls back on its own</a:t>
            </a:r>
            <a:endParaRPr lang="en-US" sz="1450" dirty="0"/>
          </a:p>
        </p:txBody>
      </p:sp>
      <p:sp>
        <p:nvSpPr>
          <p:cNvPr id="3" name="Slide Number Placeholder 0"/>
          <p:cNvSpPr>
            <a:spLocks noGrp="1"/>
          </p:cNvSpPr>
          <p:nvPr>
            <p:ph type="sldNum" sz="quarter" idx="4294967295"/>
          </p:nvPr>
        </p:nvSpPr>
        <p:spPr>
          <a:xfrm>
            <a:off x="1138428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A"/>
                </a:solidFill>
                <a:latin typeface="Arial"/>
                <a:ea typeface="Arial"/>
                <a:cs typeface="Aria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6576"/>
            <a:ext cx="8686800" cy="420624"/>
          </a:xfrm>
          <a:prstGeom prst="rect">
            <a:avLst/>
          </a:prstGeom>
          <a:noFill/>
          <a:ln/>
        </p:spPr>
        <p:txBody>
          <a:bodyPr wrap="square" lIns="0" tIns="0" rIns="0" bIns="0" rtlCol="0" anchor="ctr"/>
          <a:lstStyle/>
          <a:p>
            <a:pPr marL="0" indent="0">
              <a:buNone/>
            </a:pPr>
            <a:r>
              <a:rPr lang="en-US" sz="2400" b="1" dirty="0">
                <a:solidFill>
                  <a:srgbClr val="1F5A9E"/>
                </a:solidFill>
                <a:latin typeface="Arial" pitchFamily="34" charset="0"/>
                <a:ea typeface="Arial" pitchFamily="34" charset="-122"/>
                <a:cs typeface="Arial" pitchFamily="34" charset="-120"/>
              </a:rPr>
              <a:t>Design Constraints</a:t>
            </a:r>
            <a:endParaRPr lang="en-US" sz="2400" dirty="0"/>
          </a:p>
        </p:txBody>
      </p:sp>
      <p:sp>
        <p:nvSpPr>
          <p:cNvPr id="4" name="Shape 1"/>
          <p:cNvSpPr/>
          <p:nvPr/>
        </p:nvSpPr>
        <p:spPr>
          <a:xfrm>
            <a:off x="457200" y="960120"/>
            <a:ext cx="3566160" cy="4343400"/>
          </a:xfrm>
          <a:prstGeom prst="roundRect">
            <a:avLst>
              <a:gd name="adj" fmla="val 3077"/>
            </a:avLst>
          </a:prstGeom>
          <a:solidFill>
            <a:srgbClr val="E8F6FD"/>
          </a:solidFill>
          <a:ln/>
        </p:spPr>
      </p:sp>
      <p:sp>
        <p:nvSpPr>
          <p:cNvPr id="5" name="Shape 2"/>
          <p:cNvSpPr/>
          <p:nvPr/>
        </p:nvSpPr>
        <p:spPr>
          <a:xfrm>
            <a:off x="685800" y="1170432"/>
            <a:ext cx="777240" cy="777240"/>
          </a:xfrm>
          <a:prstGeom prst="ellipse">
            <a:avLst/>
          </a:prstGeom>
          <a:solidFill>
            <a:srgbClr val="1F6FB5"/>
          </a:solidFill>
          <a:ln/>
        </p:spPr>
      </p:sp>
      <p:pic>
        <p:nvPicPr>
          <p:cNvPr id="6" name="Image 0" descr="preencoded.png"/>
          <p:cNvPicPr>
            <a:picLocks noChangeAspect="1"/>
          </p:cNvPicPr>
          <p:nvPr/>
        </p:nvPicPr>
        <p:blipFill>
          <a:blip r:embed="rId3"/>
          <a:stretch>
            <a:fillRect/>
          </a:stretch>
        </p:blipFill>
        <p:spPr>
          <a:xfrm>
            <a:off x="887882" y="1372514"/>
            <a:ext cx="373075" cy="373075"/>
          </a:xfrm>
          <a:prstGeom prst="rect">
            <a:avLst/>
          </a:prstGeom>
        </p:spPr>
      </p:pic>
      <p:sp>
        <p:nvSpPr>
          <p:cNvPr id="7" name="Text 3"/>
          <p:cNvSpPr txBox="1"/>
          <p:nvPr/>
        </p:nvSpPr>
        <p:spPr>
          <a:xfrm>
            <a:off x="1600200" y="1170432"/>
            <a:ext cx="2286000" cy="777240"/>
          </a:xfrm>
          <a:prstGeom prst="rect">
            <a:avLst/>
          </a:prstGeom>
          <a:noFill/>
          <a:ln/>
        </p:spPr>
        <p:txBody>
          <a:bodyPr wrap="square" lIns="0" tIns="0" rIns="0" bIns="0" rtlCol="0" anchor="ctr"/>
          <a:lstStyle/>
          <a:p>
            <a:pPr marL="0" indent="0">
              <a:buNone/>
            </a:pPr>
            <a:r>
              <a:rPr lang="en-US" sz="2000" b="1" dirty="0">
                <a:solidFill>
                  <a:srgbClr val="17365D"/>
                </a:solidFill>
                <a:latin typeface="Arial" pitchFamily="34" charset="0"/>
                <a:ea typeface="Arial" pitchFamily="34" charset="-122"/>
                <a:cs typeface="Arial" pitchFamily="34" charset="-120"/>
              </a:rPr>
              <a:t>Mixed links</a:t>
            </a:r>
            <a:endParaRPr lang="en-US" sz="2000" dirty="0"/>
          </a:p>
        </p:txBody>
      </p:sp>
      <p:sp>
        <p:nvSpPr>
          <p:cNvPr id="8" name="Text 4"/>
          <p:cNvSpPr txBox="1"/>
          <p:nvPr/>
        </p:nvSpPr>
        <p:spPr>
          <a:xfrm>
            <a:off x="685800" y="2194560"/>
            <a:ext cx="3154680" cy="3017520"/>
          </a:xfrm>
          <a:prstGeom prst="rect">
            <a:avLst/>
          </a:prstGeom>
          <a:noFill/>
          <a:ln/>
        </p:spPr>
        <p:txBody>
          <a:bodyPr wrap="square" lIns="0" tIns="0" rIns="0" bIns="0" rtlCol="0" anchor="t"/>
          <a:lstStyle/>
          <a:p>
            <a:pPr marL="177800" indent="-177800">
              <a:spcAft>
                <a:spcPts val="1200"/>
              </a:spcAft>
              <a:buSzPct val="100000"/>
              <a:buChar char="•"/>
            </a:pPr>
            <a:r>
              <a:rPr lang="en-US" sz="1600" dirty="0">
                <a:solidFill>
                  <a:srgbClr val="1E2A3A"/>
                </a:solidFill>
                <a:latin typeface="Arial" pitchFamily="34" charset="0"/>
                <a:ea typeface="Arial" pitchFamily="34" charset="-122"/>
                <a:cs typeface="Arial" pitchFamily="34" charset="-120"/>
              </a:rPr>
              <a:t>Ethernet brings images in.</a:t>
            </a:r>
            <a:endParaRPr lang="en-US" sz="1600" dirty="0"/>
          </a:p>
          <a:p>
            <a:pPr marL="177800" indent="-177800">
              <a:spcAft>
                <a:spcPts val="1200"/>
              </a:spcAft>
              <a:buSzPct val="100000"/>
              <a:buChar char="•"/>
            </a:pPr>
            <a:r>
              <a:rPr lang="en-US" sz="1600" dirty="0">
                <a:solidFill>
                  <a:srgbClr val="1E2A3A"/>
                </a:solidFill>
                <a:latin typeface="Arial" pitchFamily="34" charset="0"/>
                <a:ea typeface="Arial" pitchFamily="34" charset="-122"/>
                <a:cs typeface="Arial" pitchFamily="34" charset="-120"/>
              </a:rPr>
              <a:t>CAN-FD and UART carry them to the cards.</a:t>
            </a:r>
            <a:endParaRPr lang="en-US" sz="1600" dirty="0"/>
          </a:p>
          <a:p>
            <a:pPr marL="177800" indent="-177800">
              <a:spcAft>
                <a:spcPts val="1200"/>
              </a:spcAft>
              <a:buSzPct val="100000"/>
              <a:buChar char="•"/>
            </a:pPr>
            <a:r>
              <a:rPr lang="en-US" sz="1600" dirty="0">
                <a:solidFill>
                  <a:srgbClr val="1E2A3A"/>
                </a:solidFill>
                <a:latin typeface="Arial" pitchFamily="34" charset="0"/>
                <a:ea typeface="Arial" pitchFamily="34" charset="-122"/>
                <a:cs typeface="Arial" pitchFamily="34" charset="-120"/>
              </a:rPr>
              <a:t>Usable payload differs by about 25×.</a:t>
            </a:r>
            <a:endParaRPr lang="en-US" sz="1600" dirty="0"/>
          </a:p>
          <a:p>
            <a:pPr marL="177800" indent="-177800">
              <a:spcAft>
                <a:spcPts val="1200"/>
              </a:spcAft>
              <a:buSzPct val="100000"/>
              <a:buChar char="•"/>
            </a:pPr>
            <a:r>
              <a:rPr lang="en-US" sz="1600" dirty="0">
                <a:solidFill>
                  <a:srgbClr val="1E2A3A"/>
                </a:solidFill>
                <a:latin typeface="Arial" pitchFamily="34" charset="0"/>
                <a:ea typeface="Arial" pitchFamily="34" charset="-122"/>
                <a:cs typeface="Arial" pitchFamily="34" charset="-120"/>
              </a:rPr>
              <a:t>Separate protocols per link would multiply code and testing.</a:t>
            </a:r>
            <a:endParaRPr lang="en-US" sz="1600" dirty="0"/>
          </a:p>
        </p:txBody>
      </p:sp>
      <p:sp>
        <p:nvSpPr>
          <p:cNvPr id="9" name="Shape 5"/>
          <p:cNvSpPr/>
          <p:nvPr/>
        </p:nvSpPr>
        <p:spPr>
          <a:xfrm>
            <a:off x="4279392" y="960120"/>
            <a:ext cx="3566160" cy="4343400"/>
          </a:xfrm>
          <a:prstGeom prst="roundRect">
            <a:avLst>
              <a:gd name="adj" fmla="val 3077"/>
            </a:avLst>
          </a:prstGeom>
          <a:solidFill>
            <a:srgbClr val="E8F6FD"/>
          </a:solidFill>
          <a:ln/>
        </p:spPr>
      </p:sp>
      <p:sp>
        <p:nvSpPr>
          <p:cNvPr id="10" name="Shape 6"/>
          <p:cNvSpPr/>
          <p:nvPr/>
        </p:nvSpPr>
        <p:spPr>
          <a:xfrm>
            <a:off x="4507992" y="1170432"/>
            <a:ext cx="777240" cy="777240"/>
          </a:xfrm>
          <a:prstGeom prst="ellipse">
            <a:avLst/>
          </a:prstGeom>
          <a:solidFill>
            <a:srgbClr val="D98A00"/>
          </a:solidFill>
          <a:ln/>
        </p:spPr>
      </p:sp>
      <p:pic>
        <p:nvPicPr>
          <p:cNvPr id="11" name="Image 1" descr="preencoded.png"/>
          <p:cNvPicPr>
            <a:picLocks noChangeAspect="1"/>
          </p:cNvPicPr>
          <p:nvPr/>
        </p:nvPicPr>
        <p:blipFill>
          <a:blip r:embed="rId4"/>
          <a:stretch>
            <a:fillRect/>
          </a:stretch>
        </p:blipFill>
        <p:spPr>
          <a:xfrm>
            <a:off x="4710074" y="1372514"/>
            <a:ext cx="373075" cy="373075"/>
          </a:xfrm>
          <a:prstGeom prst="rect">
            <a:avLst/>
          </a:prstGeom>
        </p:spPr>
      </p:pic>
      <p:sp>
        <p:nvSpPr>
          <p:cNvPr id="12" name="Text 7"/>
          <p:cNvSpPr txBox="1"/>
          <p:nvPr/>
        </p:nvSpPr>
        <p:spPr>
          <a:xfrm>
            <a:off x="5422392" y="1170432"/>
            <a:ext cx="2286000" cy="777240"/>
          </a:xfrm>
          <a:prstGeom prst="rect">
            <a:avLst/>
          </a:prstGeom>
          <a:noFill/>
          <a:ln/>
        </p:spPr>
        <p:txBody>
          <a:bodyPr wrap="square" lIns="0" tIns="0" rIns="0" bIns="0" rtlCol="0" anchor="ctr"/>
          <a:lstStyle/>
          <a:p>
            <a:pPr marL="0" indent="0">
              <a:buNone/>
            </a:pPr>
            <a:r>
              <a:rPr lang="en-US" sz="2000" b="1" dirty="0">
                <a:solidFill>
                  <a:srgbClr val="17365D"/>
                </a:solidFill>
                <a:latin typeface="Arial" pitchFamily="34" charset="0"/>
                <a:ea typeface="Arial" pitchFamily="34" charset="-122"/>
                <a:cs typeface="Arial" pitchFamily="34" charset="-120"/>
              </a:rPr>
              <a:t>Unreliable channel</a:t>
            </a:r>
            <a:endParaRPr lang="en-US" sz="2000" dirty="0"/>
          </a:p>
        </p:txBody>
      </p:sp>
      <p:sp>
        <p:nvSpPr>
          <p:cNvPr id="13" name="Text 8"/>
          <p:cNvSpPr txBox="1"/>
          <p:nvPr/>
        </p:nvSpPr>
        <p:spPr>
          <a:xfrm>
            <a:off x="4507992" y="2194560"/>
            <a:ext cx="3154680" cy="3017520"/>
          </a:xfrm>
          <a:prstGeom prst="rect">
            <a:avLst/>
          </a:prstGeom>
          <a:noFill/>
          <a:ln/>
        </p:spPr>
        <p:txBody>
          <a:bodyPr wrap="square" lIns="0" tIns="0" rIns="0" bIns="0" rtlCol="0" anchor="t"/>
          <a:lstStyle/>
          <a:p>
            <a:pPr marL="177800" indent="-177800">
              <a:spcAft>
                <a:spcPts val="1200"/>
              </a:spcAft>
              <a:buSzPct val="100000"/>
              <a:buChar char="•"/>
            </a:pPr>
            <a:r>
              <a:rPr lang="en-US" sz="1600" dirty="0">
                <a:solidFill>
                  <a:srgbClr val="1E2A3A"/>
                </a:solidFill>
                <a:latin typeface="Arial" pitchFamily="34" charset="0"/>
                <a:ea typeface="Arial" pitchFamily="34" charset="-122"/>
                <a:cs typeface="Arial" pitchFamily="34" charset="-120"/>
              </a:rPr>
              <a:t>UDP gives no delivery guarantee.</a:t>
            </a:r>
            <a:endParaRPr lang="en-US" sz="1600" dirty="0"/>
          </a:p>
          <a:p>
            <a:pPr marL="177800" indent="-177800">
              <a:spcAft>
                <a:spcPts val="1200"/>
              </a:spcAft>
              <a:buSzPct val="100000"/>
              <a:buChar char="•"/>
            </a:pPr>
            <a:r>
              <a:rPr lang="en-US" sz="1600" dirty="0">
                <a:solidFill>
                  <a:srgbClr val="1E2A3A"/>
                </a:solidFill>
                <a:latin typeface="Arial" pitchFamily="34" charset="0"/>
                <a:ea typeface="Arial" pitchFamily="34" charset="-122"/>
                <a:cs typeface="Arial" pitchFamily="34" charset="-120"/>
              </a:rPr>
              <a:t>Counting bytes fails in two ways:</a:t>
            </a:r>
            <a:endParaRPr lang="en-US" sz="1600" dirty="0"/>
          </a:p>
          <a:p>
            <a:pPr marL="177800" indent="-177800">
              <a:spcAft>
                <a:spcPts val="1200"/>
              </a:spcAft>
              <a:buSzPct val="100000"/>
              <a:buChar char="•"/>
            </a:pPr>
            <a:r>
              <a:rPr lang="en-US" sz="1600" dirty="0">
                <a:solidFill>
                  <a:srgbClr val="1E2A3A"/>
                </a:solidFill>
                <a:latin typeface="Arial" pitchFamily="34" charset="0"/>
                <a:ea typeface="Arial" pitchFamily="34" charset="-122"/>
                <a:cs typeface="Arial" pitchFamily="34" charset="-120"/>
              </a:rPr>
              <a:t>Loss: the count never reaches the target, so the transfer stalls.</a:t>
            </a:r>
            <a:endParaRPr lang="en-US" sz="1600" dirty="0"/>
          </a:p>
          <a:p>
            <a:pPr marL="177800" indent="-177800">
              <a:spcAft>
                <a:spcPts val="1200"/>
              </a:spcAft>
              <a:buSzPct val="100000"/>
              <a:buChar char="•"/>
            </a:pPr>
            <a:r>
              <a:rPr lang="en-US" sz="1600" dirty="0">
                <a:solidFill>
                  <a:srgbClr val="1E2A3A"/>
                </a:solidFill>
                <a:latin typeface="Arial" pitchFamily="34" charset="0"/>
                <a:ea typeface="Arial" pitchFamily="34" charset="-122"/>
                <a:cs typeface="Arial" pitchFamily="34" charset="-120"/>
              </a:rPr>
              <a:t>Duplicates: the count fills up early, so a broken image looks complete.</a:t>
            </a:r>
            <a:endParaRPr lang="en-US" sz="1600" dirty="0"/>
          </a:p>
        </p:txBody>
      </p:sp>
      <p:sp>
        <p:nvSpPr>
          <p:cNvPr id="14" name="Shape 9"/>
          <p:cNvSpPr/>
          <p:nvPr/>
        </p:nvSpPr>
        <p:spPr>
          <a:xfrm>
            <a:off x="8101584" y="960120"/>
            <a:ext cx="3566160" cy="4343400"/>
          </a:xfrm>
          <a:prstGeom prst="roundRect">
            <a:avLst>
              <a:gd name="adj" fmla="val 3077"/>
            </a:avLst>
          </a:prstGeom>
          <a:solidFill>
            <a:srgbClr val="E8F6FD"/>
          </a:solidFill>
          <a:ln/>
        </p:spPr>
      </p:sp>
      <p:sp>
        <p:nvSpPr>
          <p:cNvPr id="15" name="Shape 10"/>
          <p:cNvSpPr/>
          <p:nvPr/>
        </p:nvSpPr>
        <p:spPr>
          <a:xfrm>
            <a:off x="8330184" y="1170432"/>
            <a:ext cx="777240" cy="777240"/>
          </a:xfrm>
          <a:prstGeom prst="ellipse">
            <a:avLst/>
          </a:prstGeom>
          <a:solidFill>
            <a:srgbClr val="C8102E"/>
          </a:solidFill>
          <a:ln/>
        </p:spPr>
      </p:sp>
      <p:pic>
        <p:nvPicPr>
          <p:cNvPr id="16" name="Image 2" descr="preencoded.png"/>
          <p:cNvPicPr>
            <a:picLocks noChangeAspect="1"/>
          </p:cNvPicPr>
          <p:nvPr/>
        </p:nvPicPr>
        <p:blipFill>
          <a:blip r:embed="rId5"/>
          <a:stretch>
            <a:fillRect/>
          </a:stretch>
        </p:blipFill>
        <p:spPr>
          <a:xfrm>
            <a:off x="8532266" y="1372514"/>
            <a:ext cx="373075" cy="373075"/>
          </a:xfrm>
          <a:prstGeom prst="rect">
            <a:avLst/>
          </a:prstGeom>
        </p:spPr>
      </p:pic>
      <p:sp>
        <p:nvSpPr>
          <p:cNvPr id="17" name="Text 11"/>
          <p:cNvSpPr txBox="1"/>
          <p:nvPr/>
        </p:nvSpPr>
        <p:spPr>
          <a:xfrm>
            <a:off x="9244584" y="1170432"/>
            <a:ext cx="2286000" cy="777240"/>
          </a:xfrm>
          <a:prstGeom prst="rect">
            <a:avLst/>
          </a:prstGeom>
          <a:noFill/>
          <a:ln/>
        </p:spPr>
        <p:txBody>
          <a:bodyPr wrap="square" lIns="0" tIns="0" rIns="0" bIns="0" rtlCol="0" anchor="ctr"/>
          <a:lstStyle/>
          <a:p>
            <a:pPr marL="0" indent="0">
              <a:buNone/>
            </a:pPr>
            <a:r>
              <a:rPr lang="en-US" sz="2000" b="1" dirty="0">
                <a:solidFill>
                  <a:srgbClr val="17365D"/>
                </a:solidFill>
                <a:latin typeface="Arial" pitchFamily="34" charset="0"/>
                <a:ea typeface="Arial" pitchFamily="34" charset="-122"/>
                <a:cs typeface="Arial" pitchFamily="34" charset="-120"/>
              </a:rPr>
              <a:t>Never brick</a:t>
            </a:r>
            <a:endParaRPr lang="en-US" sz="2000" dirty="0"/>
          </a:p>
        </p:txBody>
      </p:sp>
      <p:sp>
        <p:nvSpPr>
          <p:cNvPr id="18" name="Text 12"/>
          <p:cNvSpPr txBox="1"/>
          <p:nvPr/>
        </p:nvSpPr>
        <p:spPr>
          <a:xfrm>
            <a:off x="8330184" y="2194560"/>
            <a:ext cx="3154680" cy="3017520"/>
          </a:xfrm>
          <a:prstGeom prst="rect">
            <a:avLst/>
          </a:prstGeom>
          <a:noFill/>
          <a:ln/>
        </p:spPr>
        <p:txBody>
          <a:bodyPr wrap="square" lIns="0" tIns="0" rIns="0" bIns="0" rtlCol="0" anchor="t"/>
          <a:lstStyle/>
          <a:p>
            <a:pPr marL="177800" indent="-177800">
              <a:spcAft>
                <a:spcPts val="1200"/>
              </a:spcAft>
              <a:buSzPct val="100000"/>
              <a:buChar char="•"/>
            </a:pPr>
            <a:r>
              <a:rPr lang="en-US" sz="1600" dirty="0">
                <a:solidFill>
                  <a:srgbClr val="1E2A3A"/>
                </a:solidFill>
                <a:latin typeface="Arial" pitchFamily="34" charset="0"/>
                <a:ea typeface="Arial" pitchFamily="34" charset="-122"/>
                <a:cs typeface="Arial" pitchFamily="34" charset="-120"/>
              </a:rPr>
              <a:t>Power can fail mid-write.</a:t>
            </a:r>
            <a:endParaRPr lang="en-US" sz="1600" dirty="0"/>
          </a:p>
          <a:p>
            <a:pPr marL="177800" indent="-177800">
              <a:spcAft>
                <a:spcPts val="1200"/>
              </a:spcAft>
              <a:buSzPct val="100000"/>
              <a:buChar char="•"/>
            </a:pPr>
            <a:r>
              <a:rPr lang="en-US" sz="1600" dirty="0">
                <a:solidFill>
                  <a:srgbClr val="1E2A3A"/>
                </a:solidFill>
                <a:latin typeface="Arial" pitchFamily="34" charset="0"/>
                <a:ea typeface="Arial" pitchFamily="34" charset="-122"/>
                <a:cs typeface="Arial" pitchFamily="34" charset="-120"/>
              </a:rPr>
              <a:t>Nobody can reach the card to re-flash it.</a:t>
            </a:r>
            <a:endParaRPr lang="en-US" sz="1600" dirty="0"/>
          </a:p>
          <a:p>
            <a:pPr marL="177800" indent="-177800">
              <a:spcAft>
                <a:spcPts val="1200"/>
              </a:spcAft>
              <a:buSzPct val="100000"/>
              <a:buChar char="•"/>
            </a:pPr>
            <a:r>
              <a:rPr lang="en-US" sz="1600" dirty="0">
                <a:solidFill>
                  <a:srgbClr val="1E2A3A"/>
                </a:solidFill>
                <a:latin typeface="Arial" pitchFamily="34" charset="0"/>
                <a:ea typeface="Arial" pitchFamily="34" charset="-122"/>
                <a:cs typeface="Arial" pitchFamily="34" charset="-120"/>
              </a:rPr>
              <a:t>The card must detect the failure and recover on its own, within a fixed time.</a:t>
            </a:r>
            <a:endParaRPr lang="en-US" sz="1600" dirty="0"/>
          </a:p>
        </p:txBody>
      </p:sp>
      <p:sp>
        <p:nvSpPr>
          <p:cNvPr id="19" name="Shape 13"/>
          <p:cNvSpPr/>
          <p:nvPr/>
        </p:nvSpPr>
        <p:spPr>
          <a:xfrm>
            <a:off x="457200" y="5486400"/>
            <a:ext cx="11274552" cy="822960"/>
          </a:xfrm>
          <a:prstGeom prst="roundRect">
            <a:avLst>
              <a:gd name="adj" fmla="val 11111"/>
            </a:avLst>
          </a:prstGeom>
          <a:solidFill>
            <a:srgbClr val="17365D"/>
          </a:solidFill>
          <a:ln/>
        </p:spPr>
      </p:sp>
      <p:sp>
        <p:nvSpPr>
          <p:cNvPr id="20" name="Text 14"/>
          <p:cNvSpPr txBox="1"/>
          <p:nvPr/>
        </p:nvSpPr>
        <p:spPr>
          <a:xfrm>
            <a:off x="731520" y="5486400"/>
            <a:ext cx="10789920" cy="822960"/>
          </a:xfrm>
          <a:prstGeom prst="rect">
            <a:avLst/>
          </a:prstGeom>
          <a:noFill/>
          <a:ln/>
        </p:spPr>
        <p:txBody>
          <a:bodyPr wrap="square" lIns="0" tIns="0" rIns="0" bIns="0" rtlCol="0" anchor="ctr"/>
          <a:lstStyle/>
          <a:p>
            <a:pPr marL="0" indent="0">
              <a:buNone/>
            </a:pPr>
            <a:r>
              <a:rPr lang="en-US" sz="1500" b="1" dirty="0">
                <a:solidFill>
                  <a:srgbClr val="8FD8F8"/>
                </a:solidFill>
                <a:latin typeface="Arial" pitchFamily="34" charset="0"/>
                <a:ea typeface="Arial" pitchFamily="34" charset="-122"/>
                <a:cs typeface="Arial" pitchFamily="34" charset="-120"/>
              </a:rPr>
              <a:t>Safety rule (EN 50128 / EN 50129):  </a:t>
            </a:r>
            <a:r>
              <a:rPr lang="en-US" sz="1500" dirty="0">
                <a:solidFill>
                  <a:srgbClr val="FFFFFF"/>
                </a:solidFill>
                <a:latin typeface="Arial" pitchFamily="34" charset="0"/>
                <a:ea typeface="Arial" pitchFamily="34" charset="-122"/>
                <a:cs typeface="Arial" pitchFamily="34" charset="-120"/>
              </a:rPr>
              <a:t>check every update end to end. If anything fails, fall back to a safe state: the last validated image.</a:t>
            </a:r>
            <a:endParaRPr lang="en-US" sz="1500" dirty="0"/>
          </a:p>
        </p:txBody>
      </p:sp>
      <p:sp>
        <p:nvSpPr>
          <p:cNvPr id="25" name="Slide Number Placeholder 0"/>
          <p:cNvSpPr>
            <a:spLocks noGrp="1"/>
          </p:cNvSpPr>
          <p:nvPr>
            <p:ph type="sldNum" sz="quarter" idx="4294967295"/>
          </p:nvPr>
        </p:nvSpPr>
        <p:spPr>
          <a:xfrm>
            <a:off x="1138428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A"/>
                </a:solidFill>
                <a:latin typeface="Arial"/>
                <a:ea typeface="Arial"/>
                <a:cs typeface="Aria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6576"/>
            <a:ext cx="8686800" cy="420624"/>
          </a:xfrm>
          <a:prstGeom prst="rect">
            <a:avLst/>
          </a:prstGeom>
          <a:noFill/>
          <a:ln/>
        </p:spPr>
        <p:txBody>
          <a:bodyPr wrap="square" lIns="0" tIns="0" rIns="0" bIns="0" rtlCol="0" anchor="ctr"/>
          <a:lstStyle/>
          <a:p>
            <a:pPr marL="0" indent="0">
              <a:buNone/>
            </a:pPr>
            <a:r>
              <a:rPr lang="en-US" sz="2400" b="1" dirty="0">
                <a:solidFill>
                  <a:srgbClr val="1F5A9E"/>
                </a:solidFill>
                <a:latin typeface="Arial" pitchFamily="34" charset="0"/>
                <a:ea typeface="Arial" pitchFamily="34" charset="-122"/>
                <a:cs typeface="Arial" pitchFamily="34" charset="-120"/>
              </a:rPr>
              <a:t>System Architecture</a:t>
            </a:r>
            <a:endParaRPr lang="en-US" sz="2400" dirty="0"/>
          </a:p>
        </p:txBody>
      </p:sp>
      <p:sp>
        <p:nvSpPr>
          <p:cNvPr id="4" name="Shape 1"/>
          <p:cNvSpPr/>
          <p:nvPr/>
        </p:nvSpPr>
        <p:spPr>
          <a:xfrm>
            <a:off x="457200" y="2834640"/>
            <a:ext cx="1828800" cy="1280160"/>
          </a:xfrm>
          <a:prstGeom prst="roundRect">
            <a:avLst>
              <a:gd name="adj" fmla="val 5714"/>
            </a:avLst>
          </a:prstGeom>
          <a:solidFill>
            <a:srgbClr val="FFFFFF"/>
          </a:solidFill>
          <a:ln w="19050">
            <a:solidFill>
              <a:srgbClr val="17365D"/>
            </a:solidFill>
            <a:prstDash val="solid"/>
          </a:ln>
          <a:effectLst>
            <a:outerShdw blurRad="76200" dist="25400" dir="5400000" algn="bl" rotWithShape="0">
              <a:srgbClr val="7A8CA3">
                <a:alpha val="25000"/>
              </a:srgbClr>
            </a:outerShdw>
          </a:effectLst>
        </p:spPr>
      </p:sp>
      <p:pic>
        <p:nvPicPr>
          <p:cNvPr id="5" name="Image 0" descr="preencoded.png"/>
          <p:cNvPicPr>
            <a:picLocks noChangeAspect="1"/>
          </p:cNvPicPr>
          <p:nvPr/>
        </p:nvPicPr>
        <p:blipFill>
          <a:blip r:embed="rId3"/>
          <a:stretch>
            <a:fillRect/>
          </a:stretch>
        </p:blipFill>
        <p:spPr>
          <a:xfrm>
            <a:off x="1097280" y="2944368"/>
            <a:ext cx="548640" cy="548640"/>
          </a:xfrm>
          <a:prstGeom prst="rect">
            <a:avLst/>
          </a:prstGeom>
        </p:spPr>
      </p:pic>
      <p:sp>
        <p:nvSpPr>
          <p:cNvPr id="6" name="Text 2"/>
          <p:cNvSpPr txBox="1"/>
          <p:nvPr/>
        </p:nvSpPr>
        <p:spPr>
          <a:xfrm>
            <a:off x="548640" y="3520440"/>
            <a:ext cx="1645920" cy="502920"/>
          </a:xfrm>
          <a:prstGeom prst="rect">
            <a:avLst/>
          </a:prstGeom>
          <a:noFill/>
          <a:ln/>
        </p:spPr>
        <p:txBody>
          <a:bodyPr wrap="square" lIns="0" tIns="0" rIns="0" bIns="0" rtlCol="0" anchor="ctr"/>
          <a:lstStyle/>
          <a:p>
            <a:pPr marL="0" indent="0" algn="ctr">
              <a:buNone/>
            </a:pPr>
            <a:r>
              <a:rPr lang="en-US" sz="1300" b="1" dirty="0">
                <a:solidFill>
                  <a:srgbClr val="17365D"/>
                </a:solidFill>
                <a:latin typeface="Arial" pitchFamily="34" charset="0"/>
                <a:ea typeface="Arial" pitchFamily="34" charset="-122"/>
                <a:cs typeface="Arial" pitchFamily="34" charset="-120"/>
              </a:rPr>
              <a:t>Host Update Tool (PC)</a:t>
            </a:r>
            <a:endParaRPr lang="en-US" sz="1300" dirty="0"/>
          </a:p>
        </p:txBody>
      </p:sp>
      <p:sp>
        <p:nvSpPr>
          <p:cNvPr id="7" name="Shape 3"/>
          <p:cNvSpPr/>
          <p:nvPr/>
        </p:nvSpPr>
        <p:spPr>
          <a:xfrm>
            <a:off x="2331720" y="3474720"/>
            <a:ext cx="1097280" cy="0"/>
          </a:xfrm>
          <a:prstGeom prst="line">
            <a:avLst/>
          </a:prstGeom>
          <a:noFill/>
          <a:ln w="25400">
            <a:solidFill>
              <a:srgbClr val="C8102E"/>
            </a:solidFill>
            <a:prstDash val="solid"/>
            <a:tailEnd type="triangle"/>
          </a:ln>
        </p:spPr>
      </p:sp>
      <p:sp>
        <p:nvSpPr>
          <p:cNvPr id="8" name="Text 4"/>
          <p:cNvSpPr txBox="1"/>
          <p:nvPr/>
        </p:nvSpPr>
        <p:spPr>
          <a:xfrm>
            <a:off x="2286000" y="2852928"/>
            <a:ext cx="1188720" cy="548640"/>
          </a:xfrm>
          <a:prstGeom prst="rect">
            <a:avLst/>
          </a:prstGeom>
          <a:noFill/>
          <a:ln/>
        </p:spPr>
        <p:txBody>
          <a:bodyPr wrap="square" lIns="0" tIns="0" rIns="0" bIns="0" rtlCol="0" anchor="t"/>
          <a:lstStyle/>
          <a:p>
            <a:pPr marL="0" indent="0" algn="ctr">
              <a:buNone/>
            </a:pPr>
            <a:r>
              <a:rPr lang="en-US" sz="1150" b="1" dirty="0">
                <a:solidFill>
                  <a:srgbClr val="C8102E"/>
                </a:solidFill>
                <a:latin typeface="Arial" pitchFamily="34" charset="0"/>
                <a:ea typeface="Arial" pitchFamily="34" charset="-122"/>
                <a:cs typeface="Arial" pitchFamily="34" charset="-120"/>
              </a:rPr>
              <a:t>UDP / Ethernet</a:t>
            </a:r>
            <a:endParaRPr lang="en-US" sz="1150" dirty="0"/>
          </a:p>
          <a:p>
            <a:pPr marL="0" indent="0" algn="ctr">
              <a:buNone/>
            </a:pPr>
            <a:r>
              <a:rPr lang="en-US" sz="1150" dirty="0">
                <a:solidFill>
                  <a:srgbClr val="C8102E"/>
                </a:solidFill>
                <a:latin typeface="Arial" pitchFamily="34" charset="0"/>
                <a:ea typeface="Arial" pitchFamily="34" charset="-122"/>
                <a:cs typeface="Arial" pitchFamily="34" charset="-120"/>
              </a:rPr>
              <a:t>all images</a:t>
            </a:r>
            <a:endParaRPr lang="en-US" sz="1150" dirty="0"/>
          </a:p>
        </p:txBody>
      </p:sp>
      <p:sp>
        <p:nvSpPr>
          <p:cNvPr id="9" name="Shape 5"/>
          <p:cNvSpPr/>
          <p:nvPr/>
        </p:nvSpPr>
        <p:spPr>
          <a:xfrm>
            <a:off x="3474720" y="2148840"/>
            <a:ext cx="3200400" cy="2514600"/>
          </a:xfrm>
          <a:prstGeom prst="roundRect">
            <a:avLst>
              <a:gd name="adj" fmla="val 4364"/>
            </a:avLst>
          </a:prstGeom>
          <a:solidFill>
            <a:srgbClr val="17365D"/>
          </a:solidFill>
          <a:ln/>
          <a:effectLst>
            <a:outerShdw blurRad="76200" dist="25400" dir="5400000" algn="bl" rotWithShape="0">
              <a:srgbClr val="7A8CA3">
                <a:alpha val="25000"/>
              </a:srgbClr>
            </a:outerShdw>
          </a:effectLst>
        </p:spPr>
      </p:sp>
      <p:pic>
        <p:nvPicPr>
          <p:cNvPr id="10" name="Image 1" descr="preencoded.png"/>
          <p:cNvPicPr>
            <a:picLocks noChangeAspect="1"/>
          </p:cNvPicPr>
          <p:nvPr/>
        </p:nvPicPr>
        <p:blipFill>
          <a:blip r:embed="rId4"/>
          <a:stretch>
            <a:fillRect/>
          </a:stretch>
        </p:blipFill>
        <p:spPr>
          <a:xfrm>
            <a:off x="3657600" y="2304288"/>
            <a:ext cx="411480" cy="411480"/>
          </a:xfrm>
          <a:prstGeom prst="rect">
            <a:avLst/>
          </a:prstGeom>
        </p:spPr>
      </p:pic>
      <p:sp>
        <p:nvSpPr>
          <p:cNvPr id="11" name="Text 6"/>
          <p:cNvSpPr txBox="1"/>
          <p:nvPr/>
        </p:nvSpPr>
        <p:spPr>
          <a:xfrm>
            <a:off x="4160520" y="2286000"/>
            <a:ext cx="2468880" cy="45720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Master Controller (VCC)</a:t>
            </a:r>
            <a:endParaRPr lang="en-US" sz="1500" dirty="0"/>
          </a:p>
        </p:txBody>
      </p:sp>
      <p:sp>
        <p:nvSpPr>
          <p:cNvPr id="12" name="Text 7"/>
          <p:cNvSpPr txBox="1"/>
          <p:nvPr/>
        </p:nvSpPr>
        <p:spPr>
          <a:xfrm>
            <a:off x="3657600" y="2834640"/>
            <a:ext cx="2880360" cy="18745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DCEBFA"/>
                </a:solidFill>
                <a:latin typeface="Arial" pitchFamily="34" charset="0"/>
                <a:ea typeface="Arial" pitchFamily="34" charset="-122"/>
                <a:cs typeface="Arial" pitchFamily="34" charset="-120"/>
              </a:rPr>
              <a:t>Verifies every image</a:t>
            </a:r>
            <a:endParaRPr lang="en-US" sz="1250" dirty="0"/>
          </a:p>
          <a:p>
            <a:pPr marL="177800" indent="-177800">
              <a:spcAft>
                <a:spcPts val="600"/>
              </a:spcAft>
              <a:buSzPct val="100000"/>
              <a:buChar char="•"/>
            </a:pPr>
            <a:r>
              <a:rPr lang="en-US" sz="1250" dirty="0">
                <a:solidFill>
                  <a:srgbClr val="DCEBFA"/>
                </a:solidFill>
                <a:latin typeface="Arial" pitchFamily="34" charset="0"/>
                <a:ea typeface="Arial" pitchFamily="34" charset="-122"/>
                <a:cs typeface="Arial" pitchFamily="34" charset="-120"/>
              </a:rPr>
              <a:t>Routes by target id in META</a:t>
            </a:r>
            <a:endParaRPr lang="en-US" sz="1250" dirty="0"/>
          </a:p>
          <a:p>
            <a:pPr marL="177800" indent="-177800">
              <a:spcAft>
                <a:spcPts val="600"/>
              </a:spcAft>
              <a:buSzPct val="100000"/>
              <a:buChar char="•"/>
            </a:pPr>
            <a:r>
              <a:rPr lang="en-US" sz="1250" dirty="0">
                <a:solidFill>
                  <a:srgbClr val="DCEBFA"/>
                </a:solidFill>
                <a:latin typeface="Arial" pitchFamily="34" charset="0"/>
                <a:ea typeface="Arial" pitchFamily="34" charset="-122"/>
                <a:cs typeface="Arial" pitchFamily="34" charset="-120"/>
              </a:rPr>
              <a:t>Own image → flash locally</a:t>
            </a:r>
            <a:endParaRPr lang="en-US" sz="1250" dirty="0"/>
          </a:p>
          <a:p>
            <a:pPr marL="177800" indent="-177800">
              <a:spcAft>
                <a:spcPts val="600"/>
              </a:spcAft>
              <a:buSzPct val="100000"/>
              <a:buChar char="•"/>
            </a:pPr>
            <a:r>
              <a:rPr lang="en-US" sz="1250" dirty="0">
                <a:solidFill>
                  <a:srgbClr val="DCEBFA"/>
                </a:solidFill>
                <a:latin typeface="Arial" pitchFamily="34" charset="0"/>
                <a:ea typeface="Arial" pitchFamily="34" charset="-122"/>
                <a:cs typeface="Arial" pitchFamily="34" charset="-120"/>
              </a:rPr>
              <a:t>Other image → forward to card</a:t>
            </a:r>
            <a:endParaRPr lang="en-US" sz="1250" dirty="0"/>
          </a:p>
          <a:p>
            <a:pPr marL="177800" indent="-177800">
              <a:spcAft>
                <a:spcPts val="600"/>
              </a:spcAft>
              <a:buSzPct val="100000"/>
              <a:buChar char="•"/>
            </a:pPr>
            <a:r>
              <a:rPr lang="en-US" sz="1250" dirty="0">
                <a:solidFill>
                  <a:srgbClr val="DCEBFA"/>
                </a:solidFill>
                <a:latin typeface="Arial" pitchFamily="34" charset="0"/>
                <a:ea typeface="Arial" pitchFamily="34" charset="-122"/>
                <a:cs typeface="Arial" pitchFamily="34" charset="-120"/>
              </a:rPr>
              <a:t>Own dual-bank A/B flash</a:t>
            </a:r>
            <a:endParaRPr lang="en-US" sz="1250" dirty="0"/>
          </a:p>
        </p:txBody>
      </p:sp>
      <p:sp>
        <p:nvSpPr>
          <p:cNvPr id="13" name="Shape 8"/>
          <p:cNvSpPr/>
          <p:nvPr/>
        </p:nvSpPr>
        <p:spPr>
          <a:xfrm>
            <a:off x="6720840" y="3474720"/>
            <a:ext cx="914400" cy="0"/>
          </a:xfrm>
          <a:prstGeom prst="line">
            <a:avLst/>
          </a:prstGeom>
          <a:noFill/>
          <a:ln w="25400">
            <a:solidFill>
              <a:srgbClr val="1F6FB5"/>
            </a:solidFill>
            <a:prstDash val="solid"/>
            <a:tailEnd type="triangle"/>
          </a:ln>
        </p:spPr>
      </p:sp>
      <p:sp>
        <p:nvSpPr>
          <p:cNvPr id="14" name="Text 9"/>
          <p:cNvSpPr txBox="1"/>
          <p:nvPr/>
        </p:nvSpPr>
        <p:spPr>
          <a:xfrm>
            <a:off x="6675120" y="3154680"/>
            <a:ext cx="566928" cy="274320"/>
          </a:xfrm>
          <a:prstGeom prst="rect">
            <a:avLst/>
          </a:prstGeom>
          <a:noFill/>
          <a:ln/>
        </p:spPr>
        <p:txBody>
          <a:bodyPr wrap="square" lIns="0" tIns="0" rIns="0" bIns="0" rtlCol="0" anchor="t"/>
          <a:lstStyle/>
          <a:p>
            <a:pPr marL="0" indent="0" algn="ctr">
              <a:buNone/>
            </a:pPr>
            <a:r>
              <a:rPr lang="en-US" sz="1100" b="1" dirty="0">
                <a:solidFill>
                  <a:srgbClr val="1F6FB5"/>
                </a:solidFill>
                <a:latin typeface="Arial" pitchFamily="34" charset="0"/>
                <a:ea typeface="Arial" pitchFamily="34" charset="-122"/>
                <a:cs typeface="Arial" pitchFamily="34" charset="-120"/>
              </a:rPr>
              <a:t>CAN-FD</a:t>
            </a:r>
            <a:endParaRPr lang="en-US" sz="1100" dirty="0"/>
          </a:p>
        </p:txBody>
      </p:sp>
      <p:sp>
        <p:nvSpPr>
          <p:cNvPr id="15" name="Shape 10"/>
          <p:cNvSpPr/>
          <p:nvPr/>
        </p:nvSpPr>
        <p:spPr>
          <a:xfrm>
            <a:off x="7680960" y="1645920"/>
            <a:ext cx="0" cy="3657600"/>
          </a:xfrm>
          <a:prstGeom prst="line">
            <a:avLst/>
          </a:prstGeom>
          <a:noFill/>
          <a:ln w="31750">
            <a:solidFill>
              <a:srgbClr val="1F6FB5"/>
            </a:solidFill>
            <a:prstDash val="solid"/>
          </a:ln>
        </p:spPr>
      </p:sp>
      <p:sp>
        <p:nvSpPr>
          <p:cNvPr id="16" name="Shape 11"/>
          <p:cNvSpPr/>
          <p:nvPr/>
        </p:nvSpPr>
        <p:spPr>
          <a:xfrm>
            <a:off x="6720840" y="4343400"/>
            <a:ext cx="548640" cy="0"/>
          </a:xfrm>
          <a:prstGeom prst="line">
            <a:avLst/>
          </a:prstGeom>
          <a:noFill/>
          <a:ln w="19050">
            <a:solidFill>
              <a:srgbClr val="8A94AA"/>
            </a:solidFill>
            <a:prstDash val="dash"/>
          </a:ln>
        </p:spPr>
      </p:sp>
      <p:sp>
        <p:nvSpPr>
          <p:cNvPr id="17" name="Shape 12"/>
          <p:cNvSpPr/>
          <p:nvPr/>
        </p:nvSpPr>
        <p:spPr>
          <a:xfrm>
            <a:off x="7269480" y="2148840"/>
            <a:ext cx="0" cy="3108960"/>
          </a:xfrm>
          <a:prstGeom prst="line">
            <a:avLst/>
          </a:prstGeom>
          <a:noFill/>
          <a:ln w="19050">
            <a:solidFill>
              <a:srgbClr val="8A94AA"/>
            </a:solidFill>
            <a:prstDash val="dash"/>
          </a:ln>
        </p:spPr>
      </p:sp>
      <p:sp>
        <p:nvSpPr>
          <p:cNvPr id="18" name="Text 13"/>
          <p:cNvSpPr txBox="1"/>
          <p:nvPr/>
        </p:nvSpPr>
        <p:spPr>
          <a:xfrm>
            <a:off x="6675120" y="4434840"/>
            <a:ext cx="566928" cy="457200"/>
          </a:xfrm>
          <a:prstGeom prst="rect">
            <a:avLst/>
          </a:prstGeom>
          <a:noFill/>
          <a:ln/>
        </p:spPr>
        <p:txBody>
          <a:bodyPr wrap="square" lIns="0" tIns="0" rIns="0" bIns="0" rtlCol="0" anchor="t"/>
          <a:lstStyle/>
          <a:p>
            <a:pPr marL="0" indent="0" algn="ctr">
              <a:buNone/>
            </a:pPr>
            <a:r>
              <a:rPr lang="en-US" sz="950" i="1" dirty="0">
                <a:solidFill>
                  <a:srgbClr val="6B778A"/>
                </a:solidFill>
                <a:latin typeface="Arial" pitchFamily="34" charset="0"/>
                <a:ea typeface="Arial" pitchFamily="34" charset="-122"/>
                <a:cs typeface="Arial" pitchFamily="34" charset="-120"/>
              </a:rPr>
              <a:t>UART</a:t>
            </a:r>
            <a:endParaRPr lang="en-US" sz="950" dirty="0"/>
          </a:p>
          <a:p>
            <a:pPr marL="0" indent="0" algn="ctr">
              <a:buNone/>
            </a:pPr>
            <a:r>
              <a:rPr lang="en-US" sz="950" i="1" dirty="0">
                <a:solidFill>
                  <a:srgbClr val="6B778A"/>
                </a:solidFill>
                <a:latin typeface="Arial" pitchFamily="34" charset="0"/>
                <a:ea typeface="Arial" pitchFamily="34" charset="-122"/>
                <a:cs typeface="Arial" pitchFamily="34" charset="-120"/>
              </a:rPr>
              <a:t>(fallback)</a:t>
            </a:r>
            <a:endParaRPr lang="en-US" sz="950" dirty="0"/>
          </a:p>
        </p:txBody>
      </p:sp>
      <p:sp>
        <p:nvSpPr>
          <p:cNvPr id="19" name="Shape 14"/>
          <p:cNvSpPr/>
          <p:nvPr/>
        </p:nvSpPr>
        <p:spPr>
          <a:xfrm>
            <a:off x="8001000" y="868680"/>
            <a:ext cx="3749040" cy="5074920"/>
          </a:xfrm>
          <a:prstGeom prst="rect">
            <a:avLst/>
          </a:prstGeom>
          <a:solidFill>
            <a:srgbClr val="FFFFFF"/>
          </a:solidFill>
          <a:ln w="12700">
            <a:solidFill>
              <a:srgbClr val="8A94AA"/>
            </a:solidFill>
            <a:prstDash val="dash"/>
          </a:ln>
        </p:spPr>
      </p:sp>
      <p:sp>
        <p:nvSpPr>
          <p:cNvPr id="20" name="Text 15"/>
          <p:cNvSpPr txBox="1"/>
          <p:nvPr/>
        </p:nvSpPr>
        <p:spPr>
          <a:xfrm>
            <a:off x="8001000" y="914400"/>
            <a:ext cx="3749040" cy="274320"/>
          </a:xfrm>
          <a:prstGeom prst="rect">
            <a:avLst/>
          </a:prstGeom>
          <a:noFill/>
          <a:ln/>
        </p:spPr>
        <p:txBody>
          <a:bodyPr wrap="square" lIns="0" tIns="0" rIns="0" bIns="0" rtlCol="0" anchor="t"/>
          <a:lstStyle/>
          <a:p>
            <a:pPr marL="0" indent="0" algn="ctr">
              <a:buNone/>
            </a:pPr>
            <a:r>
              <a:rPr lang="en-US" sz="1100" i="1" dirty="0">
                <a:solidFill>
                  <a:srgbClr val="5B6B7F"/>
                </a:solidFill>
                <a:latin typeface="Arial" pitchFamily="34" charset="0"/>
                <a:ea typeface="Arial" pitchFamily="34" charset="-122"/>
                <a:cs typeface="Arial" pitchFamily="34" charset="-120"/>
              </a:rPr>
              <a:t>peripheral controllers</a:t>
            </a:r>
            <a:endParaRPr lang="en-US" sz="1100" dirty="0"/>
          </a:p>
        </p:txBody>
      </p:sp>
      <p:sp>
        <p:nvSpPr>
          <p:cNvPr id="21" name="Shape 16"/>
          <p:cNvSpPr/>
          <p:nvPr/>
        </p:nvSpPr>
        <p:spPr>
          <a:xfrm>
            <a:off x="7680960" y="1874520"/>
            <a:ext cx="502920" cy="0"/>
          </a:xfrm>
          <a:prstGeom prst="line">
            <a:avLst/>
          </a:prstGeom>
          <a:noFill/>
          <a:ln w="25400">
            <a:solidFill>
              <a:srgbClr val="1F6FB5"/>
            </a:solidFill>
            <a:prstDash val="solid"/>
            <a:tailEnd type="triangle"/>
          </a:ln>
        </p:spPr>
      </p:sp>
      <p:sp>
        <p:nvSpPr>
          <p:cNvPr id="22" name="Shape 17"/>
          <p:cNvSpPr/>
          <p:nvPr/>
        </p:nvSpPr>
        <p:spPr>
          <a:xfrm>
            <a:off x="7269480" y="2148840"/>
            <a:ext cx="914400" cy="0"/>
          </a:xfrm>
          <a:prstGeom prst="line">
            <a:avLst/>
          </a:prstGeom>
          <a:noFill/>
          <a:ln w="12700">
            <a:solidFill>
              <a:srgbClr val="8A94AA"/>
            </a:solidFill>
            <a:prstDash val="dash"/>
            <a:tailEnd type="triangle"/>
          </a:ln>
        </p:spPr>
      </p:sp>
      <p:sp>
        <p:nvSpPr>
          <p:cNvPr id="23" name="Shape 18"/>
          <p:cNvSpPr/>
          <p:nvPr/>
        </p:nvSpPr>
        <p:spPr>
          <a:xfrm>
            <a:off x="8229600" y="1280160"/>
            <a:ext cx="3291840" cy="1234440"/>
          </a:xfrm>
          <a:prstGeom prst="roundRect">
            <a:avLst>
              <a:gd name="adj" fmla="val 7407"/>
            </a:avLst>
          </a:prstGeom>
          <a:solidFill>
            <a:srgbClr val="E8F6FD"/>
          </a:solidFill>
          <a:ln w="15875">
            <a:solidFill>
              <a:srgbClr val="08A1D9"/>
            </a:solidFill>
            <a:prstDash val="solid"/>
          </a:ln>
        </p:spPr>
      </p:sp>
      <p:pic>
        <p:nvPicPr>
          <p:cNvPr id="24" name="Image 2" descr="preencoded.png"/>
          <p:cNvPicPr>
            <a:picLocks noChangeAspect="1"/>
          </p:cNvPicPr>
          <p:nvPr/>
        </p:nvPicPr>
        <p:blipFill>
          <a:blip r:embed="rId5"/>
          <a:stretch>
            <a:fillRect/>
          </a:stretch>
        </p:blipFill>
        <p:spPr>
          <a:xfrm>
            <a:off x="8412480" y="1463040"/>
            <a:ext cx="384048" cy="384048"/>
          </a:xfrm>
          <a:prstGeom prst="rect">
            <a:avLst/>
          </a:prstGeom>
        </p:spPr>
      </p:pic>
      <p:sp>
        <p:nvSpPr>
          <p:cNvPr id="25" name="Text 19"/>
          <p:cNvSpPr txBox="1"/>
          <p:nvPr/>
        </p:nvSpPr>
        <p:spPr>
          <a:xfrm>
            <a:off x="8915400" y="1435608"/>
            <a:ext cx="2468880" cy="411480"/>
          </a:xfrm>
          <a:prstGeom prst="rect">
            <a:avLst/>
          </a:prstGeom>
          <a:noFill/>
          <a:ln/>
        </p:spPr>
        <p:txBody>
          <a:bodyPr wrap="square" lIns="0" tIns="0" rIns="0" bIns="0" rtlCol="0" anchor="ctr"/>
          <a:lstStyle/>
          <a:p>
            <a:pPr marL="0" indent="0">
              <a:buNone/>
            </a:pPr>
            <a:r>
              <a:rPr lang="en-US" sz="1500" b="1" dirty="0">
                <a:solidFill>
                  <a:srgbClr val="17365D"/>
                </a:solidFill>
                <a:latin typeface="Arial" pitchFamily="34" charset="0"/>
                <a:ea typeface="Arial" pitchFamily="34" charset="-122"/>
                <a:cs typeface="Arial" pitchFamily="34" charset="-120"/>
              </a:rPr>
              <a:t>Input Card</a:t>
            </a:r>
            <a:endParaRPr lang="en-US" sz="1500" dirty="0"/>
          </a:p>
        </p:txBody>
      </p:sp>
      <p:sp>
        <p:nvSpPr>
          <p:cNvPr id="26" name="Text 20"/>
          <p:cNvSpPr txBox="1"/>
          <p:nvPr/>
        </p:nvSpPr>
        <p:spPr>
          <a:xfrm>
            <a:off x="8412480" y="1920240"/>
            <a:ext cx="3017520" cy="502920"/>
          </a:xfrm>
          <a:prstGeom prst="rect">
            <a:avLst/>
          </a:prstGeom>
          <a:noFill/>
          <a:ln/>
        </p:spPr>
        <p:txBody>
          <a:bodyPr wrap="square" lIns="0" tIns="0" rIns="0" bIns="0" rtlCol="0" anchor="t"/>
          <a:lstStyle/>
          <a:p>
            <a:pPr marL="0" indent="0">
              <a:buNone/>
            </a:pPr>
            <a:r>
              <a:rPr lang="en-US" sz="1150" dirty="0">
                <a:solidFill>
                  <a:srgbClr val="1E2A3A"/>
                </a:solidFill>
                <a:latin typeface="Arial" pitchFamily="34" charset="0"/>
                <a:ea typeface="Arial" pitchFamily="34" charset="-122"/>
                <a:cs typeface="Arial" pitchFamily="34" charset="-120"/>
              </a:rPr>
              <a:t>Verifies and flashes locally · own dual-bank A/B</a:t>
            </a:r>
            <a:endParaRPr lang="en-US" sz="1150" dirty="0"/>
          </a:p>
        </p:txBody>
      </p:sp>
      <p:sp>
        <p:nvSpPr>
          <p:cNvPr id="27" name="Shape 21"/>
          <p:cNvSpPr/>
          <p:nvPr/>
        </p:nvSpPr>
        <p:spPr>
          <a:xfrm>
            <a:off x="7680960" y="3429000"/>
            <a:ext cx="502920" cy="0"/>
          </a:xfrm>
          <a:prstGeom prst="line">
            <a:avLst/>
          </a:prstGeom>
          <a:noFill/>
          <a:ln w="25400">
            <a:solidFill>
              <a:srgbClr val="1F6FB5"/>
            </a:solidFill>
            <a:prstDash val="solid"/>
            <a:tailEnd type="triangle"/>
          </a:ln>
        </p:spPr>
      </p:sp>
      <p:sp>
        <p:nvSpPr>
          <p:cNvPr id="28" name="Shape 22"/>
          <p:cNvSpPr/>
          <p:nvPr/>
        </p:nvSpPr>
        <p:spPr>
          <a:xfrm>
            <a:off x="7269480" y="3703320"/>
            <a:ext cx="914400" cy="0"/>
          </a:xfrm>
          <a:prstGeom prst="line">
            <a:avLst/>
          </a:prstGeom>
          <a:noFill/>
          <a:ln w="12700">
            <a:solidFill>
              <a:srgbClr val="8A94AA"/>
            </a:solidFill>
            <a:prstDash val="dash"/>
            <a:tailEnd type="triangle"/>
          </a:ln>
        </p:spPr>
      </p:sp>
      <p:sp>
        <p:nvSpPr>
          <p:cNvPr id="29" name="Shape 23"/>
          <p:cNvSpPr/>
          <p:nvPr/>
        </p:nvSpPr>
        <p:spPr>
          <a:xfrm>
            <a:off x="8229600" y="2834640"/>
            <a:ext cx="3291840" cy="1234440"/>
          </a:xfrm>
          <a:prstGeom prst="roundRect">
            <a:avLst>
              <a:gd name="adj" fmla="val 7407"/>
            </a:avLst>
          </a:prstGeom>
          <a:solidFill>
            <a:srgbClr val="E8F6FD"/>
          </a:solidFill>
          <a:ln w="15875">
            <a:solidFill>
              <a:srgbClr val="08A1D9"/>
            </a:solidFill>
            <a:prstDash val="solid"/>
          </a:ln>
        </p:spPr>
      </p:sp>
      <p:pic>
        <p:nvPicPr>
          <p:cNvPr id="30" name="Image 3" descr="preencoded.png"/>
          <p:cNvPicPr>
            <a:picLocks noChangeAspect="1"/>
          </p:cNvPicPr>
          <p:nvPr/>
        </p:nvPicPr>
        <p:blipFill>
          <a:blip r:embed="rId5"/>
          <a:stretch>
            <a:fillRect/>
          </a:stretch>
        </p:blipFill>
        <p:spPr>
          <a:xfrm>
            <a:off x="8412480" y="3017520"/>
            <a:ext cx="384048" cy="384048"/>
          </a:xfrm>
          <a:prstGeom prst="rect">
            <a:avLst/>
          </a:prstGeom>
        </p:spPr>
      </p:pic>
      <p:sp>
        <p:nvSpPr>
          <p:cNvPr id="31" name="Text 24"/>
          <p:cNvSpPr txBox="1"/>
          <p:nvPr/>
        </p:nvSpPr>
        <p:spPr>
          <a:xfrm>
            <a:off x="8915400" y="2990088"/>
            <a:ext cx="2468880" cy="411480"/>
          </a:xfrm>
          <a:prstGeom prst="rect">
            <a:avLst/>
          </a:prstGeom>
          <a:noFill/>
          <a:ln/>
        </p:spPr>
        <p:txBody>
          <a:bodyPr wrap="square" lIns="0" tIns="0" rIns="0" bIns="0" rtlCol="0" anchor="ctr"/>
          <a:lstStyle/>
          <a:p>
            <a:pPr marL="0" indent="0">
              <a:buNone/>
            </a:pPr>
            <a:r>
              <a:rPr lang="en-US" sz="1500" b="1" dirty="0">
                <a:solidFill>
                  <a:srgbClr val="17365D"/>
                </a:solidFill>
                <a:latin typeface="Arial" pitchFamily="34" charset="0"/>
                <a:ea typeface="Arial" pitchFamily="34" charset="-122"/>
                <a:cs typeface="Arial" pitchFamily="34" charset="-120"/>
              </a:rPr>
              <a:t>Output Card</a:t>
            </a:r>
            <a:endParaRPr lang="en-US" sz="1500" dirty="0"/>
          </a:p>
        </p:txBody>
      </p:sp>
      <p:sp>
        <p:nvSpPr>
          <p:cNvPr id="32" name="Text 25"/>
          <p:cNvSpPr txBox="1"/>
          <p:nvPr/>
        </p:nvSpPr>
        <p:spPr>
          <a:xfrm>
            <a:off x="8412480" y="3474720"/>
            <a:ext cx="3017520" cy="502920"/>
          </a:xfrm>
          <a:prstGeom prst="rect">
            <a:avLst/>
          </a:prstGeom>
          <a:noFill/>
          <a:ln/>
        </p:spPr>
        <p:txBody>
          <a:bodyPr wrap="square" lIns="0" tIns="0" rIns="0" bIns="0" rtlCol="0" anchor="t"/>
          <a:lstStyle/>
          <a:p>
            <a:pPr marL="0" indent="0">
              <a:buNone/>
            </a:pPr>
            <a:r>
              <a:rPr lang="en-US" sz="1150" dirty="0">
                <a:solidFill>
                  <a:srgbClr val="1E2A3A"/>
                </a:solidFill>
                <a:latin typeface="Arial" pitchFamily="34" charset="0"/>
                <a:ea typeface="Arial" pitchFamily="34" charset="-122"/>
                <a:cs typeface="Arial" pitchFamily="34" charset="-120"/>
              </a:rPr>
              <a:t>Verifies and flashes locally · own dual-bank A/B</a:t>
            </a:r>
            <a:endParaRPr lang="en-US" sz="1150" dirty="0"/>
          </a:p>
        </p:txBody>
      </p:sp>
      <p:sp>
        <p:nvSpPr>
          <p:cNvPr id="33" name="Shape 26"/>
          <p:cNvSpPr/>
          <p:nvPr/>
        </p:nvSpPr>
        <p:spPr>
          <a:xfrm>
            <a:off x="7680960" y="4983480"/>
            <a:ext cx="502920" cy="0"/>
          </a:xfrm>
          <a:prstGeom prst="line">
            <a:avLst/>
          </a:prstGeom>
          <a:noFill/>
          <a:ln w="25400">
            <a:solidFill>
              <a:srgbClr val="1F6FB5"/>
            </a:solidFill>
            <a:prstDash val="solid"/>
            <a:tailEnd type="triangle"/>
          </a:ln>
        </p:spPr>
      </p:sp>
      <p:sp>
        <p:nvSpPr>
          <p:cNvPr id="34" name="Shape 27"/>
          <p:cNvSpPr/>
          <p:nvPr/>
        </p:nvSpPr>
        <p:spPr>
          <a:xfrm>
            <a:off x="7269480" y="5257800"/>
            <a:ext cx="914400" cy="0"/>
          </a:xfrm>
          <a:prstGeom prst="line">
            <a:avLst/>
          </a:prstGeom>
          <a:noFill/>
          <a:ln w="12700">
            <a:solidFill>
              <a:srgbClr val="8A94AA"/>
            </a:solidFill>
            <a:prstDash val="dash"/>
            <a:tailEnd type="triangle"/>
          </a:ln>
        </p:spPr>
      </p:sp>
      <p:sp>
        <p:nvSpPr>
          <p:cNvPr id="35" name="Shape 28"/>
          <p:cNvSpPr/>
          <p:nvPr/>
        </p:nvSpPr>
        <p:spPr>
          <a:xfrm>
            <a:off x="8229600" y="4389120"/>
            <a:ext cx="3291840" cy="1234440"/>
          </a:xfrm>
          <a:prstGeom prst="roundRect">
            <a:avLst>
              <a:gd name="adj" fmla="val 7407"/>
            </a:avLst>
          </a:prstGeom>
          <a:solidFill>
            <a:srgbClr val="E8F6FD"/>
          </a:solidFill>
          <a:ln w="15875">
            <a:solidFill>
              <a:srgbClr val="08A1D9"/>
            </a:solidFill>
            <a:prstDash val="solid"/>
          </a:ln>
        </p:spPr>
      </p:sp>
      <p:pic>
        <p:nvPicPr>
          <p:cNvPr id="36" name="Image 4" descr="preencoded.png"/>
          <p:cNvPicPr>
            <a:picLocks noChangeAspect="1"/>
          </p:cNvPicPr>
          <p:nvPr/>
        </p:nvPicPr>
        <p:blipFill>
          <a:blip r:embed="rId5"/>
          <a:stretch>
            <a:fillRect/>
          </a:stretch>
        </p:blipFill>
        <p:spPr>
          <a:xfrm>
            <a:off x="8412480" y="4572000"/>
            <a:ext cx="384048" cy="384048"/>
          </a:xfrm>
          <a:prstGeom prst="rect">
            <a:avLst/>
          </a:prstGeom>
        </p:spPr>
      </p:pic>
      <p:sp>
        <p:nvSpPr>
          <p:cNvPr id="37" name="Text 29"/>
          <p:cNvSpPr txBox="1"/>
          <p:nvPr/>
        </p:nvSpPr>
        <p:spPr>
          <a:xfrm>
            <a:off x="8915400" y="4544568"/>
            <a:ext cx="2468880" cy="411480"/>
          </a:xfrm>
          <a:prstGeom prst="rect">
            <a:avLst/>
          </a:prstGeom>
          <a:noFill/>
          <a:ln/>
        </p:spPr>
        <p:txBody>
          <a:bodyPr wrap="square" lIns="0" tIns="0" rIns="0" bIns="0" rtlCol="0" anchor="ctr"/>
          <a:lstStyle/>
          <a:p>
            <a:pPr marL="0" indent="0">
              <a:buNone/>
            </a:pPr>
            <a:r>
              <a:rPr lang="en-US" sz="1500" b="1" dirty="0">
                <a:solidFill>
                  <a:srgbClr val="17365D"/>
                </a:solidFill>
                <a:latin typeface="Arial" pitchFamily="34" charset="0"/>
                <a:ea typeface="Arial" pitchFamily="34" charset="-122"/>
                <a:cs typeface="Arial" pitchFamily="34" charset="-120"/>
              </a:rPr>
              <a:t>Analog Card</a:t>
            </a:r>
            <a:endParaRPr lang="en-US" sz="1500" dirty="0"/>
          </a:p>
        </p:txBody>
      </p:sp>
      <p:sp>
        <p:nvSpPr>
          <p:cNvPr id="38" name="Text 30"/>
          <p:cNvSpPr txBox="1"/>
          <p:nvPr/>
        </p:nvSpPr>
        <p:spPr>
          <a:xfrm>
            <a:off x="8412480" y="5029200"/>
            <a:ext cx="3017520" cy="502920"/>
          </a:xfrm>
          <a:prstGeom prst="rect">
            <a:avLst/>
          </a:prstGeom>
          <a:noFill/>
          <a:ln/>
        </p:spPr>
        <p:txBody>
          <a:bodyPr wrap="square" lIns="0" tIns="0" rIns="0" bIns="0" rtlCol="0" anchor="t"/>
          <a:lstStyle/>
          <a:p>
            <a:pPr marL="0" indent="0">
              <a:buNone/>
            </a:pPr>
            <a:r>
              <a:rPr lang="en-US" sz="1150" dirty="0">
                <a:solidFill>
                  <a:srgbClr val="1E2A3A"/>
                </a:solidFill>
                <a:latin typeface="Arial" pitchFamily="34" charset="0"/>
                <a:ea typeface="Arial" pitchFamily="34" charset="-122"/>
                <a:cs typeface="Arial" pitchFamily="34" charset="-120"/>
              </a:rPr>
              <a:t>Verifies and flashes locally · own dual-bank A/B</a:t>
            </a:r>
            <a:endParaRPr lang="en-US" sz="1150" dirty="0"/>
          </a:p>
        </p:txBody>
      </p:sp>
      <p:sp>
        <p:nvSpPr>
          <p:cNvPr id="39" name="Shape 31"/>
          <p:cNvSpPr/>
          <p:nvPr/>
        </p:nvSpPr>
        <p:spPr>
          <a:xfrm>
            <a:off x="457200" y="5349240"/>
            <a:ext cx="7269480" cy="914400"/>
          </a:xfrm>
          <a:prstGeom prst="roundRect">
            <a:avLst>
              <a:gd name="adj" fmla="val 10000"/>
            </a:avLst>
          </a:prstGeom>
          <a:solidFill>
            <a:srgbClr val="C9EDFB"/>
          </a:solidFill>
          <a:ln/>
        </p:spPr>
      </p:sp>
      <p:sp>
        <p:nvSpPr>
          <p:cNvPr id="40" name="Text 32"/>
          <p:cNvSpPr txBox="1"/>
          <p:nvPr/>
        </p:nvSpPr>
        <p:spPr>
          <a:xfrm>
            <a:off x="685800" y="5349240"/>
            <a:ext cx="6858000" cy="914400"/>
          </a:xfrm>
          <a:prstGeom prst="rect">
            <a:avLst/>
          </a:prstGeom>
          <a:noFill/>
          <a:ln/>
        </p:spPr>
        <p:txBody>
          <a:bodyPr wrap="square" lIns="0" tIns="0" rIns="0" bIns="0" rtlCol="0" anchor="ctr"/>
          <a:lstStyle/>
          <a:p>
            <a:pPr marL="0" indent="0">
              <a:buNone/>
            </a:pPr>
            <a:r>
              <a:rPr lang="en-US" sz="1400" b="1" dirty="0">
                <a:solidFill>
                  <a:srgbClr val="17365D"/>
                </a:solidFill>
                <a:latin typeface="Arial" pitchFamily="34" charset="0"/>
                <a:ea typeface="Arial" pitchFamily="34" charset="-122"/>
                <a:cs typeface="Arial" pitchFamily="34" charset="-120"/>
              </a:rPr>
              <a:t>Every node, master included, runs the same poll-and-repair protocol and commits to its own flash. </a:t>
            </a:r>
            <a:r>
              <a:rPr lang="en-US" sz="1400" dirty="0">
                <a:solidFill>
                  <a:srgbClr val="1E2A3A"/>
                </a:solidFill>
                <a:latin typeface="Arial" pitchFamily="34" charset="0"/>
                <a:ea typeface="Arial" pitchFamily="34" charset="-122"/>
                <a:cs typeface="Arial" pitchFamily="34" charset="-120"/>
              </a:rPr>
              <a:t>Only the framing changes from link to link.</a:t>
            </a:r>
            <a:endParaRPr lang="en-US" sz="1400" dirty="0"/>
          </a:p>
        </p:txBody>
      </p:sp>
      <p:sp>
        <p:nvSpPr>
          <p:cNvPr id="3" name="Slide Number Placeholder 0"/>
          <p:cNvSpPr>
            <a:spLocks noGrp="1"/>
          </p:cNvSpPr>
          <p:nvPr>
            <p:ph type="sldNum" sz="quarter" idx="4294967295"/>
          </p:nvPr>
        </p:nvSpPr>
        <p:spPr>
          <a:xfrm>
            <a:off x="1138428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A"/>
                </a:solidFill>
                <a:latin typeface="Arial"/>
                <a:ea typeface="Arial"/>
                <a:cs typeface="Aria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6576"/>
            <a:ext cx="8686800" cy="420624"/>
          </a:xfrm>
          <a:prstGeom prst="rect">
            <a:avLst/>
          </a:prstGeom>
          <a:noFill/>
          <a:ln/>
        </p:spPr>
        <p:txBody>
          <a:bodyPr wrap="square" lIns="0" tIns="0" rIns="0" bIns="0" rtlCol="0" anchor="ctr"/>
          <a:lstStyle/>
          <a:p>
            <a:pPr marL="0" indent="0">
              <a:buNone/>
            </a:pPr>
            <a:r>
              <a:rPr lang="en-US" sz="2400" b="1" dirty="0">
                <a:solidFill>
                  <a:srgbClr val="1F5A9E"/>
                </a:solidFill>
                <a:latin typeface="Arial" pitchFamily="34" charset="0"/>
                <a:ea typeface="Arial" pitchFamily="34" charset="-122"/>
                <a:cs typeface="Arial" pitchFamily="34" charset="-120"/>
              </a:rPr>
              <a:t>How an Image Travels</a:t>
            </a:r>
            <a:endParaRPr lang="en-US" sz="2400" dirty="0"/>
          </a:p>
        </p:txBody>
      </p:sp>
      <p:sp>
        <p:nvSpPr>
          <p:cNvPr id="4" name="Shape 1"/>
          <p:cNvSpPr/>
          <p:nvPr/>
        </p:nvSpPr>
        <p:spPr>
          <a:xfrm>
            <a:off x="457200" y="960120"/>
            <a:ext cx="2057400" cy="2468880"/>
          </a:xfrm>
          <a:prstGeom prst="roundRect">
            <a:avLst>
              <a:gd name="adj" fmla="val 4444"/>
            </a:avLst>
          </a:prstGeom>
          <a:solidFill>
            <a:srgbClr val="E8F6FD"/>
          </a:solidFill>
          <a:ln/>
        </p:spPr>
      </p:sp>
      <p:sp>
        <p:nvSpPr>
          <p:cNvPr id="5" name="Shape 2"/>
          <p:cNvSpPr/>
          <p:nvPr/>
        </p:nvSpPr>
        <p:spPr>
          <a:xfrm>
            <a:off x="1211580" y="1097280"/>
            <a:ext cx="548640" cy="548640"/>
          </a:xfrm>
          <a:prstGeom prst="ellipse">
            <a:avLst/>
          </a:prstGeom>
          <a:solidFill>
            <a:srgbClr val="08A1D9"/>
          </a:solidFill>
          <a:ln/>
        </p:spPr>
      </p:sp>
      <p:sp>
        <p:nvSpPr>
          <p:cNvPr id="6" name="Text 3"/>
          <p:cNvSpPr txBox="1"/>
          <p:nvPr/>
        </p:nvSpPr>
        <p:spPr>
          <a:xfrm>
            <a:off x="1211580" y="10972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4"/>
          <p:cNvSpPr txBox="1"/>
          <p:nvPr/>
        </p:nvSpPr>
        <p:spPr>
          <a:xfrm>
            <a:off x="548640" y="1737360"/>
            <a:ext cx="1874520" cy="365760"/>
          </a:xfrm>
          <a:prstGeom prst="rect">
            <a:avLst/>
          </a:prstGeom>
          <a:noFill/>
          <a:ln/>
        </p:spPr>
        <p:txBody>
          <a:bodyPr wrap="square" lIns="0" tIns="0" rIns="0" bIns="0" rtlCol="0" anchor="t"/>
          <a:lstStyle/>
          <a:p>
            <a:pPr marL="0" indent="0" algn="ctr">
              <a:buNone/>
            </a:pPr>
            <a:r>
              <a:rPr lang="en-US" sz="1700" b="1" dirty="0">
                <a:solidFill>
                  <a:srgbClr val="17365D"/>
                </a:solidFill>
                <a:latin typeface="Arial" pitchFamily="34" charset="0"/>
                <a:ea typeface="Arial" pitchFamily="34" charset="-122"/>
                <a:cs typeface="Arial" pitchFamily="34" charset="-120"/>
              </a:rPr>
              <a:t>Announce</a:t>
            </a:r>
            <a:endParaRPr lang="en-US" sz="1700" dirty="0"/>
          </a:p>
        </p:txBody>
      </p:sp>
      <p:sp>
        <p:nvSpPr>
          <p:cNvPr id="8" name="Text 5"/>
          <p:cNvSpPr txBox="1"/>
          <p:nvPr/>
        </p:nvSpPr>
        <p:spPr>
          <a:xfrm>
            <a:off x="594360" y="2148840"/>
            <a:ext cx="1783080" cy="1188720"/>
          </a:xfrm>
          <a:prstGeom prst="rect">
            <a:avLst/>
          </a:prstGeom>
          <a:noFill/>
          <a:ln/>
        </p:spPr>
        <p:txBody>
          <a:bodyPr wrap="square" lIns="0" tIns="0" rIns="0" bIns="0" rtlCol="0" anchor="t"/>
          <a:lstStyle/>
          <a:p>
            <a:pPr marL="0" indent="0" algn="ctr">
              <a:buNone/>
            </a:pPr>
            <a:r>
              <a:rPr lang="en-US" sz="1300" dirty="0">
                <a:solidFill>
                  <a:srgbClr val="1E2A3A"/>
                </a:solidFill>
                <a:latin typeface="Arial" pitchFamily="34" charset="0"/>
                <a:ea typeface="Arial" pitchFamily="34" charset="-122"/>
                <a:cs typeface="Arial" pitchFamily="34" charset="-120"/>
              </a:rPr>
              <a:t>Host sends META: target id, size, CRC-32 and signature.</a:t>
            </a:r>
            <a:endParaRPr lang="en-US" sz="1300" dirty="0"/>
          </a:p>
        </p:txBody>
      </p:sp>
      <p:sp>
        <p:nvSpPr>
          <p:cNvPr id="9" name="Shape 6"/>
          <p:cNvSpPr/>
          <p:nvPr/>
        </p:nvSpPr>
        <p:spPr>
          <a:xfrm>
            <a:off x="2532888" y="1371600"/>
            <a:ext cx="210312" cy="0"/>
          </a:xfrm>
          <a:prstGeom prst="line">
            <a:avLst/>
          </a:prstGeom>
          <a:noFill/>
          <a:ln w="25400">
            <a:solidFill>
              <a:srgbClr val="17365D"/>
            </a:solidFill>
            <a:prstDash val="solid"/>
            <a:tailEnd type="triangle"/>
          </a:ln>
        </p:spPr>
      </p:sp>
      <p:sp>
        <p:nvSpPr>
          <p:cNvPr id="10" name="Shape 7"/>
          <p:cNvSpPr/>
          <p:nvPr/>
        </p:nvSpPr>
        <p:spPr>
          <a:xfrm>
            <a:off x="2761488" y="960120"/>
            <a:ext cx="2057400" cy="2468880"/>
          </a:xfrm>
          <a:prstGeom prst="roundRect">
            <a:avLst>
              <a:gd name="adj" fmla="val 4444"/>
            </a:avLst>
          </a:prstGeom>
          <a:solidFill>
            <a:srgbClr val="E8F6FD"/>
          </a:solidFill>
          <a:ln/>
        </p:spPr>
      </p:sp>
      <p:sp>
        <p:nvSpPr>
          <p:cNvPr id="11" name="Shape 8"/>
          <p:cNvSpPr/>
          <p:nvPr/>
        </p:nvSpPr>
        <p:spPr>
          <a:xfrm>
            <a:off x="3515868" y="1097280"/>
            <a:ext cx="548640" cy="548640"/>
          </a:xfrm>
          <a:prstGeom prst="ellipse">
            <a:avLst/>
          </a:prstGeom>
          <a:solidFill>
            <a:srgbClr val="08A1D9"/>
          </a:solidFill>
          <a:ln/>
        </p:spPr>
      </p:sp>
      <p:sp>
        <p:nvSpPr>
          <p:cNvPr id="12" name="Text 9"/>
          <p:cNvSpPr txBox="1"/>
          <p:nvPr/>
        </p:nvSpPr>
        <p:spPr>
          <a:xfrm>
            <a:off x="3515868" y="10972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3" name="Text 10"/>
          <p:cNvSpPr txBox="1"/>
          <p:nvPr/>
        </p:nvSpPr>
        <p:spPr>
          <a:xfrm>
            <a:off x="2852928" y="1737360"/>
            <a:ext cx="1874520" cy="365760"/>
          </a:xfrm>
          <a:prstGeom prst="rect">
            <a:avLst/>
          </a:prstGeom>
          <a:noFill/>
          <a:ln/>
        </p:spPr>
        <p:txBody>
          <a:bodyPr wrap="square" lIns="0" tIns="0" rIns="0" bIns="0" rtlCol="0" anchor="t"/>
          <a:lstStyle/>
          <a:p>
            <a:pPr marL="0" indent="0" algn="ctr">
              <a:buNone/>
            </a:pPr>
            <a:r>
              <a:rPr lang="en-US" sz="1700" b="1" dirty="0">
                <a:solidFill>
                  <a:srgbClr val="17365D"/>
                </a:solidFill>
                <a:latin typeface="Arial" pitchFamily="34" charset="0"/>
                <a:ea typeface="Arial" pitchFamily="34" charset="-122"/>
                <a:cs typeface="Arial" pitchFamily="34" charset="-120"/>
              </a:rPr>
              <a:t>Stream</a:t>
            </a:r>
            <a:endParaRPr lang="en-US" sz="1700" dirty="0"/>
          </a:p>
        </p:txBody>
      </p:sp>
      <p:sp>
        <p:nvSpPr>
          <p:cNvPr id="14" name="Text 11"/>
          <p:cNvSpPr txBox="1"/>
          <p:nvPr/>
        </p:nvSpPr>
        <p:spPr>
          <a:xfrm>
            <a:off x="2898648" y="2148840"/>
            <a:ext cx="1783080" cy="1188720"/>
          </a:xfrm>
          <a:prstGeom prst="rect">
            <a:avLst/>
          </a:prstGeom>
          <a:noFill/>
          <a:ln/>
        </p:spPr>
        <p:txBody>
          <a:bodyPr wrap="square" lIns="0" tIns="0" rIns="0" bIns="0" rtlCol="0" anchor="t"/>
          <a:lstStyle/>
          <a:p>
            <a:pPr marL="0" indent="0" algn="ctr">
              <a:buNone/>
            </a:pPr>
            <a:r>
              <a:rPr lang="en-US" sz="1300" dirty="0">
                <a:solidFill>
                  <a:srgbClr val="1E2A3A"/>
                </a:solidFill>
                <a:latin typeface="Arial" pitchFamily="34" charset="0"/>
                <a:ea typeface="Arial" pitchFamily="34" charset="-122"/>
                <a:cs typeface="Arial" pitchFamily="34" charset="-120"/>
              </a:rPr>
              <a:t>Host sends DATA blocks. Master checks each block's CRC-32.</a:t>
            </a:r>
            <a:endParaRPr lang="en-US" sz="1300" dirty="0"/>
          </a:p>
        </p:txBody>
      </p:sp>
      <p:sp>
        <p:nvSpPr>
          <p:cNvPr id="15" name="Shape 12"/>
          <p:cNvSpPr/>
          <p:nvPr/>
        </p:nvSpPr>
        <p:spPr>
          <a:xfrm>
            <a:off x="4837176" y="1371600"/>
            <a:ext cx="210312" cy="0"/>
          </a:xfrm>
          <a:prstGeom prst="line">
            <a:avLst/>
          </a:prstGeom>
          <a:noFill/>
          <a:ln w="25400">
            <a:solidFill>
              <a:srgbClr val="17365D"/>
            </a:solidFill>
            <a:prstDash val="solid"/>
            <a:tailEnd type="triangle"/>
          </a:ln>
        </p:spPr>
      </p:sp>
      <p:sp>
        <p:nvSpPr>
          <p:cNvPr id="16" name="Shape 13"/>
          <p:cNvSpPr/>
          <p:nvPr/>
        </p:nvSpPr>
        <p:spPr>
          <a:xfrm>
            <a:off x="5065776" y="960120"/>
            <a:ext cx="2057400" cy="2468880"/>
          </a:xfrm>
          <a:prstGeom prst="roundRect">
            <a:avLst>
              <a:gd name="adj" fmla="val 4444"/>
            </a:avLst>
          </a:prstGeom>
          <a:solidFill>
            <a:srgbClr val="E8F6FD"/>
          </a:solidFill>
          <a:ln/>
        </p:spPr>
      </p:sp>
      <p:sp>
        <p:nvSpPr>
          <p:cNvPr id="17" name="Shape 14"/>
          <p:cNvSpPr/>
          <p:nvPr/>
        </p:nvSpPr>
        <p:spPr>
          <a:xfrm>
            <a:off x="5820156" y="1097280"/>
            <a:ext cx="548640" cy="548640"/>
          </a:xfrm>
          <a:prstGeom prst="ellipse">
            <a:avLst/>
          </a:prstGeom>
          <a:solidFill>
            <a:srgbClr val="08A1D9"/>
          </a:solidFill>
          <a:ln/>
        </p:spPr>
      </p:sp>
      <p:sp>
        <p:nvSpPr>
          <p:cNvPr id="18" name="Text 15"/>
          <p:cNvSpPr txBox="1"/>
          <p:nvPr/>
        </p:nvSpPr>
        <p:spPr>
          <a:xfrm>
            <a:off x="5820156" y="10972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9" name="Text 16"/>
          <p:cNvSpPr txBox="1"/>
          <p:nvPr/>
        </p:nvSpPr>
        <p:spPr>
          <a:xfrm>
            <a:off x="5157216" y="1737360"/>
            <a:ext cx="1874520" cy="365760"/>
          </a:xfrm>
          <a:prstGeom prst="rect">
            <a:avLst/>
          </a:prstGeom>
          <a:noFill/>
          <a:ln/>
        </p:spPr>
        <p:txBody>
          <a:bodyPr wrap="square" lIns="0" tIns="0" rIns="0" bIns="0" rtlCol="0" anchor="t"/>
          <a:lstStyle/>
          <a:p>
            <a:pPr marL="0" indent="0" algn="ctr">
              <a:buNone/>
            </a:pPr>
            <a:r>
              <a:rPr lang="en-US" sz="1700" b="1" dirty="0">
                <a:solidFill>
                  <a:srgbClr val="17365D"/>
                </a:solidFill>
                <a:latin typeface="Arial" pitchFamily="34" charset="0"/>
                <a:ea typeface="Arial" pitchFamily="34" charset="-122"/>
                <a:cs typeface="Arial" pitchFamily="34" charset="-120"/>
              </a:rPr>
              <a:t>Verify</a:t>
            </a:r>
            <a:endParaRPr lang="en-US" sz="1700" dirty="0"/>
          </a:p>
        </p:txBody>
      </p:sp>
      <p:sp>
        <p:nvSpPr>
          <p:cNvPr id="20" name="Text 17"/>
          <p:cNvSpPr txBox="1"/>
          <p:nvPr/>
        </p:nvSpPr>
        <p:spPr>
          <a:xfrm>
            <a:off x="5202936" y="2148840"/>
            <a:ext cx="1783080" cy="1188720"/>
          </a:xfrm>
          <a:prstGeom prst="rect">
            <a:avLst/>
          </a:prstGeom>
          <a:noFill/>
          <a:ln/>
        </p:spPr>
        <p:txBody>
          <a:bodyPr wrap="square" lIns="0" tIns="0" rIns="0" bIns="0" rtlCol="0" anchor="t"/>
          <a:lstStyle/>
          <a:p>
            <a:pPr marL="0" indent="0" algn="ctr">
              <a:buNone/>
            </a:pPr>
            <a:r>
              <a:rPr lang="en-US" sz="1300" dirty="0">
                <a:solidFill>
                  <a:srgbClr val="1E2A3A"/>
                </a:solidFill>
                <a:latin typeface="Arial" pitchFamily="34" charset="0"/>
                <a:ea typeface="Arial" pitchFamily="34" charset="-122"/>
                <a:cs typeface="Arial" pitchFamily="34" charset="-120"/>
              </a:rPr>
              <a:t>Master checks the whole-image CRC-32, SHA-256 and signature.</a:t>
            </a:r>
            <a:endParaRPr lang="en-US" sz="1300" dirty="0"/>
          </a:p>
        </p:txBody>
      </p:sp>
      <p:sp>
        <p:nvSpPr>
          <p:cNvPr id="21" name="Shape 18"/>
          <p:cNvSpPr/>
          <p:nvPr/>
        </p:nvSpPr>
        <p:spPr>
          <a:xfrm>
            <a:off x="7141464" y="1371600"/>
            <a:ext cx="210312" cy="0"/>
          </a:xfrm>
          <a:prstGeom prst="line">
            <a:avLst/>
          </a:prstGeom>
          <a:noFill/>
          <a:ln w="25400">
            <a:solidFill>
              <a:srgbClr val="17365D"/>
            </a:solidFill>
            <a:prstDash val="solid"/>
            <a:tailEnd type="triangle"/>
          </a:ln>
        </p:spPr>
      </p:sp>
      <p:sp>
        <p:nvSpPr>
          <p:cNvPr id="22" name="Shape 19"/>
          <p:cNvSpPr/>
          <p:nvPr/>
        </p:nvSpPr>
        <p:spPr>
          <a:xfrm>
            <a:off x="7370064" y="960120"/>
            <a:ext cx="2057400" cy="2468880"/>
          </a:xfrm>
          <a:prstGeom prst="roundRect">
            <a:avLst>
              <a:gd name="adj" fmla="val 4444"/>
            </a:avLst>
          </a:prstGeom>
          <a:solidFill>
            <a:srgbClr val="E8F6FD"/>
          </a:solidFill>
          <a:ln/>
        </p:spPr>
      </p:sp>
      <p:sp>
        <p:nvSpPr>
          <p:cNvPr id="23" name="Shape 20"/>
          <p:cNvSpPr/>
          <p:nvPr/>
        </p:nvSpPr>
        <p:spPr>
          <a:xfrm>
            <a:off x="8124444" y="1097280"/>
            <a:ext cx="548640" cy="548640"/>
          </a:xfrm>
          <a:prstGeom prst="ellipse">
            <a:avLst/>
          </a:prstGeom>
          <a:solidFill>
            <a:srgbClr val="08A1D9"/>
          </a:solidFill>
          <a:ln/>
        </p:spPr>
      </p:sp>
      <p:sp>
        <p:nvSpPr>
          <p:cNvPr id="24" name="Text 21"/>
          <p:cNvSpPr txBox="1"/>
          <p:nvPr/>
        </p:nvSpPr>
        <p:spPr>
          <a:xfrm>
            <a:off x="8124444" y="10972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5" name="Text 22"/>
          <p:cNvSpPr txBox="1"/>
          <p:nvPr/>
        </p:nvSpPr>
        <p:spPr>
          <a:xfrm>
            <a:off x="7461504" y="1737360"/>
            <a:ext cx="1874520" cy="365760"/>
          </a:xfrm>
          <a:prstGeom prst="rect">
            <a:avLst/>
          </a:prstGeom>
          <a:noFill/>
          <a:ln/>
        </p:spPr>
        <p:txBody>
          <a:bodyPr wrap="square" lIns="0" tIns="0" rIns="0" bIns="0" rtlCol="0" anchor="t"/>
          <a:lstStyle/>
          <a:p>
            <a:pPr marL="0" indent="0" algn="ctr">
              <a:buNone/>
            </a:pPr>
            <a:r>
              <a:rPr lang="en-US" sz="1700" b="1" dirty="0">
                <a:solidFill>
                  <a:srgbClr val="17365D"/>
                </a:solidFill>
                <a:latin typeface="Arial" pitchFamily="34" charset="0"/>
                <a:ea typeface="Arial" pitchFamily="34" charset="-122"/>
                <a:cs typeface="Arial" pitchFamily="34" charset="-120"/>
              </a:rPr>
              <a:t>Route</a:t>
            </a:r>
            <a:endParaRPr lang="en-US" sz="1700" dirty="0"/>
          </a:p>
        </p:txBody>
      </p:sp>
      <p:sp>
        <p:nvSpPr>
          <p:cNvPr id="26" name="Text 23"/>
          <p:cNvSpPr txBox="1"/>
          <p:nvPr/>
        </p:nvSpPr>
        <p:spPr>
          <a:xfrm>
            <a:off x="7507224" y="2148840"/>
            <a:ext cx="1783080" cy="1188720"/>
          </a:xfrm>
          <a:prstGeom prst="rect">
            <a:avLst/>
          </a:prstGeom>
          <a:noFill/>
          <a:ln/>
        </p:spPr>
        <p:txBody>
          <a:bodyPr wrap="square" lIns="0" tIns="0" rIns="0" bIns="0" rtlCol="0" anchor="t"/>
          <a:lstStyle/>
          <a:p>
            <a:pPr marL="0" indent="0" algn="ctr">
              <a:buNone/>
            </a:pPr>
            <a:r>
              <a:rPr lang="en-US" sz="1300" dirty="0">
                <a:solidFill>
                  <a:srgbClr val="1E2A3A"/>
                </a:solidFill>
                <a:latin typeface="Arial" pitchFamily="34" charset="0"/>
                <a:ea typeface="Arial" pitchFamily="34" charset="-122"/>
                <a:cs typeface="Arial" pitchFamily="34" charset="-120"/>
              </a:rPr>
              <a:t>Master reads the target id. Its own image stays. Others go to their card over CAN-FD or UART.</a:t>
            </a:r>
            <a:endParaRPr lang="en-US" sz="1300" dirty="0"/>
          </a:p>
        </p:txBody>
      </p:sp>
      <p:sp>
        <p:nvSpPr>
          <p:cNvPr id="27" name="Shape 24"/>
          <p:cNvSpPr/>
          <p:nvPr/>
        </p:nvSpPr>
        <p:spPr>
          <a:xfrm>
            <a:off x="9445752" y="1371600"/>
            <a:ext cx="210312" cy="0"/>
          </a:xfrm>
          <a:prstGeom prst="line">
            <a:avLst/>
          </a:prstGeom>
          <a:noFill/>
          <a:ln w="25400">
            <a:solidFill>
              <a:srgbClr val="17365D"/>
            </a:solidFill>
            <a:prstDash val="solid"/>
            <a:tailEnd type="triangle"/>
          </a:ln>
        </p:spPr>
      </p:sp>
      <p:sp>
        <p:nvSpPr>
          <p:cNvPr id="28" name="Shape 25"/>
          <p:cNvSpPr/>
          <p:nvPr/>
        </p:nvSpPr>
        <p:spPr>
          <a:xfrm>
            <a:off x="9674352" y="960120"/>
            <a:ext cx="2057400" cy="2468880"/>
          </a:xfrm>
          <a:prstGeom prst="roundRect">
            <a:avLst>
              <a:gd name="adj" fmla="val 4444"/>
            </a:avLst>
          </a:prstGeom>
          <a:solidFill>
            <a:srgbClr val="E8F6FD"/>
          </a:solidFill>
          <a:ln/>
        </p:spPr>
      </p:sp>
      <p:sp>
        <p:nvSpPr>
          <p:cNvPr id="29" name="Shape 26"/>
          <p:cNvSpPr/>
          <p:nvPr/>
        </p:nvSpPr>
        <p:spPr>
          <a:xfrm>
            <a:off x="10428732" y="1097280"/>
            <a:ext cx="548640" cy="548640"/>
          </a:xfrm>
          <a:prstGeom prst="ellipse">
            <a:avLst/>
          </a:prstGeom>
          <a:solidFill>
            <a:srgbClr val="1E8E5A"/>
          </a:solidFill>
          <a:ln/>
        </p:spPr>
      </p:sp>
      <p:sp>
        <p:nvSpPr>
          <p:cNvPr id="30" name="Text 27"/>
          <p:cNvSpPr txBox="1"/>
          <p:nvPr/>
        </p:nvSpPr>
        <p:spPr>
          <a:xfrm>
            <a:off x="10428732" y="10972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1" name="Text 28"/>
          <p:cNvSpPr txBox="1"/>
          <p:nvPr/>
        </p:nvSpPr>
        <p:spPr>
          <a:xfrm>
            <a:off x="9765792" y="1737360"/>
            <a:ext cx="1874520" cy="365760"/>
          </a:xfrm>
          <a:prstGeom prst="rect">
            <a:avLst/>
          </a:prstGeom>
          <a:noFill/>
          <a:ln/>
        </p:spPr>
        <p:txBody>
          <a:bodyPr wrap="square" lIns="0" tIns="0" rIns="0" bIns="0" rtlCol="0" anchor="t"/>
          <a:lstStyle/>
          <a:p>
            <a:pPr marL="0" indent="0" algn="ctr">
              <a:buNone/>
            </a:pPr>
            <a:r>
              <a:rPr lang="en-US" sz="1700" b="1" dirty="0">
                <a:solidFill>
                  <a:srgbClr val="17365D"/>
                </a:solidFill>
                <a:latin typeface="Arial" pitchFamily="34" charset="0"/>
                <a:ea typeface="Arial" pitchFamily="34" charset="-122"/>
                <a:cs typeface="Arial" pitchFamily="34" charset="-120"/>
              </a:rPr>
              <a:t>Commit</a:t>
            </a:r>
            <a:endParaRPr lang="en-US" sz="1700" dirty="0"/>
          </a:p>
        </p:txBody>
      </p:sp>
      <p:sp>
        <p:nvSpPr>
          <p:cNvPr id="32" name="Text 29"/>
          <p:cNvSpPr txBox="1"/>
          <p:nvPr/>
        </p:nvSpPr>
        <p:spPr>
          <a:xfrm>
            <a:off x="9811512" y="2148840"/>
            <a:ext cx="1783080" cy="1188720"/>
          </a:xfrm>
          <a:prstGeom prst="rect">
            <a:avLst/>
          </a:prstGeom>
          <a:noFill/>
          <a:ln/>
        </p:spPr>
        <p:txBody>
          <a:bodyPr wrap="square" lIns="0" tIns="0" rIns="0" bIns="0" rtlCol="0" anchor="t"/>
          <a:lstStyle/>
          <a:p>
            <a:pPr algn="ctr"/>
            <a:r>
              <a:rPr lang="en-US" sz="1300" dirty="0">
                <a:solidFill>
                  <a:srgbClr val="1E2A3A"/>
                </a:solidFill>
                <a:latin typeface="Arial"/>
                <a:ea typeface="Arial" pitchFamily="34" charset="-122"/>
                <a:cs typeface="Arial"/>
              </a:rPr>
              <a:t>Target copies it to its spare flash bank, then boots the image.</a:t>
            </a:r>
            <a:endParaRPr lang="en-US" sz="1300" dirty="0">
              <a:latin typeface="Arial"/>
              <a:ea typeface="Calibri"/>
              <a:cs typeface="Calibri"/>
            </a:endParaRPr>
          </a:p>
        </p:txBody>
      </p:sp>
      <p:sp>
        <p:nvSpPr>
          <p:cNvPr id="33" name="Shape 30"/>
          <p:cNvSpPr/>
          <p:nvPr/>
        </p:nvSpPr>
        <p:spPr>
          <a:xfrm>
            <a:off x="457200" y="3657600"/>
            <a:ext cx="11274552" cy="384048"/>
          </a:xfrm>
          <a:prstGeom prst="roundRect">
            <a:avLst>
              <a:gd name="adj" fmla="val 14286"/>
            </a:avLst>
          </a:prstGeom>
          <a:solidFill>
            <a:srgbClr val="1F6FB5"/>
          </a:solidFill>
          <a:ln/>
        </p:spPr>
      </p:sp>
      <p:sp>
        <p:nvSpPr>
          <p:cNvPr id="34" name="Text 31"/>
          <p:cNvSpPr txBox="1"/>
          <p:nvPr/>
        </p:nvSpPr>
        <p:spPr>
          <a:xfrm>
            <a:off x="548640" y="3657600"/>
            <a:ext cx="11091672"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Update-pending boot window: stopping a race</a:t>
            </a:r>
            <a:endParaRPr lang="en-US" sz="1500" dirty="0"/>
          </a:p>
        </p:txBody>
      </p:sp>
      <p:sp>
        <p:nvSpPr>
          <p:cNvPr id="35" name="Shape 32"/>
          <p:cNvSpPr/>
          <p:nvPr/>
        </p:nvSpPr>
        <p:spPr>
          <a:xfrm>
            <a:off x="457200" y="4096512"/>
            <a:ext cx="11274552" cy="2212848"/>
          </a:xfrm>
          <a:prstGeom prst="roundRect">
            <a:avLst>
              <a:gd name="adj" fmla="val 4132"/>
            </a:avLst>
          </a:prstGeom>
          <a:solidFill>
            <a:srgbClr val="E8F6FD"/>
          </a:solidFill>
          <a:ln/>
        </p:spPr>
      </p:sp>
      <p:sp>
        <p:nvSpPr>
          <p:cNvPr id="36" name="Text 33"/>
          <p:cNvSpPr txBox="1"/>
          <p:nvPr/>
        </p:nvSpPr>
        <p:spPr>
          <a:xfrm>
            <a:off x="731520" y="4343400"/>
            <a:ext cx="1097280" cy="365760"/>
          </a:xfrm>
          <a:prstGeom prst="rect">
            <a:avLst/>
          </a:prstGeom>
          <a:noFill/>
          <a:ln/>
        </p:spPr>
        <p:txBody>
          <a:bodyPr wrap="square" lIns="0" tIns="0" rIns="0" bIns="0" rtlCol="0" anchor="ctr"/>
          <a:lstStyle/>
          <a:p>
            <a:pPr marL="0" indent="0">
              <a:buNone/>
            </a:pPr>
            <a:r>
              <a:rPr lang="en-US" sz="1300" b="1" dirty="0">
                <a:solidFill>
                  <a:srgbClr val="17365D"/>
                </a:solidFill>
                <a:latin typeface="Arial" pitchFamily="34" charset="0"/>
                <a:ea typeface="Arial" pitchFamily="34" charset="-122"/>
                <a:cs typeface="Arial" pitchFamily="34" charset="-120"/>
              </a:rPr>
              <a:t>Normal</a:t>
            </a:r>
            <a:endParaRPr lang="en-US" sz="1300" dirty="0"/>
          </a:p>
        </p:txBody>
      </p:sp>
      <p:sp>
        <p:nvSpPr>
          <p:cNvPr id="37" name="Shape 34"/>
          <p:cNvSpPr/>
          <p:nvPr/>
        </p:nvSpPr>
        <p:spPr>
          <a:xfrm>
            <a:off x="1828800" y="4389120"/>
            <a:ext cx="822960" cy="292608"/>
          </a:xfrm>
          <a:prstGeom prst="rect">
            <a:avLst/>
          </a:prstGeom>
          <a:solidFill>
            <a:srgbClr val="B8C2CE"/>
          </a:solidFill>
          <a:ln/>
        </p:spPr>
      </p:sp>
      <p:sp>
        <p:nvSpPr>
          <p:cNvPr id="38" name="Text 35"/>
          <p:cNvSpPr txBox="1"/>
          <p:nvPr/>
        </p:nvSpPr>
        <p:spPr>
          <a:xfrm>
            <a:off x="1828800" y="4389120"/>
            <a:ext cx="822960" cy="292608"/>
          </a:xfrm>
          <a:prstGeom prst="rect">
            <a:avLst/>
          </a:prstGeom>
          <a:noFill/>
          <a:ln/>
        </p:spPr>
        <p:txBody>
          <a:bodyPr wrap="square" lIns="0" tIns="0" rIns="0" bIns="0" rtlCol="0" anchor="ctr"/>
          <a:lstStyle/>
          <a:p>
            <a:pPr marL="0" indent="0" algn="ctr">
              <a:buNone/>
            </a:pPr>
            <a:r>
              <a:rPr lang="en-US" sz="1100" b="1" dirty="0">
                <a:solidFill>
                  <a:srgbClr val="1E2A3A"/>
                </a:solidFill>
                <a:latin typeface="Arial" pitchFamily="34" charset="0"/>
                <a:ea typeface="Arial" pitchFamily="34" charset="-122"/>
                <a:cs typeface="Arial" pitchFamily="34" charset="-120"/>
              </a:rPr>
              <a:t>5 s idle</a:t>
            </a:r>
            <a:endParaRPr lang="en-US" sz="1100" dirty="0"/>
          </a:p>
        </p:txBody>
      </p:sp>
      <p:sp>
        <p:nvSpPr>
          <p:cNvPr id="39" name="Shape 36"/>
          <p:cNvSpPr/>
          <p:nvPr/>
        </p:nvSpPr>
        <p:spPr>
          <a:xfrm>
            <a:off x="2697480" y="4535424"/>
            <a:ext cx="365760" cy="0"/>
          </a:xfrm>
          <a:prstGeom prst="line">
            <a:avLst/>
          </a:prstGeom>
          <a:noFill/>
          <a:ln w="25400">
            <a:solidFill>
              <a:srgbClr val="5B6B7F"/>
            </a:solidFill>
            <a:prstDash val="solid"/>
            <a:tailEnd type="triangle"/>
          </a:ln>
        </p:spPr>
      </p:sp>
      <p:sp>
        <p:nvSpPr>
          <p:cNvPr id="40" name="Text 37"/>
          <p:cNvSpPr txBox="1"/>
          <p:nvPr/>
        </p:nvSpPr>
        <p:spPr>
          <a:xfrm>
            <a:off x="3108960" y="4389120"/>
            <a:ext cx="1371600" cy="292608"/>
          </a:xfrm>
          <a:prstGeom prst="rect">
            <a:avLst/>
          </a:prstGeom>
          <a:noFill/>
          <a:ln/>
        </p:spPr>
        <p:txBody>
          <a:bodyPr wrap="square" lIns="0" tIns="0" rIns="0" bIns="0" rtlCol="0" anchor="ctr"/>
          <a:lstStyle/>
          <a:p>
            <a:pPr marL="0" indent="0">
              <a:buNone/>
            </a:pPr>
            <a:r>
              <a:rPr lang="en-US" sz="1200" dirty="0">
                <a:solidFill>
                  <a:srgbClr val="5B6B7F"/>
                </a:solidFill>
                <a:latin typeface="Arial" pitchFamily="34" charset="0"/>
                <a:ea typeface="Arial" pitchFamily="34" charset="-122"/>
                <a:cs typeface="Arial" pitchFamily="34" charset="-120"/>
              </a:rPr>
              <a:t>boots the app</a:t>
            </a:r>
            <a:endParaRPr lang="en-US" sz="1200" dirty="0"/>
          </a:p>
        </p:txBody>
      </p:sp>
      <p:sp>
        <p:nvSpPr>
          <p:cNvPr id="41" name="Text 38"/>
          <p:cNvSpPr txBox="1"/>
          <p:nvPr/>
        </p:nvSpPr>
        <p:spPr>
          <a:xfrm>
            <a:off x="731520" y="4892040"/>
            <a:ext cx="1097280" cy="365760"/>
          </a:xfrm>
          <a:prstGeom prst="rect">
            <a:avLst/>
          </a:prstGeom>
          <a:noFill/>
          <a:ln/>
        </p:spPr>
        <p:txBody>
          <a:bodyPr wrap="square" lIns="0" tIns="0" rIns="0" bIns="0" rtlCol="0" anchor="ctr"/>
          <a:lstStyle/>
          <a:p>
            <a:pPr marL="0" indent="0">
              <a:buNone/>
            </a:pPr>
            <a:r>
              <a:rPr lang="en-US" sz="1300" b="1" dirty="0">
                <a:solidFill>
                  <a:srgbClr val="17365D"/>
                </a:solidFill>
                <a:latin typeface="Arial" pitchFamily="34" charset="0"/>
                <a:ea typeface="Arial" pitchFamily="34" charset="-122"/>
                <a:cs typeface="Arial" pitchFamily="34" charset="-120"/>
              </a:rPr>
              <a:t>Announced</a:t>
            </a:r>
            <a:endParaRPr lang="en-US" sz="1300" dirty="0"/>
          </a:p>
        </p:txBody>
      </p:sp>
      <p:sp>
        <p:nvSpPr>
          <p:cNvPr id="42" name="Shape 39"/>
          <p:cNvSpPr/>
          <p:nvPr/>
        </p:nvSpPr>
        <p:spPr>
          <a:xfrm>
            <a:off x="1828800" y="4937760"/>
            <a:ext cx="4206240" cy="292608"/>
          </a:xfrm>
          <a:prstGeom prst="rect">
            <a:avLst/>
          </a:prstGeom>
          <a:solidFill>
            <a:srgbClr val="08A1D9"/>
          </a:solidFill>
          <a:ln/>
        </p:spPr>
      </p:sp>
      <p:sp>
        <p:nvSpPr>
          <p:cNvPr id="43" name="Text 40"/>
          <p:cNvSpPr txBox="1"/>
          <p:nvPr/>
        </p:nvSpPr>
        <p:spPr>
          <a:xfrm>
            <a:off x="1828800" y="4937760"/>
            <a:ext cx="420624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60 s pending window</a:t>
            </a:r>
            <a:endParaRPr lang="en-US" sz="1100" dirty="0"/>
          </a:p>
        </p:txBody>
      </p:sp>
      <p:sp>
        <p:nvSpPr>
          <p:cNvPr id="44" name="Shape 41"/>
          <p:cNvSpPr/>
          <p:nvPr/>
        </p:nvSpPr>
        <p:spPr>
          <a:xfrm>
            <a:off x="6080760" y="5084064"/>
            <a:ext cx="365760" cy="0"/>
          </a:xfrm>
          <a:prstGeom prst="line">
            <a:avLst/>
          </a:prstGeom>
          <a:noFill/>
          <a:ln w="25400">
            <a:solidFill>
              <a:srgbClr val="5B6B7F"/>
            </a:solidFill>
            <a:prstDash val="solid"/>
            <a:tailEnd type="triangle"/>
          </a:ln>
        </p:spPr>
      </p:sp>
      <p:sp>
        <p:nvSpPr>
          <p:cNvPr id="45" name="Text 42"/>
          <p:cNvSpPr txBox="1"/>
          <p:nvPr/>
        </p:nvSpPr>
        <p:spPr>
          <a:xfrm>
            <a:off x="6492240" y="4937760"/>
            <a:ext cx="1645920" cy="292608"/>
          </a:xfrm>
          <a:prstGeom prst="rect">
            <a:avLst/>
          </a:prstGeom>
          <a:noFill/>
          <a:ln/>
        </p:spPr>
        <p:txBody>
          <a:bodyPr wrap="square" lIns="0" tIns="0" rIns="0" bIns="0" rtlCol="0" anchor="ctr"/>
          <a:lstStyle/>
          <a:p>
            <a:pPr marL="0" indent="0">
              <a:buNone/>
            </a:pPr>
            <a:r>
              <a:rPr lang="en-US" sz="1200" dirty="0">
                <a:solidFill>
                  <a:srgbClr val="5B6B7F"/>
                </a:solidFill>
                <a:latin typeface="Arial" pitchFamily="34" charset="0"/>
                <a:ea typeface="Arial" pitchFamily="34" charset="-122"/>
                <a:cs typeface="Arial" pitchFamily="34" charset="-120"/>
              </a:rPr>
              <a:t>waits for the image</a:t>
            </a:r>
            <a:endParaRPr lang="en-US" sz="1200" dirty="0"/>
          </a:p>
        </p:txBody>
      </p:sp>
      <p:sp>
        <p:nvSpPr>
          <p:cNvPr id="46" name="Text 43"/>
          <p:cNvSpPr txBox="1"/>
          <p:nvPr/>
        </p:nvSpPr>
        <p:spPr>
          <a:xfrm>
            <a:off x="731520" y="5349240"/>
            <a:ext cx="10789920" cy="91440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E2A3A"/>
                </a:solidFill>
                <a:latin typeface="Arial" pitchFamily="34" charset="0"/>
                <a:ea typeface="Arial" pitchFamily="34" charset="-122"/>
                <a:cs typeface="Arial" pitchFamily="34" charset="-120"/>
              </a:rPr>
              <a:t>A peripheral boots its app after 5 s of silence. The master may still be busy with the image.</a:t>
            </a:r>
            <a:endParaRPr lang="en-US" sz="1250" dirty="0"/>
          </a:p>
          <a:p>
            <a:pPr marL="177800" indent="-177800">
              <a:spcAft>
                <a:spcPts val="600"/>
              </a:spcAft>
              <a:buSzPct val="100000"/>
              <a:buChar char="•"/>
            </a:pPr>
            <a:r>
              <a:rPr lang="en-US" sz="1250" dirty="0">
                <a:solidFill>
                  <a:srgbClr val="1E2A3A"/>
                </a:solidFill>
                <a:latin typeface="Arial" pitchFamily="34" charset="0"/>
                <a:ea typeface="Arial" pitchFamily="34" charset="-122"/>
                <a:cs typeface="Arial" pitchFamily="34" charset="-120"/>
              </a:rPr>
              <a:t>So the master announces "update incoming" as soon as it reads the target id, and repeats it.</a:t>
            </a:r>
            <a:endParaRPr lang="en-US" sz="1250" dirty="0"/>
          </a:p>
          <a:p>
            <a:pPr marL="177800" indent="-177800">
              <a:spcAft>
                <a:spcPts val="600"/>
              </a:spcAft>
              <a:buSzPct val="100000"/>
              <a:buChar char="•"/>
            </a:pPr>
            <a:r>
              <a:rPr lang="en-US" sz="1250" dirty="0">
                <a:solidFill>
                  <a:srgbClr val="1E2A3A"/>
                </a:solidFill>
                <a:latin typeface="Arial" pitchFamily="34" charset="0"/>
                <a:ea typeface="Arial" pitchFamily="34" charset="-122"/>
                <a:cs typeface="Arial" pitchFamily="34" charset="-120"/>
              </a:rPr>
              <a:t>The card widens its window to 60 s. The limit is fixed, so a bad announce can only delay boot.</a:t>
            </a:r>
            <a:endParaRPr lang="en-US" sz="1250" dirty="0"/>
          </a:p>
        </p:txBody>
      </p:sp>
      <p:sp>
        <p:nvSpPr>
          <p:cNvPr id="3" name="Slide Number Placeholder 0"/>
          <p:cNvSpPr>
            <a:spLocks noGrp="1"/>
          </p:cNvSpPr>
          <p:nvPr>
            <p:ph type="sldNum" sz="quarter" idx="4294967295"/>
          </p:nvPr>
        </p:nvSpPr>
        <p:spPr>
          <a:xfrm>
            <a:off x="1138428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A"/>
                </a:solidFill>
                <a:latin typeface="Arial"/>
                <a:ea typeface="Arial"/>
                <a:cs typeface="Aria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6576"/>
            <a:ext cx="8686800" cy="420624"/>
          </a:xfrm>
          <a:prstGeom prst="rect">
            <a:avLst/>
          </a:prstGeom>
          <a:noFill/>
          <a:ln/>
        </p:spPr>
        <p:txBody>
          <a:bodyPr wrap="square" lIns="0" tIns="0" rIns="0" bIns="0" rtlCol="0" anchor="ctr"/>
          <a:lstStyle/>
          <a:p>
            <a:pPr marL="0" indent="0">
              <a:buNone/>
            </a:pPr>
            <a:r>
              <a:rPr lang="en-US" sz="2400" b="1" dirty="0">
                <a:solidFill>
                  <a:srgbClr val="1F5A9E"/>
                </a:solidFill>
                <a:latin typeface="Arial" pitchFamily="34" charset="0"/>
                <a:ea typeface="Arial" pitchFamily="34" charset="-122"/>
                <a:cs typeface="Arial" pitchFamily="34" charset="-120"/>
              </a:rPr>
              <a:t>One Updater, Three Links</a:t>
            </a:r>
            <a:endParaRPr lang="en-US" sz="2400" dirty="0"/>
          </a:p>
        </p:txBody>
      </p:sp>
      <p:sp>
        <p:nvSpPr>
          <p:cNvPr id="4" name="Shape 1"/>
          <p:cNvSpPr/>
          <p:nvPr/>
        </p:nvSpPr>
        <p:spPr>
          <a:xfrm>
            <a:off x="457200" y="960120"/>
            <a:ext cx="7223760" cy="2194560"/>
          </a:xfrm>
          <a:prstGeom prst="roundRect">
            <a:avLst>
              <a:gd name="adj" fmla="val 5000"/>
            </a:avLst>
          </a:prstGeom>
          <a:solidFill>
            <a:srgbClr val="17365D"/>
          </a:solidFill>
          <a:ln/>
          <a:effectLst>
            <a:outerShdw blurRad="76200" dist="25400" dir="5400000" algn="bl" rotWithShape="0">
              <a:srgbClr val="7A8CA3">
                <a:alpha val="25000"/>
              </a:srgbClr>
            </a:outerShdw>
          </a:effectLst>
        </p:spPr>
      </p:sp>
      <p:pic>
        <p:nvPicPr>
          <p:cNvPr id="5" name="Image 0" descr="preencoded.png"/>
          <p:cNvPicPr>
            <a:picLocks noChangeAspect="1"/>
          </p:cNvPicPr>
          <p:nvPr/>
        </p:nvPicPr>
        <p:blipFill>
          <a:blip r:embed="rId3"/>
          <a:stretch>
            <a:fillRect/>
          </a:stretch>
        </p:blipFill>
        <p:spPr>
          <a:xfrm>
            <a:off x="685800" y="1097280"/>
            <a:ext cx="384048" cy="384048"/>
          </a:xfrm>
          <a:prstGeom prst="rect">
            <a:avLst/>
          </a:prstGeom>
        </p:spPr>
      </p:pic>
      <p:sp>
        <p:nvSpPr>
          <p:cNvPr id="6" name="Text 2"/>
          <p:cNvSpPr txBox="1"/>
          <p:nvPr/>
        </p:nvSpPr>
        <p:spPr>
          <a:xfrm>
            <a:off x="1188720" y="1078992"/>
            <a:ext cx="6217920" cy="420624"/>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Protocol-agnostic updater core</a:t>
            </a:r>
            <a:endParaRPr lang="en-US" sz="1800" dirty="0"/>
          </a:p>
        </p:txBody>
      </p:sp>
      <p:sp>
        <p:nvSpPr>
          <p:cNvPr id="7" name="Shape 3"/>
          <p:cNvSpPr/>
          <p:nvPr/>
        </p:nvSpPr>
        <p:spPr>
          <a:xfrm>
            <a:off x="685800" y="1691640"/>
            <a:ext cx="1572768" cy="1234440"/>
          </a:xfrm>
          <a:prstGeom prst="roundRect">
            <a:avLst>
              <a:gd name="adj" fmla="val 5926"/>
            </a:avLst>
          </a:prstGeom>
          <a:solidFill>
            <a:srgbClr val="2A4F80"/>
          </a:solidFill>
          <a:ln/>
        </p:spPr>
      </p:sp>
      <p:sp>
        <p:nvSpPr>
          <p:cNvPr id="8" name="Text 4"/>
          <p:cNvSpPr txBox="1"/>
          <p:nvPr/>
        </p:nvSpPr>
        <p:spPr>
          <a:xfrm>
            <a:off x="758952" y="1691640"/>
            <a:ext cx="1426464" cy="12344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Transfer state machine</a:t>
            </a:r>
            <a:endParaRPr lang="en-US" sz="1300" dirty="0"/>
          </a:p>
        </p:txBody>
      </p:sp>
      <p:sp>
        <p:nvSpPr>
          <p:cNvPr id="9" name="Shape 5"/>
          <p:cNvSpPr/>
          <p:nvPr/>
        </p:nvSpPr>
        <p:spPr>
          <a:xfrm>
            <a:off x="2404872" y="1691640"/>
            <a:ext cx="1572768" cy="1234440"/>
          </a:xfrm>
          <a:prstGeom prst="roundRect">
            <a:avLst>
              <a:gd name="adj" fmla="val 5926"/>
            </a:avLst>
          </a:prstGeom>
          <a:solidFill>
            <a:srgbClr val="2A4F80"/>
          </a:solidFill>
          <a:ln/>
        </p:spPr>
      </p:sp>
      <p:sp>
        <p:nvSpPr>
          <p:cNvPr id="10" name="Text 6"/>
          <p:cNvSpPr txBox="1"/>
          <p:nvPr/>
        </p:nvSpPr>
        <p:spPr>
          <a:xfrm>
            <a:off x="2478024" y="1691640"/>
            <a:ext cx="1426464" cy="12344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Coverage bitmap</a:t>
            </a:r>
            <a:endParaRPr lang="en-US" sz="1300" dirty="0"/>
          </a:p>
        </p:txBody>
      </p:sp>
      <p:sp>
        <p:nvSpPr>
          <p:cNvPr id="11" name="Shape 7"/>
          <p:cNvSpPr/>
          <p:nvPr/>
        </p:nvSpPr>
        <p:spPr>
          <a:xfrm>
            <a:off x="4123944" y="1691640"/>
            <a:ext cx="1572768" cy="1234440"/>
          </a:xfrm>
          <a:prstGeom prst="roundRect">
            <a:avLst>
              <a:gd name="adj" fmla="val 5926"/>
            </a:avLst>
          </a:prstGeom>
          <a:solidFill>
            <a:srgbClr val="2A4F80"/>
          </a:solidFill>
          <a:ln/>
        </p:spPr>
      </p:sp>
      <p:sp>
        <p:nvSpPr>
          <p:cNvPr id="12" name="Text 8"/>
          <p:cNvSpPr txBox="1"/>
          <p:nvPr/>
        </p:nvSpPr>
        <p:spPr>
          <a:xfrm>
            <a:off x="4197096" y="1691640"/>
            <a:ext cx="1426464" cy="12344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CRC-32 + signature check</a:t>
            </a:r>
            <a:endParaRPr lang="en-US" sz="1300" dirty="0"/>
          </a:p>
        </p:txBody>
      </p:sp>
      <p:sp>
        <p:nvSpPr>
          <p:cNvPr id="13" name="Shape 9"/>
          <p:cNvSpPr/>
          <p:nvPr/>
        </p:nvSpPr>
        <p:spPr>
          <a:xfrm>
            <a:off x="5843016" y="1691640"/>
            <a:ext cx="1572768" cy="1234440"/>
          </a:xfrm>
          <a:prstGeom prst="roundRect">
            <a:avLst>
              <a:gd name="adj" fmla="val 5926"/>
            </a:avLst>
          </a:prstGeom>
          <a:solidFill>
            <a:srgbClr val="2A4F80"/>
          </a:solidFill>
          <a:ln/>
        </p:spPr>
      </p:sp>
      <p:sp>
        <p:nvSpPr>
          <p:cNvPr id="14" name="Text 10"/>
          <p:cNvSpPr txBox="1"/>
          <p:nvPr/>
        </p:nvSpPr>
        <p:spPr>
          <a:xfrm>
            <a:off x="5916168" y="1691640"/>
            <a:ext cx="1426464" cy="12344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Dual-bank commit &amp; rollback</a:t>
            </a:r>
            <a:endParaRPr lang="en-US" sz="1300" dirty="0"/>
          </a:p>
        </p:txBody>
      </p:sp>
      <p:sp>
        <p:nvSpPr>
          <p:cNvPr id="15" name="Shape 11"/>
          <p:cNvSpPr/>
          <p:nvPr/>
        </p:nvSpPr>
        <p:spPr>
          <a:xfrm>
            <a:off x="457200" y="3291840"/>
            <a:ext cx="7223760" cy="685800"/>
          </a:xfrm>
          <a:prstGeom prst="roundRect">
            <a:avLst>
              <a:gd name="adj" fmla="val 13333"/>
            </a:avLst>
          </a:prstGeom>
          <a:solidFill>
            <a:srgbClr val="C9EDFB"/>
          </a:solidFill>
          <a:ln/>
        </p:spPr>
      </p:sp>
      <p:sp>
        <p:nvSpPr>
          <p:cNvPr id="16" name="Text 12"/>
          <p:cNvSpPr txBox="1"/>
          <p:nvPr/>
        </p:nvSpPr>
        <p:spPr>
          <a:xfrm>
            <a:off x="685800" y="3291840"/>
            <a:ext cx="6766560" cy="685800"/>
          </a:xfrm>
          <a:prstGeom prst="rect">
            <a:avLst/>
          </a:prstGeom>
          <a:noFill/>
          <a:ln/>
        </p:spPr>
        <p:txBody>
          <a:bodyPr wrap="square" lIns="0" tIns="0" rIns="0" bIns="0" rtlCol="0" anchor="ctr"/>
          <a:lstStyle/>
          <a:p>
            <a:pPr marL="0" indent="0" algn="ctr">
              <a:buNone/>
            </a:pPr>
            <a:r>
              <a:rPr lang="en-US" sz="1600" b="1" dirty="0">
                <a:solidFill>
                  <a:srgbClr val="17365D"/>
                </a:solidFill>
                <a:latin typeface="Arial" pitchFamily="34" charset="0"/>
                <a:ea typeface="Arial" pitchFamily="34" charset="-122"/>
                <a:cs typeface="Arial" pitchFamily="34" charset="-120"/>
              </a:rPr>
              <a:t>Common messages:  </a:t>
            </a:r>
            <a:r>
              <a:rPr lang="en-US" sz="1600" dirty="0">
                <a:solidFill>
                  <a:srgbClr val="1E2A3A"/>
                </a:solidFill>
                <a:latin typeface="Arial" pitchFamily="34" charset="0"/>
                <a:ea typeface="Arial" pitchFamily="34" charset="-122"/>
                <a:cs typeface="Arial" pitchFamily="34" charset="-120"/>
              </a:rPr>
              <a:t>META  ·  DATA  ·  POLL  ·  STATUS</a:t>
            </a:r>
            <a:endParaRPr lang="en-US" sz="1600" dirty="0"/>
          </a:p>
        </p:txBody>
      </p:sp>
      <p:sp>
        <p:nvSpPr>
          <p:cNvPr id="17" name="Shape 13"/>
          <p:cNvSpPr/>
          <p:nvPr/>
        </p:nvSpPr>
        <p:spPr>
          <a:xfrm>
            <a:off x="457200" y="4114800"/>
            <a:ext cx="2286000" cy="1417320"/>
          </a:xfrm>
          <a:prstGeom prst="roundRect">
            <a:avLst>
              <a:gd name="adj" fmla="val 6452"/>
            </a:avLst>
          </a:prstGeom>
          <a:solidFill>
            <a:srgbClr val="C8102E"/>
          </a:solidFill>
          <a:ln/>
        </p:spPr>
      </p:sp>
      <p:pic>
        <p:nvPicPr>
          <p:cNvPr id="18" name="Image 1" descr="preencoded.png"/>
          <p:cNvPicPr>
            <a:picLocks noChangeAspect="1"/>
          </p:cNvPicPr>
          <p:nvPr/>
        </p:nvPicPr>
        <p:blipFill>
          <a:blip r:embed="rId4"/>
          <a:stretch>
            <a:fillRect/>
          </a:stretch>
        </p:blipFill>
        <p:spPr>
          <a:xfrm>
            <a:off x="1399032" y="4224528"/>
            <a:ext cx="402336" cy="402336"/>
          </a:xfrm>
          <a:prstGeom prst="rect">
            <a:avLst/>
          </a:prstGeom>
        </p:spPr>
      </p:pic>
      <p:sp>
        <p:nvSpPr>
          <p:cNvPr id="19" name="Text 14"/>
          <p:cNvSpPr txBox="1"/>
          <p:nvPr/>
        </p:nvSpPr>
        <p:spPr>
          <a:xfrm>
            <a:off x="457200" y="4663440"/>
            <a:ext cx="2286000" cy="365760"/>
          </a:xfrm>
          <a:prstGeom prst="rect">
            <a:avLst/>
          </a:prstGeom>
          <a:noFill/>
          <a:ln/>
        </p:spPr>
        <p:txBody>
          <a:bodyPr wrap="square" lIns="0" tIns="0" rIns="0" bIns="0" rtlCol="0" anchor="t"/>
          <a:lstStyle/>
          <a:p>
            <a:pPr marL="0" indent="0" algn="ctr">
              <a:buNone/>
            </a:pPr>
            <a:r>
              <a:rPr lang="en-US" sz="1500" b="1" dirty="0">
                <a:solidFill>
                  <a:srgbClr val="FFFFFF"/>
                </a:solidFill>
                <a:latin typeface="Arial" pitchFamily="34" charset="0"/>
                <a:ea typeface="Arial" pitchFamily="34" charset="-122"/>
                <a:cs typeface="Arial" pitchFamily="34" charset="-120"/>
              </a:rPr>
              <a:t>UDP / Ethernet</a:t>
            </a:r>
            <a:endParaRPr lang="en-US" sz="1500" dirty="0"/>
          </a:p>
        </p:txBody>
      </p:sp>
      <p:sp>
        <p:nvSpPr>
          <p:cNvPr id="20" name="Text 15"/>
          <p:cNvSpPr txBox="1"/>
          <p:nvPr/>
        </p:nvSpPr>
        <p:spPr>
          <a:xfrm>
            <a:off x="457200" y="5029200"/>
            <a:ext cx="2286000" cy="365760"/>
          </a:xfrm>
          <a:prstGeom prst="rect">
            <a:avLst/>
          </a:prstGeom>
          <a:noFill/>
          <a:ln/>
        </p:spPr>
        <p:txBody>
          <a:bodyPr wrap="square" lIns="0" tIns="0" rIns="0" bIns="0" rtlCol="0" anchor="t"/>
          <a:lstStyle/>
          <a:p>
            <a:pPr marL="0" indent="0" algn="ctr">
              <a:buNone/>
            </a:pPr>
            <a:r>
              <a:rPr lang="en-US" sz="1200" dirty="0">
                <a:solidFill>
                  <a:srgbClr val="FFFFFF"/>
                </a:solidFill>
                <a:latin typeface="Arial" pitchFamily="34" charset="0"/>
                <a:ea typeface="Arial" pitchFamily="34" charset="-122"/>
                <a:cs typeface="Arial" pitchFamily="34" charset="-120"/>
              </a:rPr>
              <a:t>lwIP stack</a:t>
            </a:r>
            <a:endParaRPr lang="en-US" sz="1200" dirty="0"/>
          </a:p>
        </p:txBody>
      </p:sp>
      <p:sp>
        <p:nvSpPr>
          <p:cNvPr id="21" name="Shape 16"/>
          <p:cNvSpPr/>
          <p:nvPr/>
        </p:nvSpPr>
        <p:spPr>
          <a:xfrm>
            <a:off x="2926080" y="4114800"/>
            <a:ext cx="2286000" cy="1417320"/>
          </a:xfrm>
          <a:prstGeom prst="roundRect">
            <a:avLst>
              <a:gd name="adj" fmla="val 6452"/>
            </a:avLst>
          </a:prstGeom>
          <a:solidFill>
            <a:srgbClr val="1F6FB5"/>
          </a:solidFill>
          <a:ln/>
        </p:spPr>
      </p:sp>
      <p:pic>
        <p:nvPicPr>
          <p:cNvPr id="22" name="Image 2" descr="preencoded.png"/>
          <p:cNvPicPr>
            <a:picLocks noChangeAspect="1"/>
          </p:cNvPicPr>
          <p:nvPr/>
        </p:nvPicPr>
        <p:blipFill>
          <a:blip r:embed="rId5"/>
          <a:stretch>
            <a:fillRect/>
          </a:stretch>
        </p:blipFill>
        <p:spPr>
          <a:xfrm>
            <a:off x="3867912" y="4224528"/>
            <a:ext cx="402336" cy="402336"/>
          </a:xfrm>
          <a:prstGeom prst="rect">
            <a:avLst/>
          </a:prstGeom>
        </p:spPr>
      </p:pic>
      <p:sp>
        <p:nvSpPr>
          <p:cNvPr id="23" name="Text 17"/>
          <p:cNvSpPr txBox="1"/>
          <p:nvPr/>
        </p:nvSpPr>
        <p:spPr>
          <a:xfrm>
            <a:off x="2926080" y="4663440"/>
            <a:ext cx="2286000" cy="365760"/>
          </a:xfrm>
          <a:prstGeom prst="rect">
            <a:avLst/>
          </a:prstGeom>
          <a:noFill/>
          <a:ln/>
        </p:spPr>
        <p:txBody>
          <a:bodyPr wrap="square" lIns="0" tIns="0" rIns="0" bIns="0" rtlCol="0" anchor="t"/>
          <a:lstStyle/>
          <a:p>
            <a:pPr marL="0" indent="0" algn="ctr">
              <a:buNone/>
            </a:pPr>
            <a:r>
              <a:rPr lang="en-US" sz="1500" b="1" dirty="0">
                <a:solidFill>
                  <a:srgbClr val="FFFFFF"/>
                </a:solidFill>
                <a:latin typeface="Arial" pitchFamily="34" charset="0"/>
                <a:ea typeface="Arial" pitchFamily="34" charset="-122"/>
                <a:cs typeface="Arial" pitchFamily="34" charset="-120"/>
              </a:rPr>
              <a:t>CAN-FD</a:t>
            </a:r>
            <a:endParaRPr lang="en-US" sz="1500" dirty="0"/>
          </a:p>
        </p:txBody>
      </p:sp>
      <p:sp>
        <p:nvSpPr>
          <p:cNvPr id="24" name="Text 18"/>
          <p:cNvSpPr txBox="1"/>
          <p:nvPr/>
        </p:nvSpPr>
        <p:spPr>
          <a:xfrm>
            <a:off x="2926080" y="5029200"/>
            <a:ext cx="2286000" cy="365760"/>
          </a:xfrm>
          <a:prstGeom prst="rect">
            <a:avLst/>
          </a:prstGeom>
          <a:noFill/>
          <a:ln/>
        </p:spPr>
        <p:txBody>
          <a:bodyPr wrap="square" lIns="0" tIns="0" rIns="0" bIns="0" rtlCol="0" anchor="t"/>
          <a:lstStyle/>
          <a:p>
            <a:pPr marL="0" indent="0" algn="ctr">
              <a:buNone/>
            </a:pPr>
            <a:r>
              <a:rPr lang="en-US" sz="1200" dirty="0">
                <a:solidFill>
                  <a:srgbClr val="FFFFFF"/>
                </a:solidFill>
                <a:latin typeface="Arial" pitchFamily="34" charset="0"/>
                <a:ea typeface="Arial" pitchFamily="34" charset="-122"/>
                <a:cs typeface="Arial" pitchFamily="34" charset="-120"/>
              </a:rPr>
              <a:t>4 B link assembly</a:t>
            </a:r>
            <a:endParaRPr lang="en-US" sz="1200" dirty="0"/>
          </a:p>
        </p:txBody>
      </p:sp>
      <p:sp>
        <p:nvSpPr>
          <p:cNvPr id="25" name="Shape 19"/>
          <p:cNvSpPr/>
          <p:nvPr/>
        </p:nvSpPr>
        <p:spPr>
          <a:xfrm>
            <a:off x="5394960" y="4114800"/>
            <a:ext cx="2286000" cy="1417320"/>
          </a:xfrm>
          <a:prstGeom prst="roundRect">
            <a:avLst>
              <a:gd name="adj" fmla="val 6452"/>
            </a:avLst>
          </a:prstGeom>
          <a:solidFill>
            <a:srgbClr val="6B778A"/>
          </a:solidFill>
          <a:ln/>
        </p:spPr>
      </p:sp>
      <p:pic>
        <p:nvPicPr>
          <p:cNvPr id="26" name="Image 3" descr="preencoded.png"/>
          <p:cNvPicPr>
            <a:picLocks noChangeAspect="1"/>
          </p:cNvPicPr>
          <p:nvPr/>
        </p:nvPicPr>
        <p:blipFill>
          <a:blip r:embed="rId6"/>
          <a:stretch>
            <a:fillRect/>
          </a:stretch>
        </p:blipFill>
        <p:spPr>
          <a:xfrm>
            <a:off x="6336792" y="4224528"/>
            <a:ext cx="402336" cy="402336"/>
          </a:xfrm>
          <a:prstGeom prst="rect">
            <a:avLst/>
          </a:prstGeom>
        </p:spPr>
      </p:pic>
      <p:sp>
        <p:nvSpPr>
          <p:cNvPr id="27" name="Text 20"/>
          <p:cNvSpPr txBox="1"/>
          <p:nvPr/>
        </p:nvSpPr>
        <p:spPr>
          <a:xfrm>
            <a:off x="5394960" y="4663440"/>
            <a:ext cx="2286000" cy="365760"/>
          </a:xfrm>
          <a:prstGeom prst="rect">
            <a:avLst/>
          </a:prstGeom>
          <a:noFill/>
          <a:ln/>
        </p:spPr>
        <p:txBody>
          <a:bodyPr wrap="square" lIns="0" tIns="0" rIns="0" bIns="0" rtlCol="0" anchor="t"/>
          <a:lstStyle/>
          <a:p>
            <a:pPr marL="0" indent="0" algn="ctr">
              <a:buNone/>
            </a:pPr>
            <a:r>
              <a:rPr lang="en-US" sz="1500" b="1" dirty="0">
                <a:solidFill>
                  <a:srgbClr val="FFFFFF"/>
                </a:solidFill>
                <a:latin typeface="Arial" pitchFamily="34" charset="0"/>
                <a:ea typeface="Arial" pitchFamily="34" charset="-122"/>
                <a:cs typeface="Arial" pitchFamily="34" charset="-120"/>
              </a:rPr>
              <a:t>UART</a:t>
            </a:r>
            <a:endParaRPr lang="en-US" sz="1500" dirty="0"/>
          </a:p>
        </p:txBody>
      </p:sp>
      <p:sp>
        <p:nvSpPr>
          <p:cNvPr id="28" name="Text 21"/>
          <p:cNvSpPr txBox="1"/>
          <p:nvPr/>
        </p:nvSpPr>
        <p:spPr>
          <a:xfrm>
            <a:off x="5394960" y="5029200"/>
            <a:ext cx="2286000" cy="365760"/>
          </a:xfrm>
          <a:prstGeom prst="rect">
            <a:avLst/>
          </a:prstGeom>
          <a:noFill/>
          <a:ln/>
        </p:spPr>
        <p:txBody>
          <a:bodyPr wrap="square" lIns="0" tIns="0" rIns="0" bIns="0" rtlCol="0" anchor="t"/>
          <a:lstStyle/>
          <a:p>
            <a:pPr marL="0" indent="0" algn="ctr">
              <a:buNone/>
            </a:pPr>
            <a:r>
              <a:rPr lang="en-US" sz="1200" dirty="0">
                <a:solidFill>
                  <a:srgbClr val="FFFFFF"/>
                </a:solidFill>
                <a:latin typeface="Arial" pitchFamily="34" charset="0"/>
                <a:ea typeface="Arial" pitchFamily="34" charset="-122"/>
                <a:cs typeface="Arial" pitchFamily="34" charset="-120"/>
              </a:rPr>
              <a:t>own framing layer</a:t>
            </a:r>
            <a:endParaRPr lang="en-US" sz="1200" dirty="0"/>
          </a:p>
        </p:txBody>
      </p:sp>
      <p:sp>
        <p:nvSpPr>
          <p:cNvPr id="29" name="Text 22"/>
          <p:cNvSpPr txBox="1"/>
          <p:nvPr/>
        </p:nvSpPr>
        <p:spPr>
          <a:xfrm>
            <a:off x="457200" y="5623560"/>
            <a:ext cx="7223760" cy="274320"/>
          </a:xfrm>
          <a:prstGeom prst="rect">
            <a:avLst/>
          </a:prstGeom>
          <a:noFill/>
          <a:ln/>
        </p:spPr>
        <p:txBody>
          <a:bodyPr wrap="square" lIns="0" tIns="0" rIns="0" bIns="0" rtlCol="0" anchor="t"/>
          <a:lstStyle/>
          <a:p>
            <a:pPr marL="0" indent="0" algn="ctr">
              <a:buNone/>
            </a:pPr>
            <a:r>
              <a:rPr lang="en-US" sz="1100" i="1" dirty="0">
                <a:solidFill>
                  <a:srgbClr val="5B6B7F"/>
                </a:solidFill>
                <a:latin typeface="Arial" pitchFamily="34" charset="0"/>
                <a:ea typeface="Arial" pitchFamily="34" charset="-122"/>
                <a:cs typeface="Arial" pitchFamily="34" charset="-120"/>
              </a:rPr>
              <a:t>transport adapters</a:t>
            </a:r>
            <a:endParaRPr lang="en-US" sz="1100" dirty="0"/>
          </a:p>
        </p:txBody>
      </p:sp>
      <p:pic>
        <p:nvPicPr>
          <p:cNvPr id="30" name="Image 4" descr="preencoded.png"/>
          <p:cNvPicPr>
            <a:picLocks noChangeAspect="1"/>
          </p:cNvPicPr>
          <p:nvPr/>
        </p:nvPicPr>
        <p:blipFill>
          <a:blip r:embed="rId7"/>
          <a:stretch>
            <a:fillRect/>
          </a:stretch>
        </p:blipFill>
        <p:spPr>
          <a:xfrm>
            <a:off x="8046720" y="1005840"/>
            <a:ext cx="329184" cy="329184"/>
          </a:xfrm>
          <a:prstGeom prst="rect">
            <a:avLst/>
          </a:prstGeom>
        </p:spPr>
      </p:pic>
      <p:sp>
        <p:nvSpPr>
          <p:cNvPr id="31" name="Text 23"/>
          <p:cNvSpPr txBox="1"/>
          <p:nvPr/>
        </p:nvSpPr>
        <p:spPr>
          <a:xfrm>
            <a:off x="8503920" y="960120"/>
            <a:ext cx="3246120" cy="457200"/>
          </a:xfrm>
          <a:prstGeom prst="rect">
            <a:avLst/>
          </a:prstGeom>
          <a:noFill/>
          <a:ln/>
        </p:spPr>
        <p:txBody>
          <a:bodyPr wrap="square" lIns="0" tIns="0" rIns="0" bIns="0" rtlCol="0" anchor="t"/>
          <a:lstStyle/>
          <a:p>
            <a:r>
              <a:rPr lang="en-US" sz="1500" b="1" dirty="0">
                <a:solidFill>
                  <a:srgbClr val="17365D"/>
                </a:solidFill>
                <a:latin typeface="Arial"/>
                <a:ea typeface="Arial" pitchFamily="34" charset="-122"/>
                <a:cs typeface="Arial"/>
              </a:rPr>
              <a:t>The core is protocol-agnostic.</a:t>
            </a:r>
            <a:endParaRPr lang="en-US" sz="1500" dirty="0">
              <a:latin typeface="Arial"/>
              <a:ea typeface="Calibri"/>
              <a:cs typeface="Calibri"/>
            </a:endParaRPr>
          </a:p>
        </p:txBody>
      </p:sp>
      <p:sp>
        <p:nvSpPr>
          <p:cNvPr id="32" name="Text 24"/>
          <p:cNvSpPr txBox="1"/>
          <p:nvPr/>
        </p:nvSpPr>
        <p:spPr>
          <a:xfrm>
            <a:off x="8503920" y="1417320"/>
            <a:ext cx="3246120" cy="685800"/>
          </a:xfrm>
          <a:prstGeom prst="rect">
            <a:avLst/>
          </a:prstGeom>
          <a:noFill/>
          <a:ln/>
        </p:spPr>
        <p:txBody>
          <a:bodyPr wrap="square" lIns="0" tIns="0" rIns="0" bIns="0" rtlCol="0" anchor="t"/>
          <a:lstStyle/>
          <a:p>
            <a:pPr marL="0" indent="0">
              <a:buNone/>
            </a:pPr>
            <a:r>
              <a:rPr lang="en-US" sz="1300" dirty="0">
                <a:solidFill>
                  <a:srgbClr val="1E2A3A"/>
                </a:solidFill>
                <a:latin typeface="Arial" pitchFamily="34" charset="0"/>
                <a:ea typeface="Arial" pitchFamily="34" charset="-122"/>
                <a:cs typeface="Arial" pitchFamily="34" charset="-120"/>
              </a:rPr>
              <a:t>It handles loss and duplicates the same way on every link.</a:t>
            </a:r>
            <a:endParaRPr lang="en-US" sz="1300" dirty="0"/>
          </a:p>
        </p:txBody>
      </p:sp>
      <p:pic>
        <p:nvPicPr>
          <p:cNvPr id="33" name="Image 5" descr="preencoded.png"/>
          <p:cNvPicPr>
            <a:picLocks noChangeAspect="1"/>
          </p:cNvPicPr>
          <p:nvPr/>
        </p:nvPicPr>
        <p:blipFill>
          <a:blip r:embed="rId7"/>
          <a:stretch>
            <a:fillRect/>
          </a:stretch>
        </p:blipFill>
        <p:spPr>
          <a:xfrm>
            <a:off x="8046720" y="2240280"/>
            <a:ext cx="329184" cy="329184"/>
          </a:xfrm>
          <a:prstGeom prst="rect">
            <a:avLst/>
          </a:prstGeom>
        </p:spPr>
      </p:pic>
      <p:sp>
        <p:nvSpPr>
          <p:cNvPr id="34" name="Text 25"/>
          <p:cNvSpPr txBox="1"/>
          <p:nvPr/>
        </p:nvSpPr>
        <p:spPr>
          <a:xfrm>
            <a:off x="8503920" y="2194560"/>
            <a:ext cx="3246120" cy="457200"/>
          </a:xfrm>
          <a:prstGeom prst="rect">
            <a:avLst/>
          </a:prstGeom>
          <a:noFill/>
          <a:ln/>
        </p:spPr>
        <p:txBody>
          <a:bodyPr wrap="square" lIns="0" tIns="0" rIns="0" bIns="0" rtlCol="0" anchor="t"/>
          <a:lstStyle/>
          <a:p>
            <a:pPr marL="0" indent="0">
              <a:buNone/>
            </a:pPr>
            <a:r>
              <a:rPr lang="en-US" sz="1500" b="1" dirty="0">
                <a:solidFill>
                  <a:srgbClr val="17365D"/>
                </a:solidFill>
                <a:latin typeface="Arial" pitchFamily="34" charset="0"/>
                <a:ea typeface="Arial" pitchFamily="34" charset="-122"/>
                <a:cs typeface="Arial" pitchFamily="34" charset="-120"/>
              </a:rPr>
              <a:t>Each link adds only its framing.</a:t>
            </a:r>
            <a:endParaRPr lang="en-US" sz="1500" dirty="0"/>
          </a:p>
        </p:txBody>
      </p:sp>
      <p:sp>
        <p:nvSpPr>
          <p:cNvPr id="35" name="Text 26"/>
          <p:cNvSpPr txBox="1"/>
          <p:nvPr/>
        </p:nvSpPr>
        <p:spPr>
          <a:xfrm>
            <a:off x="8503920" y="2651760"/>
            <a:ext cx="3246120" cy="685800"/>
          </a:xfrm>
          <a:prstGeom prst="rect">
            <a:avLst/>
          </a:prstGeom>
          <a:noFill/>
          <a:ln/>
        </p:spPr>
        <p:txBody>
          <a:bodyPr wrap="square" lIns="0" tIns="0" rIns="0" bIns="0" rtlCol="0" anchor="t"/>
          <a:lstStyle/>
          <a:p>
            <a:pPr marL="0" indent="0">
              <a:buNone/>
            </a:pPr>
            <a:r>
              <a:rPr lang="en-US" sz="1300" dirty="0">
                <a:solidFill>
                  <a:srgbClr val="1E2A3A"/>
                </a:solidFill>
                <a:latin typeface="Arial" pitchFamily="34" charset="0"/>
                <a:ea typeface="Arial" pitchFamily="34" charset="-122"/>
                <a:cs typeface="Arial" pitchFamily="34" charset="-120"/>
              </a:rPr>
              <a:t>Swap the adapter, keep everything above it.</a:t>
            </a:r>
            <a:endParaRPr lang="en-US" sz="1300" dirty="0"/>
          </a:p>
        </p:txBody>
      </p:sp>
      <p:pic>
        <p:nvPicPr>
          <p:cNvPr id="36" name="Image 6" descr="preencoded.png"/>
          <p:cNvPicPr>
            <a:picLocks noChangeAspect="1"/>
          </p:cNvPicPr>
          <p:nvPr/>
        </p:nvPicPr>
        <p:blipFill>
          <a:blip r:embed="rId7"/>
          <a:stretch>
            <a:fillRect/>
          </a:stretch>
        </p:blipFill>
        <p:spPr>
          <a:xfrm>
            <a:off x="8046720" y="3474720"/>
            <a:ext cx="329184" cy="329184"/>
          </a:xfrm>
          <a:prstGeom prst="rect">
            <a:avLst/>
          </a:prstGeom>
        </p:spPr>
      </p:pic>
      <p:sp>
        <p:nvSpPr>
          <p:cNvPr id="37" name="Text 27"/>
          <p:cNvSpPr txBox="1"/>
          <p:nvPr/>
        </p:nvSpPr>
        <p:spPr>
          <a:xfrm>
            <a:off x="8503920" y="3429000"/>
            <a:ext cx="3246120" cy="457200"/>
          </a:xfrm>
          <a:prstGeom prst="rect">
            <a:avLst/>
          </a:prstGeom>
          <a:noFill/>
          <a:ln/>
        </p:spPr>
        <p:txBody>
          <a:bodyPr wrap="square" lIns="0" tIns="0" rIns="0" bIns="0" rtlCol="0" anchor="t"/>
          <a:lstStyle/>
          <a:p>
            <a:pPr marL="0" indent="0">
              <a:buNone/>
            </a:pPr>
            <a:r>
              <a:rPr lang="en-US" sz="1500" b="1" dirty="0">
                <a:solidFill>
                  <a:srgbClr val="17365D"/>
                </a:solidFill>
                <a:latin typeface="Arial" pitchFamily="34" charset="0"/>
                <a:ea typeface="Arial" pitchFamily="34" charset="-122"/>
                <a:cs typeface="Arial" pitchFamily="34" charset="-120"/>
              </a:rPr>
              <a:t>Every node runs identical code.</a:t>
            </a:r>
            <a:endParaRPr lang="en-US" sz="1500" dirty="0"/>
          </a:p>
        </p:txBody>
      </p:sp>
      <p:sp>
        <p:nvSpPr>
          <p:cNvPr id="38" name="Text 28"/>
          <p:cNvSpPr txBox="1"/>
          <p:nvPr/>
        </p:nvSpPr>
        <p:spPr>
          <a:xfrm>
            <a:off x="8503920" y="3886200"/>
            <a:ext cx="3246120" cy="685800"/>
          </a:xfrm>
          <a:prstGeom prst="rect">
            <a:avLst/>
          </a:prstGeom>
          <a:noFill/>
          <a:ln/>
        </p:spPr>
        <p:txBody>
          <a:bodyPr wrap="square" lIns="0" tIns="0" rIns="0" bIns="0" rtlCol="0" anchor="t"/>
          <a:lstStyle/>
          <a:p>
            <a:pPr marL="0" indent="0">
              <a:buNone/>
            </a:pPr>
            <a:r>
              <a:rPr lang="en-US" sz="1300" dirty="0">
                <a:solidFill>
                  <a:srgbClr val="1E2A3A"/>
                </a:solidFill>
                <a:latin typeface="Arial" pitchFamily="34" charset="0"/>
                <a:ea typeface="Arial" pitchFamily="34" charset="-122"/>
                <a:cs typeface="Arial" pitchFamily="34" charset="-120"/>
              </a:rPr>
              <a:t>Master and peripherals share one receiver.</a:t>
            </a:r>
            <a:endParaRPr lang="en-US" sz="1300" dirty="0"/>
          </a:p>
        </p:txBody>
      </p:sp>
      <p:pic>
        <p:nvPicPr>
          <p:cNvPr id="39" name="Image 7" descr="preencoded.png"/>
          <p:cNvPicPr>
            <a:picLocks noChangeAspect="1"/>
          </p:cNvPicPr>
          <p:nvPr/>
        </p:nvPicPr>
        <p:blipFill>
          <a:blip r:embed="rId7"/>
          <a:stretch>
            <a:fillRect/>
          </a:stretch>
        </p:blipFill>
        <p:spPr>
          <a:xfrm>
            <a:off x="8046720" y="4709160"/>
            <a:ext cx="329184" cy="329184"/>
          </a:xfrm>
          <a:prstGeom prst="rect">
            <a:avLst/>
          </a:prstGeom>
        </p:spPr>
      </p:pic>
      <p:sp>
        <p:nvSpPr>
          <p:cNvPr id="40" name="Text 29"/>
          <p:cNvSpPr txBox="1"/>
          <p:nvPr/>
        </p:nvSpPr>
        <p:spPr>
          <a:xfrm>
            <a:off x="8503920" y="4663440"/>
            <a:ext cx="3246120" cy="457200"/>
          </a:xfrm>
          <a:prstGeom prst="rect">
            <a:avLst/>
          </a:prstGeom>
          <a:noFill/>
          <a:ln/>
        </p:spPr>
        <p:txBody>
          <a:bodyPr wrap="square" lIns="0" tIns="0" rIns="0" bIns="0" rtlCol="0" anchor="t"/>
          <a:lstStyle/>
          <a:p>
            <a:pPr marL="0" indent="0">
              <a:buNone/>
            </a:pPr>
            <a:r>
              <a:rPr lang="en-US" sz="1500" b="1" dirty="0">
                <a:solidFill>
                  <a:srgbClr val="17365D"/>
                </a:solidFill>
                <a:latin typeface="Arial" pitchFamily="34" charset="0"/>
                <a:ea typeface="Arial" pitchFamily="34" charset="-122"/>
                <a:cs typeface="Arial" pitchFamily="34" charset="-120"/>
              </a:rPr>
              <a:t>Less code, less to verify.</a:t>
            </a:r>
            <a:endParaRPr lang="en-US" sz="1500" dirty="0"/>
          </a:p>
        </p:txBody>
      </p:sp>
      <p:sp>
        <p:nvSpPr>
          <p:cNvPr id="41" name="Text 30"/>
          <p:cNvSpPr txBox="1"/>
          <p:nvPr/>
        </p:nvSpPr>
        <p:spPr>
          <a:xfrm>
            <a:off x="8503920" y="5120640"/>
            <a:ext cx="3246120" cy="685800"/>
          </a:xfrm>
          <a:prstGeom prst="rect">
            <a:avLst/>
          </a:prstGeom>
          <a:noFill/>
          <a:ln/>
        </p:spPr>
        <p:txBody>
          <a:bodyPr wrap="square" lIns="0" tIns="0" rIns="0" bIns="0" rtlCol="0" anchor="t"/>
          <a:lstStyle/>
          <a:p>
            <a:pPr marL="0" indent="0">
              <a:buNone/>
            </a:pPr>
            <a:r>
              <a:rPr lang="en-US" sz="1300" dirty="0">
                <a:solidFill>
                  <a:srgbClr val="1E2A3A"/>
                </a:solidFill>
                <a:latin typeface="Arial" pitchFamily="34" charset="0"/>
                <a:ea typeface="Arial" pitchFamily="34" charset="-122"/>
                <a:cs typeface="Arial" pitchFamily="34" charset="-120"/>
              </a:rPr>
              <a:t>That matters most in the update path.</a:t>
            </a:r>
            <a:endParaRPr lang="en-US" sz="1300" dirty="0"/>
          </a:p>
        </p:txBody>
      </p:sp>
      <p:sp>
        <p:nvSpPr>
          <p:cNvPr id="3" name="Slide Number Placeholder 0"/>
          <p:cNvSpPr>
            <a:spLocks noGrp="1"/>
          </p:cNvSpPr>
          <p:nvPr>
            <p:ph type="sldNum" sz="quarter" idx="4294967295"/>
          </p:nvPr>
        </p:nvSpPr>
        <p:spPr>
          <a:xfrm>
            <a:off x="1138428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A"/>
                </a:solidFill>
                <a:latin typeface="Arial"/>
                <a:ea typeface="Arial"/>
                <a:cs typeface="Aria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6576"/>
            <a:ext cx="8686800" cy="420624"/>
          </a:xfrm>
          <a:prstGeom prst="rect">
            <a:avLst/>
          </a:prstGeom>
          <a:noFill/>
          <a:ln/>
        </p:spPr>
        <p:txBody>
          <a:bodyPr wrap="square" lIns="0" tIns="0" rIns="0" bIns="0" rtlCol="0" anchor="ctr"/>
          <a:lstStyle/>
          <a:p>
            <a:pPr marL="0" indent="0">
              <a:buNone/>
            </a:pPr>
            <a:r>
              <a:rPr lang="en-US" sz="2400" b="1" dirty="0">
                <a:solidFill>
                  <a:srgbClr val="1F5A9E"/>
                </a:solidFill>
                <a:latin typeface="Arial" pitchFamily="34" charset="0"/>
                <a:ea typeface="Arial" pitchFamily="34" charset="-122"/>
                <a:cs typeface="Arial" pitchFamily="34" charset="-120"/>
              </a:rPr>
              <a:t>The Links in Detail</a:t>
            </a:r>
            <a:endParaRPr lang="en-US" sz="2400" dirty="0"/>
          </a:p>
        </p:txBody>
      </p:sp>
      <p:sp>
        <p:nvSpPr>
          <p:cNvPr id="4" name="Shape 1"/>
          <p:cNvSpPr/>
          <p:nvPr/>
        </p:nvSpPr>
        <p:spPr>
          <a:xfrm>
            <a:off x="2743200" y="914400"/>
            <a:ext cx="2971800" cy="685800"/>
          </a:xfrm>
          <a:prstGeom prst="roundRect">
            <a:avLst>
              <a:gd name="adj" fmla="val 10667"/>
            </a:avLst>
          </a:prstGeom>
          <a:solidFill>
            <a:srgbClr val="C8102E"/>
          </a:solidFill>
          <a:ln/>
        </p:spPr>
      </p:sp>
      <p:pic>
        <p:nvPicPr>
          <p:cNvPr id="5" name="Image 0" descr="preencoded.png"/>
          <p:cNvPicPr>
            <a:picLocks noChangeAspect="1"/>
          </p:cNvPicPr>
          <p:nvPr/>
        </p:nvPicPr>
        <p:blipFill>
          <a:blip r:embed="rId3"/>
          <a:stretch>
            <a:fillRect/>
          </a:stretch>
        </p:blipFill>
        <p:spPr>
          <a:xfrm>
            <a:off x="3017520" y="1051560"/>
            <a:ext cx="402336" cy="402336"/>
          </a:xfrm>
          <a:prstGeom prst="rect">
            <a:avLst/>
          </a:prstGeom>
        </p:spPr>
      </p:pic>
      <p:sp>
        <p:nvSpPr>
          <p:cNvPr id="6" name="Text 2"/>
          <p:cNvSpPr txBox="1"/>
          <p:nvPr/>
        </p:nvSpPr>
        <p:spPr>
          <a:xfrm>
            <a:off x="3520440" y="914400"/>
            <a:ext cx="2057400" cy="68580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UDP / Ethernet</a:t>
            </a:r>
            <a:endParaRPr lang="en-US" sz="1700" dirty="0"/>
          </a:p>
        </p:txBody>
      </p:sp>
      <p:sp>
        <p:nvSpPr>
          <p:cNvPr id="7" name="Shape 3"/>
          <p:cNvSpPr/>
          <p:nvPr/>
        </p:nvSpPr>
        <p:spPr>
          <a:xfrm>
            <a:off x="5751576" y="914400"/>
            <a:ext cx="2971800" cy="685800"/>
          </a:xfrm>
          <a:prstGeom prst="roundRect">
            <a:avLst>
              <a:gd name="adj" fmla="val 10667"/>
            </a:avLst>
          </a:prstGeom>
          <a:solidFill>
            <a:srgbClr val="1F6FB5"/>
          </a:solidFill>
          <a:ln/>
        </p:spPr>
      </p:sp>
      <p:pic>
        <p:nvPicPr>
          <p:cNvPr id="8" name="Image 1" descr="preencoded.png"/>
          <p:cNvPicPr>
            <a:picLocks noChangeAspect="1"/>
          </p:cNvPicPr>
          <p:nvPr/>
        </p:nvPicPr>
        <p:blipFill>
          <a:blip r:embed="rId4"/>
          <a:stretch>
            <a:fillRect/>
          </a:stretch>
        </p:blipFill>
        <p:spPr>
          <a:xfrm>
            <a:off x="6025896" y="1051560"/>
            <a:ext cx="402336" cy="402336"/>
          </a:xfrm>
          <a:prstGeom prst="rect">
            <a:avLst/>
          </a:prstGeom>
        </p:spPr>
      </p:pic>
      <p:sp>
        <p:nvSpPr>
          <p:cNvPr id="9" name="Text 4"/>
          <p:cNvSpPr txBox="1"/>
          <p:nvPr/>
        </p:nvSpPr>
        <p:spPr>
          <a:xfrm>
            <a:off x="6528816" y="914400"/>
            <a:ext cx="2057400" cy="68580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CAN-FD</a:t>
            </a:r>
            <a:endParaRPr lang="en-US" sz="1700" dirty="0"/>
          </a:p>
        </p:txBody>
      </p:sp>
      <p:sp>
        <p:nvSpPr>
          <p:cNvPr id="10" name="Shape 5"/>
          <p:cNvSpPr/>
          <p:nvPr/>
        </p:nvSpPr>
        <p:spPr>
          <a:xfrm>
            <a:off x="8759952" y="914400"/>
            <a:ext cx="2971800" cy="685800"/>
          </a:xfrm>
          <a:prstGeom prst="roundRect">
            <a:avLst>
              <a:gd name="adj" fmla="val 10667"/>
            </a:avLst>
          </a:prstGeom>
          <a:solidFill>
            <a:srgbClr val="6B778A"/>
          </a:solidFill>
          <a:ln/>
        </p:spPr>
      </p:sp>
      <p:pic>
        <p:nvPicPr>
          <p:cNvPr id="11" name="Image 2" descr="preencoded.png"/>
          <p:cNvPicPr>
            <a:picLocks noChangeAspect="1"/>
          </p:cNvPicPr>
          <p:nvPr/>
        </p:nvPicPr>
        <p:blipFill>
          <a:blip r:embed="rId5"/>
          <a:stretch>
            <a:fillRect/>
          </a:stretch>
        </p:blipFill>
        <p:spPr>
          <a:xfrm>
            <a:off x="9034272" y="1051560"/>
            <a:ext cx="402336" cy="402336"/>
          </a:xfrm>
          <a:prstGeom prst="rect">
            <a:avLst/>
          </a:prstGeom>
        </p:spPr>
      </p:pic>
      <p:sp>
        <p:nvSpPr>
          <p:cNvPr id="12" name="Text 6"/>
          <p:cNvSpPr txBox="1"/>
          <p:nvPr/>
        </p:nvSpPr>
        <p:spPr>
          <a:xfrm>
            <a:off x="9537192" y="914400"/>
            <a:ext cx="2057400" cy="68580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UART</a:t>
            </a:r>
            <a:endParaRPr lang="en-US" sz="1700" dirty="0"/>
          </a:p>
        </p:txBody>
      </p:sp>
      <p:sp>
        <p:nvSpPr>
          <p:cNvPr id="13" name="Shape 7"/>
          <p:cNvSpPr/>
          <p:nvPr/>
        </p:nvSpPr>
        <p:spPr>
          <a:xfrm>
            <a:off x="457200" y="1691640"/>
            <a:ext cx="2240280" cy="585216"/>
          </a:xfrm>
          <a:prstGeom prst="rect">
            <a:avLst/>
          </a:prstGeom>
          <a:solidFill>
            <a:srgbClr val="D6EEFA"/>
          </a:solidFill>
          <a:ln/>
        </p:spPr>
      </p:sp>
      <p:sp>
        <p:nvSpPr>
          <p:cNvPr id="14" name="Text 8"/>
          <p:cNvSpPr txBox="1"/>
          <p:nvPr/>
        </p:nvSpPr>
        <p:spPr>
          <a:xfrm>
            <a:off x="594360" y="1691640"/>
            <a:ext cx="2011680" cy="585216"/>
          </a:xfrm>
          <a:prstGeom prst="rect">
            <a:avLst/>
          </a:prstGeom>
          <a:noFill/>
          <a:ln/>
        </p:spPr>
        <p:txBody>
          <a:bodyPr wrap="square" lIns="0" tIns="0" rIns="0" bIns="0" rtlCol="0" anchor="ctr"/>
          <a:lstStyle/>
          <a:p>
            <a:pPr marL="0" indent="0">
              <a:buNone/>
            </a:pPr>
            <a:r>
              <a:rPr lang="en-US" sz="1350" b="1" dirty="0">
                <a:solidFill>
                  <a:srgbClr val="17365D"/>
                </a:solidFill>
                <a:latin typeface="Arial" pitchFamily="34" charset="0"/>
                <a:ea typeface="Arial" pitchFamily="34" charset="-122"/>
                <a:cs typeface="Arial" pitchFamily="34" charset="-120"/>
              </a:rPr>
              <a:t>Role</a:t>
            </a:r>
            <a:endParaRPr lang="en-US" sz="1350" dirty="0"/>
          </a:p>
        </p:txBody>
      </p:sp>
      <p:sp>
        <p:nvSpPr>
          <p:cNvPr id="15" name="Shape 9"/>
          <p:cNvSpPr/>
          <p:nvPr/>
        </p:nvSpPr>
        <p:spPr>
          <a:xfrm>
            <a:off x="2743200" y="1691640"/>
            <a:ext cx="2971800" cy="585216"/>
          </a:xfrm>
          <a:prstGeom prst="rect">
            <a:avLst/>
          </a:prstGeom>
          <a:solidFill>
            <a:srgbClr val="E8F6FD"/>
          </a:solidFill>
          <a:ln/>
        </p:spPr>
      </p:sp>
      <p:sp>
        <p:nvSpPr>
          <p:cNvPr id="16" name="Text 10"/>
          <p:cNvSpPr txBox="1"/>
          <p:nvPr/>
        </p:nvSpPr>
        <p:spPr>
          <a:xfrm>
            <a:off x="2880360" y="1691640"/>
            <a:ext cx="2697480" cy="585216"/>
          </a:xfrm>
          <a:prstGeom prst="rect">
            <a:avLst/>
          </a:prstGeom>
          <a:noFill/>
          <a:ln/>
        </p:spPr>
        <p:txBody>
          <a:bodyPr wrap="square" lIns="0" tIns="0" rIns="0" bIns="0" rtlCol="0" anchor="ctr"/>
          <a:lstStyle/>
          <a:p>
            <a:pPr marL="0" indent="0">
              <a:buNone/>
            </a:pPr>
            <a:r>
              <a:rPr lang="en-US" sz="1300" dirty="0">
                <a:solidFill>
                  <a:srgbClr val="1E2A3A"/>
                </a:solidFill>
                <a:latin typeface="Arial" pitchFamily="34" charset="0"/>
                <a:ea typeface="Arial" pitchFamily="34" charset="-122"/>
                <a:cs typeface="Arial" pitchFamily="34" charset="-120"/>
              </a:rPr>
              <a:t>External ingress: host → master</a:t>
            </a:r>
            <a:endParaRPr lang="en-US" sz="1300" dirty="0"/>
          </a:p>
        </p:txBody>
      </p:sp>
      <p:sp>
        <p:nvSpPr>
          <p:cNvPr id="17" name="Shape 11"/>
          <p:cNvSpPr/>
          <p:nvPr/>
        </p:nvSpPr>
        <p:spPr>
          <a:xfrm>
            <a:off x="5751576" y="1691640"/>
            <a:ext cx="2971800" cy="585216"/>
          </a:xfrm>
          <a:prstGeom prst="rect">
            <a:avLst/>
          </a:prstGeom>
          <a:solidFill>
            <a:srgbClr val="E8F6FD"/>
          </a:solidFill>
          <a:ln/>
        </p:spPr>
      </p:sp>
      <p:sp>
        <p:nvSpPr>
          <p:cNvPr id="18" name="Text 12"/>
          <p:cNvSpPr txBox="1"/>
          <p:nvPr/>
        </p:nvSpPr>
        <p:spPr>
          <a:xfrm>
            <a:off x="5888736" y="1691640"/>
            <a:ext cx="2697480" cy="585216"/>
          </a:xfrm>
          <a:prstGeom prst="rect">
            <a:avLst/>
          </a:prstGeom>
          <a:noFill/>
          <a:ln/>
        </p:spPr>
        <p:txBody>
          <a:bodyPr wrap="square" lIns="0" tIns="0" rIns="0" bIns="0" rtlCol="0" anchor="ctr"/>
          <a:lstStyle/>
          <a:p>
            <a:pPr marL="0" indent="0">
              <a:buNone/>
            </a:pPr>
            <a:r>
              <a:rPr lang="en-US" sz="1300" dirty="0">
                <a:solidFill>
                  <a:srgbClr val="1E2A3A"/>
                </a:solidFill>
                <a:latin typeface="Arial" pitchFamily="34" charset="0"/>
                <a:ea typeface="Arial" pitchFamily="34" charset="-122"/>
                <a:cs typeface="Arial" pitchFamily="34" charset="-120"/>
              </a:rPr>
              <a:t>Internal fan-out: master → cards</a:t>
            </a:r>
            <a:endParaRPr lang="en-US" sz="1300" dirty="0"/>
          </a:p>
        </p:txBody>
      </p:sp>
      <p:sp>
        <p:nvSpPr>
          <p:cNvPr id="19" name="Shape 13"/>
          <p:cNvSpPr/>
          <p:nvPr/>
        </p:nvSpPr>
        <p:spPr>
          <a:xfrm>
            <a:off x="8759952" y="1691640"/>
            <a:ext cx="2971800" cy="585216"/>
          </a:xfrm>
          <a:prstGeom prst="rect">
            <a:avLst/>
          </a:prstGeom>
          <a:solidFill>
            <a:srgbClr val="E8F6FD"/>
          </a:solidFill>
          <a:ln/>
        </p:spPr>
      </p:sp>
      <p:sp>
        <p:nvSpPr>
          <p:cNvPr id="20" name="Text 14"/>
          <p:cNvSpPr txBox="1"/>
          <p:nvPr/>
        </p:nvSpPr>
        <p:spPr>
          <a:xfrm>
            <a:off x="8897112" y="1691640"/>
            <a:ext cx="2697480" cy="585216"/>
          </a:xfrm>
          <a:prstGeom prst="rect">
            <a:avLst/>
          </a:prstGeom>
          <a:noFill/>
          <a:ln/>
        </p:spPr>
        <p:txBody>
          <a:bodyPr wrap="square" lIns="0" tIns="0" rIns="0" bIns="0" rtlCol="0" anchor="ctr"/>
          <a:lstStyle/>
          <a:p>
            <a:pPr marL="0" indent="0">
              <a:buNone/>
            </a:pPr>
            <a:r>
              <a:rPr lang="en-US" sz="1300" dirty="0">
                <a:solidFill>
                  <a:srgbClr val="1E2A3A"/>
                </a:solidFill>
                <a:latin typeface="Arial" pitchFamily="34" charset="0"/>
                <a:ea typeface="Arial" pitchFamily="34" charset="-122"/>
                <a:cs typeface="Arial" pitchFamily="34" charset="-120"/>
              </a:rPr>
              <a:t>Automatic fallback if CAN-FD fails</a:t>
            </a:r>
            <a:endParaRPr lang="en-US" sz="1300" dirty="0"/>
          </a:p>
        </p:txBody>
      </p:sp>
      <p:sp>
        <p:nvSpPr>
          <p:cNvPr id="21" name="Shape 15"/>
          <p:cNvSpPr/>
          <p:nvPr/>
        </p:nvSpPr>
        <p:spPr>
          <a:xfrm>
            <a:off x="457200" y="2331720"/>
            <a:ext cx="2240280" cy="585216"/>
          </a:xfrm>
          <a:prstGeom prst="rect">
            <a:avLst/>
          </a:prstGeom>
          <a:solidFill>
            <a:srgbClr val="D6EEFA"/>
          </a:solidFill>
          <a:ln/>
        </p:spPr>
      </p:sp>
      <p:sp>
        <p:nvSpPr>
          <p:cNvPr id="22" name="Text 16"/>
          <p:cNvSpPr txBox="1"/>
          <p:nvPr/>
        </p:nvSpPr>
        <p:spPr>
          <a:xfrm>
            <a:off x="594360" y="2331720"/>
            <a:ext cx="2011680" cy="585216"/>
          </a:xfrm>
          <a:prstGeom prst="rect">
            <a:avLst/>
          </a:prstGeom>
          <a:noFill/>
          <a:ln/>
        </p:spPr>
        <p:txBody>
          <a:bodyPr wrap="square" lIns="0" tIns="0" rIns="0" bIns="0" rtlCol="0" anchor="ctr"/>
          <a:lstStyle/>
          <a:p>
            <a:pPr marL="0" indent="0">
              <a:buNone/>
            </a:pPr>
            <a:r>
              <a:rPr lang="en-US" sz="1350" b="1" dirty="0">
                <a:solidFill>
                  <a:srgbClr val="17365D"/>
                </a:solidFill>
                <a:latin typeface="Arial" pitchFamily="34" charset="0"/>
                <a:ea typeface="Arial" pitchFamily="34" charset="-122"/>
                <a:cs typeface="Arial" pitchFamily="34" charset="-120"/>
              </a:rPr>
              <a:t>Frame</a:t>
            </a:r>
            <a:endParaRPr lang="en-US" sz="1350" dirty="0"/>
          </a:p>
        </p:txBody>
      </p:sp>
      <p:sp>
        <p:nvSpPr>
          <p:cNvPr id="23" name="Shape 17"/>
          <p:cNvSpPr/>
          <p:nvPr/>
        </p:nvSpPr>
        <p:spPr>
          <a:xfrm>
            <a:off x="2743200" y="2331720"/>
            <a:ext cx="2971800" cy="585216"/>
          </a:xfrm>
          <a:prstGeom prst="rect">
            <a:avLst/>
          </a:prstGeom>
          <a:solidFill>
            <a:srgbClr val="FFFFFF"/>
          </a:solidFill>
          <a:ln/>
        </p:spPr>
      </p:sp>
      <p:sp>
        <p:nvSpPr>
          <p:cNvPr id="24" name="Text 18"/>
          <p:cNvSpPr txBox="1"/>
          <p:nvPr/>
        </p:nvSpPr>
        <p:spPr>
          <a:xfrm>
            <a:off x="2880360" y="2331720"/>
            <a:ext cx="2697480" cy="585216"/>
          </a:xfrm>
          <a:prstGeom prst="rect">
            <a:avLst/>
          </a:prstGeom>
          <a:noFill/>
          <a:ln/>
        </p:spPr>
        <p:txBody>
          <a:bodyPr wrap="square" lIns="0" tIns="0" rIns="0" bIns="0" rtlCol="0" anchor="ctr"/>
          <a:lstStyle/>
          <a:p>
            <a:pPr marL="0" indent="0">
              <a:buNone/>
            </a:pPr>
            <a:r>
              <a:rPr lang="en-US" sz="1300" dirty="0">
                <a:solidFill>
                  <a:srgbClr val="1E2A3A"/>
                </a:solidFill>
                <a:latin typeface="Arial" pitchFamily="34" charset="0"/>
                <a:ea typeface="Arial" pitchFamily="34" charset="-122"/>
                <a:cs typeface="Arial" pitchFamily="34" charset="-120"/>
              </a:rPr>
              <a:t>1518 B Ethernet frame</a:t>
            </a:r>
            <a:endParaRPr lang="en-US" sz="1300" dirty="0"/>
          </a:p>
        </p:txBody>
      </p:sp>
      <p:sp>
        <p:nvSpPr>
          <p:cNvPr id="25" name="Shape 19"/>
          <p:cNvSpPr/>
          <p:nvPr/>
        </p:nvSpPr>
        <p:spPr>
          <a:xfrm>
            <a:off x="5751576" y="2331720"/>
            <a:ext cx="2971800" cy="585216"/>
          </a:xfrm>
          <a:prstGeom prst="rect">
            <a:avLst/>
          </a:prstGeom>
          <a:solidFill>
            <a:srgbClr val="FFFFFF"/>
          </a:solidFill>
          <a:ln/>
        </p:spPr>
      </p:sp>
      <p:sp>
        <p:nvSpPr>
          <p:cNvPr id="26" name="Text 20"/>
          <p:cNvSpPr txBox="1"/>
          <p:nvPr/>
        </p:nvSpPr>
        <p:spPr>
          <a:xfrm>
            <a:off x="5888736" y="2331720"/>
            <a:ext cx="2697480" cy="585216"/>
          </a:xfrm>
          <a:prstGeom prst="rect">
            <a:avLst/>
          </a:prstGeom>
          <a:noFill/>
          <a:ln/>
        </p:spPr>
        <p:txBody>
          <a:bodyPr wrap="square" lIns="0" tIns="0" rIns="0" bIns="0" rtlCol="0" anchor="ctr"/>
          <a:lstStyle/>
          <a:p>
            <a:pPr marL="0" indent="0">
              <a:buNone/>
            </a:pPr>
            <a:r>
              <a:rPr lang="en-US" sz="1300" dirty="0">
                <a:solidFill>
                  <a:srgbClr val="1E2A3A"/>
                </a:solidFill>
                <a:latin typeface="Arial" pitchFamily="34" charset="0"/>
                <a:ea typeface="Arial" pitchFamily="34" charset="-122"/>
                <a:cs typeface="Arial" pitchFamily="34" charset="-120"/>
              </a:rPr>
              <a:t>64 B data frame</a:t>
            </a:r>
            <a:endParaRPr lang="en-US" sz="1300" dirty="0"/>
          </a:p>
        </p:txBody>
      </p:sp>
      <p:sp>
        <p:nvSpPr>
          <p:cNvPr id="27" name="Shape 21"/>
          <p:cNvSpPr/>
          <p:nvPr/>
        </p:nvSpPr>
        <p:spPr>
          <a:xfrm>
            <a:off x="8759952" y="2331720"/>
            <a:ext cx="2971800" cy="585216"/>
          </a:xfrm>
          <a:prstGeom prst="rect">
            <a:avLst/>
          </a:prstGeom>
          <a:solidFill>
            <a:srgbClr val="FFFFFF"/>
          </a:solidFill>
          <a:ln/>
        </p:spPr>
      </p:sp>
      <p:sp>
        <p:nvSpPr>
          <p:cNvPr id="28" name="Text 22"/>
          <p:cNvSpPr txBox="1"/>
          <p:nvPr/>
        </p:nvSpPr>
        <p:spPr>
          <a:xfrm>
            <a:off x="8897112" y="2331720"/>
            <a:ext cx="2697480" cy="585216"/>
          </a:xfrm>
          <a:prstGeom prst="rect">
            <a:avLst/>
          </a:prstGeom>
          <a:noFill/>
          <a:ln/>
        </p:spPr>
        <p:txBody>
          <a:bodyPr wrap="square" lIns="0" tIns="0" rIns="0" bIns="0" rtlCol="0" anchor="ctr"/>
          <a:lstStyle/>
          <a:p>
            <a:pPr marL="0" indent="0">
              <a:buNone/>
            </a:pPr>
            <a:r>
              <a:rPr lang="en-US" sz="1300" dirty="0">
                <a:solidFill>
                  <a:srgbClr val="1E2A3A"/>
                </a:solidFill>
                <a:latin typeface="Arial" pitchFamily="34" charset="0"/>
                <a:ea typeface="Arial" pitchFamily="34" charset="-122"/>
                <a:cs typeface="Arial" pitchFamily="34" charset="-120"/>
              </a:rPr>
              <a:t>Byte stream, no native frames</a:t>
            </a:r>
            <a:endParaRPr lang="en-US" sz="1300" dirty="0"/>
          </a:p>
        </p:txBody>
      </p:sp>
      <p:sp>
        <p:nvSpPr>
          <p:cNvPr id="29" name="Shape 23"/>
          <p:cNvSpPr/>
          <p:nvPr/>
        </p:nvSpPr>
        <p:spPr>
          <a:xfrm>
            <a:off x="457200" y="2971800"/>
            <a:ext cx="2240280" cy="585216"/>
          </a:xfrm>
          <a:prstGeom prst="rect">
            <a:avLst/>
          </a:prstGeom>
          <a:solidFill>
            <a:srgbClr val="D6EEFA"/>
          </a:solidFill>
          <a:ln/>
        </p:spPr>
      </p:sp>
      <p:sp>
        <p:nvSpPr>
          <p:cNvPr id="30" name="Text 24"/>
          <p:cNvSpPr txBox="1"/>
          <p:nvPr/>
        </p:nvSpPr>
        <p:spPr>
          <a:xfrm>
            <a:off x="594360" y="2971800"/>
            <a:ext cx="2011680" cy="585216"/>
          </a:xfrm>
          <a:prstGeom prst="rect">
            <a:avLst/>
          </a:prstGeom>
          <a:noFill/>
          <a:ln/>
        </p:spPr>
        <p:txBody>
          <a:bodyPr wrap="square" lIns="0" tIns="0" rIns="0" bIns="0" rtlCol="0" anchor="ctr"/>
          <a:lstStyle/>
          <a:p>
            <a:pPr marL="0" indent="0">
              <a:buNone/>
            </a:pPr>
            <a:r>
              <a:rPr lang="en-US" sz="1350" b="1" dirty="0">
                <a:solidFill>
                  <a:srgbClr val="17365D"/>
                </a:solidFill>
                <a:latin typeface="Arial" pitchFamily="34" charset="0"/>
                <a:ea typeface="Arial" pitchFamily="34" charset="-122"/>
                <a:cs typeface="Arial" pitchFamily="34" charset="-120"/>
              </a:rPr>
              <a:t>Usable payload</a:t>
            </a:r>
            <a:endParaRPr lang="en-US" sz="1350" dirty="0"/>
          </a:p>
        </p:txBody>
      </p:sp>
      <p:sp>
        <p:nvSpPr>
          <p:cNvPr id="31" name="Shape 25"/>
          <p:cNvSpPr/>
          <p:nvPr/>
        </p:nvSpPr>
        <p:spPr>
          <a:xfrm>
            <a:off x="2743200" y="2971800"/>
            <a:ext cx="2971800" cy="585216"/>
          </a:xfrm>
          <a:prstGeom prst="rect">
            <a:avLst/>
          </a:prstGeom>
          <a:solidFill>
            <a:srgbClr val="E8F6FD"/>
          </a:solidFill>
          <a:ln/>
        </p:spPr>
      </p:sp>
      <p:sp>
        <p:nvSpPr>
          <p:cNvPr id="32" name="Text 26"/>
          <p:cNvSpPr txBox="1"/>
          <p:nvPr/>
        </p:nvSpPr>
        <p:spPr>
          <a:xfrm>
            <a:off x="2880360" y="2971800"/>
            <a:ext cx="2697480" cy="585216"/>
          </a:xfrm>
          <a:prstGeom prst="rect">
            <a:avLst/>
          </a:prstGeom>
          <a:noFill/>
          <a:ln/>
        </p:spPr>
        <p:txBody>
          <a:bodyPr wrap="square" lIns="0" tIns="0" rIns="0" bIns="0" rtlCol="0" anchor="ctr"/>
          <a:lstStyle/>
          <a:p>
            <a:pPr marL="0" indent="0">
              <a:buNone/>
            </a:pPr>
            <a:r>
              <a:rPr lang="en-US" sz="1300" dirty="0">
                <a:solidFill>
                  <a:srgbClr val="1E2A3A"/>
                </a:solidFill>
                <a:latin typeface="Arial" pitchFamily="34" charset="0"/>
                <a:ea typeface="Arial" pitchFamily="34" charset="-122"/>
                <a:cs typeface="Arial" pitchFamily="34" charset="-120"/>
              </a:rPr>
              <a:t>≤ 1472 B after IP/UDP</a:t>
            </a:r>
            <a:endParaRPr lang="en-US" sz="1300" dirty="0"/>
          </a:p>
        </p:txBody>
      </p:sp>
      <p:sp>
        <p:nvSpPr>
          <p:cNvPr id="33" name="Shape 27"/>
          <p:cNvSpPr/>
          <p:nvPr/>
        </p:nvSpPr>
        <p:spPr>
          <a:xfrm>
            <a:off x="5751576" y="2971800"/>
            <a:ext cx="2971800" cy="585216"/>
          </a:xfrm>
          <a:prstGeom prst="rect">
            <a:avLst/>
          </a:prstGeom>
          <a:solidFill>
            <a:srgbClr val="E8F6FD"/>
          </a:solidFill>
          <a:ln/>
        </p:spPr>
      </p:sp>
      <p:sp>
        <p:nvSpPr>
          <p:cNvPr id="34" name="Text 28"/>
          <p:cNvSpPr txBox="1"/>
          <p:nvPr/>
        </p:nvSpPr>
        <p:spPr>
          <a:xfrm>
            <a:off x="5888736" y="2971800"/>
            <a:ext cx="2697480" cy="585216"/>
          </a:xfrm>
          <a:prstGeom prst="rect">
            <a:avLst/>
          </a:prstGeom>
          <a:noFill/>
          <a:ln/>
        </p:spPr>
        <p:txBody>
          <a:bodyPr wrap="square" lIns="0" tIns="0" rIns="0" bIns="0" rtlCol="0" anchor="ctr"/>
          <a:lstStyle/>
          <a:p>
            <a:pPr marL="0" indent="0">
              <a:buNone/>
            </a:pPr>
            <a:r>
              <a:rPr lang="en-US" sz="1300" dirty="0">
                <a:solidFill>
                  <a:srgbClr val="1E2A3A"/>
                </a:solidFill>
                <a:latin typeface="Arial" pitchFamily="34" charset="0"/>
                <a:ea typeface="Arial" pitchFamily="34" charset="-122"/>
                <a:cs typeface="Arial" pitchFamily="34" charset="-120"/>
              </a:rPr>
              <a:t>60 B after 4 B link assembly</a:t>
            </a:r>
            <a:endParaRPr lang="en-US" sz="1300" dirty="0"/>
          </a:p>
        </p:txBody>
      </p:sp>
      <p:sp>
        <p:nvSpPr>
          <p:cNvPr id="35" name="Shape 29"/>
          <p:cNvSpPr/>
          <p:nvPr/>
        </p:nvSpPr>
        <p:spPr>
          <a:xfrm>
            <a:off x="8759952" y="2971800"/>
            <a:ext cx="2971800" cy="585216"/>
          </a:xfrm>
          <a:prstGeom prst="rect">
            <a:avLst/>
          </a:prstGeom>
          <a:solidFill>
            <a:srgbClr val="E8F6FD"/>
          </a:solidFill>
          <a:ln/>
        </p:spPr>
      </p:sp>
      <p:sp>
        <p:nvSpPr>
          <p:cNvPr id="36" name="Text 30"/>
          <p:cNvSpPr txBox="1"/>
          <p:nvPr/>
        </p:nvSpPr>
        <p:spPr>
          <a:xfrm>
            <a:off x="8897112" y="2971800"/>
            <a:ext cx="2697480" cy="585216"/>
          </a:xfrm>
          <a:prstGeom prst="rect">
            <a:avLst/>
          </a:prstGeom>
          <a:noFill/>
          <a:ln/>
        </p:spPr>
        <p:txBody>
          <a:bodyPr wrap="square" lIns="0" tIns="0" rIns="0" bIns="0" rtlCol="0" anchor="ctr"/>
          <a:lstStyle/>
          <a:p>
            <a:pPr marL="0" indent="0">
              <a:buNone/>
            </a:pPr>
            <a:r>
              <a:rPr lang="en-US" sz="1300" dirty="0">
                <a:solidFill>
                  <a:srgbClr val="1E2A3A"/>
                </a:solidFill>
                <a:latin typeface="Arial" pitchFamily="34" charset="0"/>
                <a:ea typeface="Arial" pitchFamily="34" charset="-122"/>
                <a:cs typeface="Arial" pitchFamily="34" charset="-120"/>
              </a:rPr>
              <a:t>We add a framing layer</a:t>
            </a:r>
            <a:endParaRPr lang="en-US" sz="1300" dirty="0"/>
          </a:p>
        </p:txBody>
      </p:sp>
      <p:sp>
        <p:nvSpPr>
          <p:cNvPr id="37" name="Shape 31"/>
          <p:cNvSpPr/>
          <p:nvPr/>
        </p:nvSpPr>
        <p:spPr>
          <a:xfrm>
            <a:off x="457200" y="3611880"/>
            <a:ext cx="2240280" cy="585216"/>
          </a:xfrm>
          <a:prstGeom prst="rect">
            <a:avLst/>
          </a:prstGeom>
          <a:solidFill>
            <a:srgbClr val="17365D"/>
          </a:solidFill>
          <a:ln/>
        </p:spPr>
      </p:sp>
      <p:sp>
        <p:nvSpPr>
          <p:cNvPr id="38" name="Text 32"/>
          <p:cNvSpPr txBox="1"/>
          <p:nvPr/>
        </p:nvSpPr>
        <p:spPr>
          <a:xfrm>
            <a:off x="594360" y="3611880"/>
            <a:ext cx="2011680" cy="585216"/>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Block size B</a:t>
            </a:r>
            <a:endParaRPr lang="en-US" sz="1350" dirty="0"/>
          </a:p>
        </p:txBody>
      </p:sp>
      <p:sp>
        <p:nvSpPr>
          <p:cNvPr id="39" name="Shape 33"/>
          <p:cNvSpPr/>
          <p:nvPr/>
        </p:nvSpPr>
        <p:spPr>
          <a:xfrm>
            <a:off x="2743200" y="3611880"/>
            <a:ext cx="2971800" cy="585216"/>
          </a:xfrm>
          <a:prstGeom prst="rect">
            <a:avLst/>
          </a:prstGeom>
          <a:solidFill>
            <a:srgbClr val="C9EDFB"/>
          </a:solidFill>
          <a:ln/>
        </p:spPr>
      </p:sp>
      <p:sp>
        <p:nvSpPr>
          <p:cNvPr id="40" name="Text 34"/>
          <p:cNvSpPr txBox="1"/>
          <p:nvPr/>
        </p:nvSpPr>
        <p:spPr>
          <a:xfrm>
            <a:off x="2880360" y="3611880"/>
            <a:ext cx="2697480" cy="585216"/>
          </a:xfrm>
          <a:prstGeom prst="rect">
            <a:avLst/>
          </a:prstGeom>
          <a:noFill/>
          <a:ln/>
        </p:spPr>
        <p:txBody>
          <a:bodyPr wrap="square" lIns="0" tIns="0" rIns="0" bIns="0" rtlCol="0" anchor="ctr"/>
          <a:lstStyle/>
          <a:p>
            <a:pPr marL="0" indent="0">
              <a:buNone/>
            </a:pPr>
            <a:r>
              <a:rPr lang="en-US" sz="1600" b="1" dirty="0">
                <a:solidFill>
                  <a:srgbClr val="17365D"/>
                </a:solidFill>
                <a:latin typeface="Arial" pitchFamily="34" charset="0"/>
                <a:ea typeface="Arial" pitchFamily="34" charset="-122"/>
                <a:cs typeface="Arial" pitchFamily="34" charset="-120"/>
              </a:rPr>
              <a:t>1450 B</a:t>
            </a:r>
            <a:endParaRPr lang="en-US" sz="1600" dirty="0"/>
          </a:p>
        </p:txBody>
      </p:sp>
      <p:sp>
        <p:nvSpPr>
          <p:cNvPr id="41" name="Shape 35"/>
          <p:cNvSpPr/>
          <p:nvPr/>
        </p:nvSpPr>
        <p:spPr>
          <a:xfrm>
            <a:off x="5751576" y="3611880"/>
            <a:ext cx="2971800" cy="585216"/>
          </a:xfrm>
          <a:prstGeom prst="rect">
            <a:avLst/>
          </a:prstGeom>
          <a:solidFill>
            <a:srgbClr val="C9EDFB"/>
          </a:solidFill>
          <a:ln/>
        </p:spPr>
      </p:sp>
      <p:sp>
        <p:nvSpPr>
          <p:cNvPr id="42" name="Text 36"/>
          <p:cNvSpPr txBox="1"/>
          <p:nvPr/>
        </p:nvSpPr>
        <p:spPr>
          <a:xfrm>
            <a:off x="5888736" y="3611880"/>
            <a:ext cx="2697480" cy="585216"/>
          </a:xfrm>
          <a:prstGeom prst="rect">
            <a:avLst/>
          </a:prstGeom>
          <a:noFill/>
          <a:ln/>
        </p:spPr>
        <p:txBody>
          <a:bodyPr wrap="square" lIns="0" tIns="0" rIns="0" bIns="0" rtlCol="0" anchor="ctr"/>
          <a:lstStyle/>
          <a:p>
            <a:pPr marL="0" indent="0">
              <a:buNone/>
            </a:pPr>
            <a:r>
              <a:rPr lang="en-US" sz="1600" b="1" dirty="0">
                <a:solidFill>
                  <a:srgbClr val="17365D"/>
                </a:solidFill>
                <a:latin typeface="Arial" pitchFamily="34" charset="0"/>
                <a:ea typeface="Arial" pitchFamily="34" charset="-122"/>
                <a:cs typeface="Arial" pitchFamily="34" charset="-120"/>
              </a:rPr>
              <a:t>47 B</a:t>
            </a:r>
            <a:endParaRPr lang="en-US" sz="1600" dirty="0"/>
          </a:p>
        </p:txBody>
      </p:sp>
      <p:sp>
        <p:nvSpPr>
          <p:cNvPr id="43" name="Shape 37"/>
          <p:cNvSpPr/>
          <p:nvPr/>
        </p:nvSpPr>
        <p:spPr>
          <a:xfrm>
            <a:off x="8759952" y="3611880"/>
            <a:ext cx="2971800" cy="585216"/>
          </a:xfrm>
          <a:prstGeom prst="rect">
            <a:avLst/>
          </a:prstGeom>
          <a:solidFill>
            <a:srgbClr val="C9EDFB"/>
          </a:solidFill>
          <a:ln/>
        </p:spPr>
      </p:sp>
      <p:sp>
        <p:nvSpPr>
          <p:cNvPr id="44" name="Text 38"/>
          <p:cNvSpPr txBox="1"/>
          <p:nvPr/>
        </p:nvSpPr>
        <p:spPr>
          <a:xfrm>
            <a:off x="8897112" y="3611880"/>
            <a:ext cx="2697480" cy="585216"/>
          </a:xfrm>
          <a:prstGeom prst="rect">
            <a:avLst/>
          </a:prstGeom>
          <a:noFill/>
          <a:ln/>
        </p:spPr>
        <p:txBody>
          <a:bodyPr wrap="square" lIns="0" tIns="0" rIns="0" bIns="0" rtlCol="0" anchor="ctr"/>
          <a:lstStyle/>
          <a:p>
            <a:pPr marL="0" indent="0">
              <a:buNone/>
            </a:pPr>
            <a:r>
              <a:rPr lang="en-US" sz="1600" b="1" dirty="0">
                <a:solidFill>
                  <a:srgbClr val="17365D"/>
                </a:solidFill>
                <a:latin typeface="Arial" pitchFamily="34" charset="0"/>
                <a:ea typeface="Arial" pitchFamily="34" charset="-122"/>
                <a:cs typeface="Arial" pitchFamily="34" charset="-120"/>
              </a:rPr>
              <a:t>47 B (matches CAN-FD)</a:t>
            </a:r>
            <a:endParaRPr lang="en-US" sz="1600" dirty="0"/>
          </a:p>
        </p:txBody>
      </p:sp>
      <p:sp>
        <p:nvSpPr>
          <p:cNvPr id="45" name="Shape 39"/>
          <p:cNvSpPr/>
          <p:nvPr/>
        </p:nvSpPr>
        <p:spPr>
          <a:xfrm>
            <a:off x="457200" y="4251960"/>
            <a:ext cx="2240280" cy="585216"/>
          </a:xfrm>
          <a:prstGeom prst="rect">
            <a:avLst/>
          </a:prstGeom>
          <a:solidFill>
            <a:srgbClr val="D6EEFA"/>
          </a:solidFill>
          <a:ln/>
        </p:spPr>
      </p:sp>
      <p:sp>
        <p:nvSpPr>
          <p:cNvPr id="46" name="Text 40"/>
          <p:cNvSpPr txBox="1"/>
          <p:nvPr/>
        </p:nvSpPr>
        <p:spPr>
          <a:xfrm>
            <a:off x="594360" y="4251960"/>
            <a:ext cx="2011680" cy="585216"/>
          </a:xfrm>
          <a:prstGeom prst="rect">
            <a:avLst/>
          </a:prstGeom>
          <a:noFill/>
          <a:ln/>
        </p:spPr>
        <p:txBody>
          <a:bodyPr wrap="square" lIns="0" tIns="0" rIns="0" bIns="0" rtlCol="0" anchor="ctr"/>
          <a:lstStyle/>
          <a:p>
            <a:pPr marL="0" indent="0">
              <a:buNone/>
            </a:pPr>
            <a:r>
              <a:rPr lang="en-US" sz="1350" b="1" dirty="0">
                <a:solidFill>
                  <a:srgbClr val="17365D"/>
                </a:solidFill>
                <a:latin typeface="Arial" pitchFamily="34" charset="0"/>
                <a:ea typeface="Arial" pitchFamily="34" charset="-122"/>
                <a:cs typeface="Arial" pitchFamily="34" charset="-120"/>
              </a:rPr>
              <a:t>Native delivery</a:t>
            </a:r>
            <a:endParaRPr lang="en-US" sz="1350" dirty="0"/>
          </a:p>
        </p:txBody>
      </p:sp>
      <p:sp>
        <p:nvSpPr>
          <p:cNvPr id="47" name="Shape 41"/>
          <p:cNvSpPr/>
          <p:nvPr/>
        </p:nvSpPr>
        <p:spPr>
          <a:xfrm>
            <a:off x="2743200" y="4251960"/>
            <a:ext cx="2971800" cy="585216"/>
          </a:xfrm>
          <a:prstGeom prst="rect">
            <a:avLst/>
          </a:prstGeom>
          <a:solidFill>
            <a:srgbClr val="E8F6FD"/>
          </a:solidFill>
          <a:ln/>
        </p:spPr>
      </p:sp>
      <p:sp>
        <p:nvSpPr>
          <p:cNvPr id="48" name="Text 42"/>
          <p:cNvSpPr txBox="1"/>
          <p:nvPr/>
        </p:nvSpPr>
        <p:spPr>
          <a:xfrm>
            <a:off x="2880360" y="4251960"/>
            <a:ext cx="2697480" cy="585216"/>
          </a:xfrm>
          <a:prstGeom prst="rect">
            <a:avLst/>
          </a:prstGeom>
          <a:noFill/>
          <a:ln/>
        </p:spPr>
        <p:txBody>
          <a:bodyPr wrap="square" lIns="0" tIns="0" rIns="0" bIns="0" rtlCol="0" anchor="ctr"/>
          <a:lstStyle/>
          <a:p>
            <a:pPr marL="0" indent="0">
              <a:buNone/>
            </a:pPr>
            <a:r>
              <a:rPr lang="en-US" sz="1300" dirty="0">
                <a:solidFill>
                  <a:srgbClr val="1E2A3A"/>
                </a:solidFill>
                <a:latin typeface="Arial" pitchFamily="34" charset="0"/>
                <a:ea typeface="Arial" pitchFamily="34" charset="-122"/>
                <a:cs typeface="Arial" pitchFamily="34" charset="-120"/>
              </a:rPr>
              <a:t>Unordered, lossy</a:t>
            </a:r>
            <a:endParaRPr lang="en-US" sz="1300" dirty="0"/>
          </a:p>
        </p:txBody>
      </p:sp>
      <p:sp>
        <p:nvSpPr>
          <p:cNvPr id="49" name="Shape 43"/>
          <p:cNvSpPr/>
          <p:nvPr/>
        </p:nvSpPr>
        <p:spPr>
          <a:xfrm>
            <a:off x="5751576" y="4251960"/>
            <a:ext cx="2971800" cy="585216"/>
          </a:xfrm>
          <a:prstGeom prst="rect">
            <a:avLst/>
          </a:prstGeom>
          <a:solidFill>
            <a:srgbClr val="E8F6FD"/>
          </a:solidFill>
          <a:ln/>
        </p:spPr>
      </p:sp>
      <p:sp>
        <p:nvSpPr>
          <p:cNvPr id="50" name="Text 44"/>
          <p:cNvSpPr txBox="1"/>
          <p:nvPr/>
        </p:nvSpPr>
        <p:spPr>
          <a:xfrm>
            <a:off x="5888736" y="4251960"/>
            <a:ext cx="2697480" cy="585216"/>
          </a:xfrm>
          <a:prstGeom prst="rect">
            <a:avLst/>
          </a:prstGeom>
          <a:noFill/>
          <a:ln/>
        </p:spPr>
        <p:txBody>
          <a:bodyPr wrap="square" lIns="0" tIns="0" rIns="0" bIns="0" rtlCol="0" anchor="ctr"/>
          <a:lstStyle/>
          <a:p>
            <a:pPr marL="0" indent="0">
              <a:buNone/>
            </a:pPr>
            <a:r>
              <a:rPr lang="en-US" sz="1300" dirty="0">
                <a:solidFill>
                  <a:srgbClr val="1E2A3A"/>
                </a:solidFill>
                <a:latin typeface="Arial" pitchFamily="34" charset="0"/>
                <a:ea typeface="Arial" pitchFamily="34" charset="-122"/>
                <a:cs typeface="Arial" pitchFamily="34" charset="-120"/>
              </a:rPr>
              <a:t>Prioritised, lossy</a:t>
            </a:r>
            <a:endParaRPr lang="en-US" sz="1300" dirty="0"/>
          </a:p>
        </p:txBody>
      </p:sp>
      <p:sp>
        <p:nvSpPr>
          <p:cNvPr id="51" name="Shape 45"/>
          <p:cNvSpPr/>
          <p:nvPr/>
        </p:nvSpPr>
        <p:spPr>
          <a:xfrm>
            <a:off x="8759952" y="4251960"/>
            <a:ext cx="2971800" cy="585216"/>
          </a:xfrm>
          <a:prstGeom prst="rect">
            <a:avLst/>
          </a:prstGeom>
          <a:solidFill>
            <a:srgbClr val="E8F6FD"/>
          </a:solidFill>
          <a:ln/>
        </p:spPr>
      </p:sp>
      <p:sp>
        <p:nvSpPr>
          <p:cNvPr id="52" name="Text 46"/>
          <p:cNvSpPr txBox="1"/>
          <p:nvPr/>
        </p:nvSpPr>
        <p:spPr>
          <a:xfrm>
            <a:off x="8897112" y="4251960"/>
            <a:ext cx="2697480" cy="585216"/>
          </a:xfrm>
          <a:prstGeom prst="rect">
            <a:avLst/>
          </a:prstGeom>
          <a:noFill/>
          <a:ln/>
        </p:spPr>
        <p:txBody>
          <a:bodyPr wrap="square" lIns="0" tIns="0" rIns="0" bIns="0" rtlCol="0" anchor="ctr"/>
          <a:lstStyle/>
          <a:p>
            <a:pPr marL="0" indent="0">
              <a:buNone/>
            </a:pPr>
            <a:r>
              <a:rPr lang="en-US" sz="1300" dirty="0">
                <a:solidFill>
                  <a:srgbClr val="1E2A3A"/>
                </a:solidFill>
                <a:latin typeface="Arial" pitchFamily="34" charset="0"/>
                <a:ea typeface="Arial" pitchFamily="34" charset="-122"/>
                <a:cs typeface="Arial" pitchFamily="34" charset="-120"/>
              </a:rPr>
              <a:t>In-order; treated as lossy</a:t>
            </a:r>
            <a:endParaRPr lang="en-US" sz="1300" dirty="0"/>
          </a:p>
        </p:txBody>
      </p:sp>
      <p:sp>
        <p:nvSpPr>
          <p:cNvPr id="53" name="Shape 47"/>
          <p:cNvSpPr/>
          <p:nvPr/>
        </p:nvSpPr>
        <p:spPr>
          <a:xfrm>
            <a:off x="457200" y="4892040"/>
            <a:ext cx="2240280" cy="585216"/>
          </a:xfrm>
          <a:prstGeom prst="rect">
            <a:avLst/>
          </a:prstGeom>
          <a:solidFill>
            <a:srgbClr val="D6EEFA"/>
          </a:solidFill>
          <a:ln/>
        </p:spPr>
      </p:sp>
      <p:sp>
        <p:nvSpPr>
          <p:cNvPr id="54" name="Text 48"/>
          <p:cNvSpPr txBox="1"/>
          <p:nvPr/>
        </p:nvSpPr>
        <p:spPr>
          <a:xfrm>
            <a:off x="594360" y="4892040"/>
            <a:ext cx="2011680" cy="585216"/>
          </a:xfrm>
          <a:prstGeom prst="rect">
            <a:avLst/>
          </a:prstGeom>
          <a:noFill/>
          <a:ln/>
        </p:spPr>
        <p:txBody>
          <a:bodyPr wrap="square" lIns="0" tIns="0" rIns="0" bIns="0" rtlCol="0" anchor="ctr"/>
          <a:lstStyle/>
          <a:p>
            <a:pPr marL="0" indent="0">
              <a:buNone/>
            </a:pPr>
            <a:r>
              <a:rPr lang="en-US" sz="1350" b="1" dirty="0">
                <a:solidFill>
                  <a:srgbClr val="17365D"/>
                </a:solidFill>
                <a:latin typeface="Arial" pitchFamily="34" charset="0"/>
                <a:ea typeface="Arial" pitchFamily="34" charset="-122"/>
                <a:cs typeface="Arial" pitchFamily="34" charset="-120"/>
              </a:rPr>
              <a:t>Built-in check</a:t>
            </a:r>
            <a:endParaRPr lang="en-US" sz="1350" dirty="0"/>
          </a:p>
        </p:txBody>
      </p:sp>
      <p:sp>
        <p:nvSpPr>
          <p:cNvPr id="55" name="Shape 49"/>
          <p:cNvSpPr/>
          <p:nvPr/>
        </p:nvSpPr>
        <p:spPr>
          <a:xfrm>
            <a:off x="2743200" y="4892040"/>
            <a:ext cx="2971800" cy="585216"/>
          </a:xfrm>
          <a:prstGeom prst="rect">
            <a:avLst/>
          </a:prstGeom>
          <a:solidFill>
            <a:srgbClr val="FFFFFF"/>
          </a:solidFill>
          <a:ln/>
        </p:spPr>
      </p:sp>
      <p:sp>
        <p:nvSpPr>
          <p:cNvPr id="56" name="Text 50"/>
          <p:cNvSpPr txBox="1"/>
          <p:nvPr/>
        </p:nvSpPr>
        <p:spPr>
          <a:xfrm>
            <a:off x="2880360" y="4892040"/>
            <a:ext cx="2697480" cy="585216"/>
          </a:xfrm>
          <a:prstGeom prst="rect">
            <a:avLst/>
          </a:prstGeom>
          <a:noFill/>
          <a:ln/>
        </p:spPr>
        <p:txBody>
          <a:bodyPr wrap="square" lIns="0" tIns="0" rIns="0" bIns="0" rtlCol="0" anchor="ctr"/>
          <a:lstStyle/>
          <a:p>
            <a:pPr marL="0" indent="0">
              <a:buNone/>
            </a:pPr>
            <a:r>
              <a:rPr lang="en-US" sz="1300" dirty="0">
                <a:solidFill>
                  <a:srgbClr val="1E2A3A"/>
                </a:solidFill>
                <a:latin typeface="Arial" pitchFamily="34" charset="0"/>
                <a:ea typeface="Arial" pitchFamily="34" charset="-122"/>
                <a:cs typeface="Arial" pitchFamily="34" charset="-120"/>
              </a:rPr>
              <a:t>UDP checksum</a:t>
            </a:r>
            <a:endParaRPr lang="en-US" sz="1300" dirty="0"/>
          </a:p>
        </p:txBody>
      </p:sp>
      <p:sp>
        <p:nvSpPr>
          <p:cNvPr id="57" name="Shape 51"/>
          <p:cNvSpPr/>
          <p:nvPr/>
        </p:nvSpPr>
        <p:spPr>
          <a:xfrm>
            <a:off x="5751576" y="4892040"/>
            <a:ext cx="2971800" cy="585216"/>
          </a:xfrm>
          <a:prstGeom prst="rect">
            <a:avLst/>
          </a:prstGeom>
          <a:solidFill>
            <a:srgbClr val="FFFFFF"/>
          </a:solidFill>
          <a:ln/>
        </p:spPr>
      </p:sp>
      <p:sp>
        <p:nvSpPr>
          <p:cNvPr id="58" name="Text 52"/>
          <p:cNvSpPr txBox="1"/>
          <p:nvPr/>
        </p:nvSpPr>
        <p:spPr>
          <a:xfrm>
            <a:off x="5888736" y="4892040"/>
            <a:ext cx="2697480" cy="585216"/>
          </a:xfrm>
          <a:prstGeom prst="rect">
            <a:avLst/>
          </a:prstGeom>
          <a:noFill/>
          <a:ln/>
        </p:spPr>
        <p:txBody>
          <a:bodyPr wrap="square" lIns="0" tIns="0" rIns="0" bIns="0" rtlCol="0" anchor="ctr"/>
          <a:lstStyle/>
          <a:p>
            <a:pPr marL="0" indent="0">
              <a:buNone/>
            </a:pPr>
            <a:r>
              <a:rPr lang="en-US" sz="1300" dirty="0">
                <a:solidFill>
                  <a:srgbClr val="1E2A3A"/>
                </a:solidFill>
                <a:latin typeface="Arial" pitchFamily="34" charset="0"/>
                <a:ea typeface="Arial" pitchFamily="34" charset="-122"/>
                <a:cs typeface="Arial" pitchFamily="34" charset="-120"/>
              </a:rPr>
              <a:t>CRC</a:t>
            </a:r>
            <a:endParaRPr lang="en-US" sz="1300" dirty="0"/>
          </a:p>
        </p:txBody>
      </p:sp>
      <p:sp>
        <p:nvSpPr>
          <p:cNvPr id="59" name="Shape 53"/>
          <p:cNvSpPr/>
          <p:nvPr/>
        </p:nvSpPr>
        <p:spPr>
          <a:xfrm>
            <a:off x="8759952" y="4892040"/>
            <a:ext cx="2971800" cy="585216"/>
          </a:xfrm>
          <a:prstGeom prst="rect">
            <a:avLst/>
          </a:prstGeom>
          <a:solidFill>
            <a:srgbClr val="FFFFFF"/>
          </a:solidFill>
          <a:ln/>
        </p:spPr>
      </p:sp>
      <p:sp>
        <p:nvSpPr>
          <p:cNvPr id="60" name="Text 54"/>
          <p:cNvSpPr txBox="1"/>
          <p:nvPr/>
        </p:nvSpPr>
        <p:spPr>
          <a:xfrm>
            <a:off x="8897112" y="4892040"/>
            <a:ext cx="2697480" cy="585216"/>
          </a:xfrm>
          <a:prstGeom prst="rect">
            <a:avLst/>
          </a:prstGeom>
          <a:noFill/>
          <a:ln/>
        </p:spPr>
        <p:txBody>
          <a:bodyPr wrap="square" lIns="0" tIns="0" rIns="0" bIns="0" rtlCol="0" anchor="ctr"/>
          <a:lstStyle/>
          <a:p>
            <a:pPr marL="0" indent="0">
              <a:buNone/>
            </a:pPr>
            <a:r>
              <a:rPr lang="en-US" sz="1300" dirty="0">
                <a:solidFill>
                  <a:srgbClr val="1E2A3A"/>
                </a:solidFill>
                <a:latin typeface="Arial" pitchFamily="34" charset="0"/>
                <a:ea typeface="Arial" pitchFamily="34" charset="-122"/>
                <a:cs typeface="Arial" pitchFamily="34" charset="-120"/>
              </a:rPr>
              <a:t>Parity</a:t>
            </a:r>
            <a:endParaRPr lang="en-US" sz="1300" dirty="0"/>
          </a:p>
        </p:txBody>
      </p:sp>
      <p:sp>
        <p:nvSpPr>
          <p:cNvPr id="61" name="Shape 55"/>
          <p:cNvSpPr/>
          <p:nvPr/>
        </p:nvSpPr>
        <p:spPr>
          <a:xfrm>
            <a:off x="457200" y="5532120"/>
            <a:ext cx="2240280" cy="585216"/>
          </a:xfrm>
          <a:prstGeom prst="rect">
            <a:avLst/>
          </a:prstGeom>
          <a:solidFill>
            <a:srgbClr val="D6EEFA"/>
          </a:solidFill>
          <a:ln/>
        </p:spPr>
      </p:sp>
      <p:sp>
        <p:nvSpPr>
          <p:cNvPr id="62" name="Text 56"/>
          <p:cNvSpPr txBox="1"/>
          <p:nvPr/>
        </p:nvSpPr>
        <p:spPr>
          <a:xfrm>
            <a:off x="594360" y="5532120"/>
            <a:ext cx="2011680" cy="585216"/>
          </a:xfrm>
          <a:prstGeom prst="rect">
            <a:avLst/>
          </a:prstGeom>
          <a:noFill/>
          <a:ln/>
        </p:spPr>
        <p:txBody>
          <a:bodyPr wrap="square" lIns="0" tIns="0" rIns="0" bIns="0" rtlCol="0" anchor="ctr"/>
          <a:lstStyle/>
          <a:p>
            <a:pPr marL="0" indent="0">
              <a:buNone/>
            </a:pPr>
            <a:r>
              <a:rPr lang="en-US" sz="1350" b="1" dirty="0">
                <a:solidFill>
                  <a:srgbClr val="17365D"/>
                </a:solidFill>
                <a:latin typeface="Arial" pitchFamily="34" charset="0"/>
                <a:ea typeface="Arial" pitchFamily="34" charset="-122"/>
                <a:cs typeface="Arial" pitchFamily="34" charset="-120"/>
              </a:rPr>
              <a:t>In our updater</a:t>
            </a:r>
            <a:endParaRPr lang="en-US" sz="1350" dirty="0"/>
          </a:p>
        </p:txBody>
      </p:sp>
      <p:sp>
        <p:nvSpPr>
          <p:cNvPr id="63" name="Shape 57"/>
          <p:cNvSpPr/>
          <p:nvPr/>
        </p:nvSpPr>
        <p:spPr>
          <a:xfrm>
            <a:off x="2743200" y="5532120"/>
            <a:ext cx="2971800" cy="585216"/>
          </a:xfrm>
          <a:prstGeom prst="rect">
            <a:avLst/>
          </a:prstGeom>
          <a:solidFill>
            <a:srgbClr val="E8F6FD"/>
          </a:solidFill>
          <a:ln/>
        </p:spPr>
      </p:sp>
      <p:sp>
        <p:nvSpPr>
          <p:cNvPr id="64" name="Text 58"/>
          <p:cNvSpPr txBox="1"/>
          <p:nvPr/>
        </p:nvSpPr>
        <p:spPr>
          <a:xfrm>
            <a:off x="2880360" y="5532120"/>
            <a:ext cx="2697480" cy="585216"/>
          </a:xfrm>
          <a:prstGeom prst="rect">
            <a:avLst/>
          </a:prstGeom>
          <a:noFill/>
          <a:ln/>
        </p:spPr>
        <p:txBody>
          <a:bodyPr wrap="square" lIns="0" tIns="0" rIns="0" bIns="0" rtlCol="0" anchor="ctr"/>
          <a:lstStyle/>
          <a:p>
            <a:pPr marL="0" indent="0">
              <a:buNone/>
            </a:pPr>
            <a:r>
              <a:rPr lang="en-US" sz="1300" dirty="0">
                <a:solidFill>
                  <a:srgbClr val="1E2A3A"/>
                </a:solidFill>
                <a:latin typeface="Arial" pitchFamily="34" charset="0"/>
                <a:ea typeface="Arial" pitchFamily="34" charset="-122"/>
                <a:cs typeface="Arial" pitchFamily="34" charset="-120"/>
              </a:rPr>
              <a:t>lwIP stack on the master</a:t>
            </a:r>
            <a:endParaRPr lang="en-US" sz="1300" dirty="0"/>
          </a:p>
        </p:txBody>
      </p:sp>
      <p:sp>
        <p:nvSpPr>
          <p:cNvPr id="65" name="Shape 59"/>
          <p:cNvSpPr/>
          <p:nvPr/>
        </p:nvSpPr>
        <p:spPr>
          <a:xfrm>
            <a:off x="5751576" y="5532120"/>
            <a:ext cx="2971800" cy="585216"/>
          </a:xfrm>
          <a:prstGeom prst="rect">
            <a:avLst/>
          </a:prstGeom>
          <a:solidFill>
            <a:srgbClr val="E8F6FD"/>
          </a:solidFill>
          <a:ln/>
        </p:spPr>
      </p:sp>
      <p:sp>
        <p:nvSpPr>
          <p:cNvPr id="66" name="Text 60"/>
          <p:cNvSpPr txBox="1"/>
          <p:nvPr/>
        </p:nvSpPr>
        <p:spPr>
          <a:xfrm>
            <a:off x="5888736" y="5532120"/>
            <a:ext cx="2697480" cy="585216"/>
          </a:xfrm>
          <a:prstGeom prst="rect">
            <a:avLst/>
          </a:prstGeom>
          <a:noFill/>
          <a:ln/>
        </p:spPr>
        <p:txBody>
          <a:bodyPr wrap="square" lIns="0" tIns="0" rIns="0" bIns="0" rtlCol="0" anchor="ctr"/>
          <a:lstStyle/>
          <a:p>
            <a:pPr marL="0" indent="0">
              <a:buNone/>
            </a:pPr>
            <a:r>
              <a:rPr lang="en-US" sz="1300" dirty="0">
                <a:solidFill>
                  <a:srgbClr val="1E2A3A"/>
                </a:solidFill>
                <a:latin typeface="Arial" pitchFamily="34" charset="0"/>
                <a:ea typeface="Arial" pitchFamily="34" charset="-122"/>
                <a:cs typeface="Arial" pitchFamily="34" charset="-120"/>
              </a:rPr>
              <a:t>Dedicated bus; master is sender</a:t>
            </a:r>
            <a:endParaRPr lang="en-US" sz="1300" dirty="0"/>
          </a:p>
        </p:txBody>
      </p:sp>
      <p:sp>
        <p:nvSpPr>
          <p:cNvPr id="67" name="Shape 61"/>
          <p:cNvSpPr/>
          <p:nvPr/>
        </p:nvSpPr>
        <p:spPr>
          <a:xfrm>
            <a:off x="8759952" y="5532120"/>
            <a:ext cx="2971800" cy="585216"/>
          </a:xfrm>
          <a:prstGeom prst="rect">
            <a:avLst/>
          </a:prstGeom>
          <a:solidFill>
            <a:srgbClr val="E8F6FD"/>
          </a:solidFill>
          <a:ln/>
        </p:spPr>
      </p:sp>
      <p:sp>
        <p:nvSpPr>
          <p:cNvPr id="68" name="Text 62"/>
          <p:cNvSpPr txBox="1"/>
          <p:nvPr/>
        </p:nvSpPr>
        <p:spPr>
          <a:xfrm>
            <a:off x="8897112" y="5532120"/>
            <a:ext cx="2697480" cy="585216"/>
          </a:xfrm>
          <a:prstGeom prst="rect">
            <a:avLst/>
          </a:prstGeom>
          <a:noFill/>
          <a:ln/>
        </p:spPr>
        <p:txBody>
          <a:bodyPr wrap="square" lIns="0" tIns="0" rIns="0" bIns="0" rtlCol="0" anchor="ctr"/>
          <a:lstStyle/>
          <a:p>
            <a:pPr marL="0" indent="0">
              <a:buNone/>
            </a:pPr>
            <a:r>
              <a:rPr lang="en-US" sz="1300" dirty="0">
                <a:solidFill>
                  <a:srgbClr val="1E2A3A"/>
                </a:solidFill>
                <a:latin typeface="Arial" pitchFamily="34" charset="0"/>
                <a:ea typeface="Arial" pitchFamily="34" charset="-122"/>
                <a:cs typeface="Arial" pitchFamily="34" charset="-120"/>
              </a:rPr>
              <a:t>Half-duplex line, 115200 baud</a:t>
            </a:r>
            <a:endParaRPr lang="en-US" sz="1300" dirty="0"/>
          </a:p>
        </p:txBody>
      </p:sp>
      <p:sp>
        <p:nvSpPr>
          <p:cNvPr id="3" name="Slide Number Placeholder 0"/>
          <p:cNvSpPr>
            <a:spLocks noGrp="1"/>
          </p:cNvSpPr>
          <p:nvPr>
            <p:ph type="sldNum" sz="quarter" idx="4294967295"/>
          </p:nvPr>
        </p:nvSpPr>
        <p:spPr>
          <a:xfrm>
            <a:off x="1138428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A"/>
                </a:solidFill>
                <a:latin typeface="Arial"/>
                <a:ea typeface="Arial"/>
                <a:cs typeface="Aria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6576"/>
            <a:ext cx="8686800" cy="420624"/>
          </a:xfrm>
          <a:prstGeom prst="rect">
            <a:avLst/>
          </a:prstGeom>
          <a:noFill/>
          <a:ln/>
        </p:spPr>
        <p:txBody>
          <a:bodyPr wrap="square" lIns="0" tIns="0" rIns="0" bIns="0" rtlCol="0" anchor="ctr"/>
          <a:lstStyle/>
          <a:p>
            <a:pPr marL="0" indent="0">
              <a:buNone/>
            </a:pPr>
            <a:r>
              <a:rPr lang="en-US" sz="2400" b="1" dirty="0">
                <a:solidFill>
                  <a:srgbClr val="1F5A9E"/>
                </a:solidFill>
                <a:latin typeface="Arial" pitchFamily="34" charset="0"/>
                <a:ea typeface="Arial" pitchFamily="34" charset="-122"/>
                <a:cs typeface="Arial" pitchFamily="34" charset="-120"/>
              </a:rPr>
              <a:t>Block Size Division</a:t>
            </a:r>
            <a:endParaRPr lang="en-US" sz="2400" dirty="0"/>
          </a:p>
        </p:txBody>
      </p:sp>
      <p:sp>
        <p:nvSpPr>
          <p:cNvPr id="4" name="Text 1"/>
          <p:cNvSpPr txBox="1"/>
          <p:nvPr/>
        </p:nvSpPr>
        <p:spPr>
          <a:xfrm>
            <a:off x="457200" y="1005840"/>
            <a:ext cx="7315200" cy="365760"/>
          </a:xfrm>
          <a:prstGeom prst="rect">
            <a:avLst/>
          </a:prstGeom>
          <a:noFill/>
          <a:ln/>
        </p:spPr>
        <p:txBody>
          <a:bodyPr wrap="square" lIns="0" tIns="0" rIns="0" bIns="0" rtlCol="0" anchor="t"/>
          <a:lstStyle/>
          <a:p>
            <a:pPr marL="0" indent="0">
              <a:buNone/>
            </a:pPr>
            <a:r>
              <a:rPr lang="en-US" sz="1600" b="1" dirty="0">
                <a:solidFill>
                  <a:srgbClr val="17365D"/>
                </a:solidFill>
                <a:latin typeface="Arial" pitchFamily="34" charset="0"/>
                <a:ea typeface="Arial" pitchFamily="34" charset="-122"/>
                <a:cs typeface="Arial" pitchFamily="34" charset="-120"/>
              </a:rPr>
              <a:t>UDP / Ethernet: 1500 B MTU</a:t>
            </a:r>
            <a:endParaRPr lang="en-US" sz="1600" dirty="0"/>
          </a:p>
        </p:txBody>
      </p:sp>
      <p:sp>
        <p:nvSpPr>
          <p:cNvPr id="5" name="Shape 2"/>
          <p:cNvSpPr/>
          <p:nvPr/>
        </p:nvSpPr>
        <p:spPr>
          <a:xfrm>
            <a:off x="457200" y="1417320"/>
            <a:ext cx="566928" cy="685800"/>
          </a:xfrm>
          <a:prstGeom prst="rect">
            <a:avLst/>
          </a:prstGeom>
          <a:solidFill>
            <a:srgbClr val="6B778A"/>
          </a:solidFill>
          <a:ln w="19050">
            <a:solidFill>
              <a:srgbClr val="FFFFFF"/>
            </a:solidFill>
            <a:prstDash val="solid"/>
          </a:ln>
        </p:spPr>
      </p:sp>
      <p:sp>
        <p:nvSpPr>
          <p:cNvPr id="6" name="Text 3"/>
          <p:cNvSpPr txBox="1"/>
          <p:nvPr/>
        </p:nvSpPr>
        <p:spPr>
          <a:xfrm>
            <a:off x="457200" y="1417320"/>
            <a:ext cx="566928" cy="685800"/>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IP 20</a:t>
            </a:r>
            <a:endParaRPr lang="en-US" sz="1150" dirty="0"/>
          </a:p>
        </p:txBody>
      </p:sp>
      <p:sp>
        <p:nvSpPr>
          <p:cNvPr id="7" name="Shape 4"/>
          <p:cNvSpPr/>
          <p:nvPr/>
        </p:nvSpPr>
        <p:spPr>
          <a:xfrm>
            <a:off x="1024128" y="1417320"/>
            <a:ext cx="566928" cy="685800"/>
          </a:xfrm>
          <a:prstGeom prst="rect">
            <a:avLst/>
          </a:prstGeom>
          <a:solidFill>
            <a:srgbClr val="8A94AA"/>
          </a:solidFill>
          <a:ln w="19050">
            <a:solidFill>
              <a:srgbClr val="FFFFFF"/>
            </a:solidFill>
            <a:prstDash val="solid"/>
          </a:ln>
        </p:spPr>
      </p:sp>
      <p:sp>
        <p:nvSpPr>
          <p:cNvPr id="8" name="Text 5"/>
          <p:cNvSpPr txBox="1"/>
          <p:nvPr/>
        </p:nvSpPr>
        <p:spPr>
          <a:xfrm>
            <a:off x="1024128" y="1417320"/>
            <a:ext cx="566928" cy="685800"/>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UDP 8</a:t>
            </a:r>
            <a:endParaRPr lang="en-US" sz="1150" dirty="0"/>
          </a:p>
        </p:txBody>
      </p:sp>
      <p:sp>
        <p:nvSpPr>
          <p:cNvPr id="9" name="Shape 6"/>
          <p:cNvSpPr/>
          <p:nvPr/>
        </p:nvSpPr>
        <p:spPr>
          <a:xfrm>
            <a:off x="1591056" y="1417320"/>
            <a:ext cx="640080" cy="685800"/>
          </a:xfrm>
          <a:prstGeom prst="rect">
            <a:avLst/>
          </a:prstGeom>
          <a:solidFill>
            <a:srgbClr val="1F6FB5"/>
          </a:solidFill>
          <a:ln w="19050">
            <a:solidFill>
              <a:srgbClr val="FFFFFF"/>
            </a:solidFill>
            <a:prstDash val="solid"/>
          </a:ln>
        </p:spPr>
      </p:sp>
      <p:sp>
        <p:nvSpPr>
          <p:cNvPr id="10" name="Text 7"/>
          <p:cNvSpPr txBox="1"/>
          <p:nvPr/>
        </p:nvSpPr>
        <p:spPr>
          <a:xfrm>
            <a:off x="1591056" y="1417320"/>
            <a:ext cx="640080" cy="685800"/>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Hdr 13</a:t>
            </a:r>
            <a:endParaRPr lang="en-US" sz="1150" dirty="0"/>
          </a:p>
        </p:txBody>
      </p:sp>
      <p:sp>
        <p:nvSpPr>
          <p:cNvPr id="11" name="Shape 8"/>
          <p:cNvSpPr/>
          <p:nvPr/>
        </p:nvSpPr>
        <p:spPr>
          <a:xfrm>
            <a:off x="2231136" y="1417320"/>
            <a:ext cx="5248656" cy="685800"/>
          </a:xfrm>
          <a:prstGeom prst="rect">
            <a:avLst/>
          </a:prstGeom>
          <a:solidFill>
            <a:srgbClr val="08A1D9"/>
          </a:solidFill>
          <a:ln w="19050">
            <a:solidFill>
              <a:srgbClr val="FFFFFF"/>
            </a:solidFill>
            <a:prstDash val="solid"/>
          </a:ln>
        </p:spPr>
      </p:sp>
      <p:sp>
        <p:nvSpPr>
          <p:cNvPr id="12" name="Text 9"/>
          <p:cNvSpPr txBox="1"/>
          <p:nvPr/>
        </p:nvSpPr>
        <p:spPr>
          <a:xfrm>
            <a:off x="2231136" y="1417320"/>
            <a:ext cx="5248656" cy="685800"/>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Block  B = 1450 B</a:t>
            </a:r>
            <a:endParaRPr lang="en-US" sz="1150" dirty="0"/>
          </a:p>
        </p:txBody>
      </p:sp>
      <p:sp>
        <p:nvSpPr>
          <p:cNvPr id="13" name="Shape 10"/>
          <p:cNvSpPr/>
          <p:nvPr/>
        </p:nvSpPr>
        <p:spPr>
          <a:xfrm>
            <a:off x="7479792" y="1417320"/>
            <a:ext cx="658368" cy="685800"/>
          </a:xfrm>
          <a:prstGeom prst="rect">
            <a:avLst/>
          </a:prstGeom>
          <a:solidFill>
            <a:srgbClr val="E3E8EE"/>
          </a:solidFill>
          <a:ln w="19050">
            <a:solidFill>
              <a:srgbClr val="FFFFFF"/>
            </a:solidFill>
            <a:prstDash val="solid"/>
          </a:ln>
        </p:spPr>
      </p:sp>
      <p:sp>
        <p:nvSpPr>
          <p:cNvPr id="14" name="Text 11"/>
          <p:cNvSpPr txBox="1"/>
          <p:nvPr/>
        </p:nvSpPr>
        <p:spPr>
          <a:xfrm>
            <a:off x="7479792" y="1417320"/>
            <a:ext cx="658368" cy="685800"/>
          </a:xfrm>
          <a:prstGeom prst="rect">
            <a:avLst/>
          </a:prstGeom>
          <a:noFill/>
          <a:ln/>
        </p:spPr>
        <p:txBody>
          <a:bodyPr wrap="square" lIns="0" tIns="0" rIns="0" bIns="0" rtlCol="0" anchor="ctr"/>
          <a:lstStyle/>
          <a:p>
            <a:pPr marL="0" indent="0" algn="ctr">
              <a:buNone/>
            </a:pPr>
            <a:r>
              <a:rPr lang="en-US" sz="1150" b="1" dirty="0">
                <a:solidFill>
                  <a:srgbClr val="5B6B7F"/>
                </a:solidFill>
                <a:latin typeface="Arial" pitchFamily="34" charset="0"/>
                <a:ea typeface="Arial" pitchFamily="34" charset="-122"/>
                <a:cs typeface="Arial" pitchFamily="34" charset="-120"/>
              </a:rPr>
              <a:t>9 spare</a:t>
            </a:r>
            <a:endParaRPr lang="en-US" sz="1150" dirty="0"/>
          </a:p>
        </p:txBody>
      </p:sp>
      <p:sp>
        <p:nvSpPr>
          <p:cNvPr id="15" name="Text 12"/>
          <p:cNvSpPr txBox="1"/>
          <p:nvPr/>
        </p:nvSpPr>
        <p:spPr>
          <a:xfrm>
            <a:off x="457200" y="2331720"/>
            <a:ext cx="7315200" cy="365760"/>
          </a:xfrm>
          <a:prstGeom prst="rect">
            <a:avLst/>
          </a:prstGeom>
          <a:noFill/>
          <a:ln/>
        </p:spPr>
        <p:txBody>
          <a:bodyPr wrap="square" lIns="0" tIns="0" rIns="0" bIns="0" rtlCol="0" anchor="t"/>
          <a:lstStyle/>
          <a:p>
            <a:pPr marL="0" indent="0">
              <a:buNone/>
            </a:pPr>
            <a:r>
              <a:rPr lang="en-US" sz="1600" b="1" dirty="0">
                <a:solidFill>
                  <a:srgbClr val="17365D"/>
                </a:solidFill>
                <a:latin typeface="Arial" pitchFamily="34" charset="0"/>
                <a:ea typeface="Arial" pitchFamily="34" charset="-122"/>
                <a:cs typeface="Arial" pitchFamily="34" charset="-120"/>
              </a:rPr>
              <a:t>CAN-FD: 64 B frame</a:t>
            </a:r>
            <a:endParaRPr lang="en-US" sz="1600" dirty="0"/>
          </a:p>
        </p:txBody>
      </p:sp>
      <p:sp>
        <p:nvSpPr>
          <p:cNvPr id="16" name="Shape 13"/>
          <p:cNvSpPr/>
          <p:nvPr/>
        </p:nvSpPr>
        <p:spPr>
          <a:xfrm>
            <a:off x="457200" y="2743200"/>
            <a:ext cx="914400" cy="685800"/>
          </a:xfrm>
          <a:prstGeom prst="rect">
            <a:avLst/>
          </a:prstGeom>
          <a:solidFill>
            <a:srgbClr val="6B778A"/>
          </a:solidFill>
          <a:ln w="19050">
            <a:solidFill>
              <a:srgbClr val="FFFFFF"/>
            </a:solidFill>
            <a:prstDash val="solid"/>
          </a:ln>
        </p:spPr>
      </p:sp>
      <p:sp>
        <p:nvSpPr>
          <p:cNvPr id="17" name="Text 14"/>
          <p:cNvSpPr txBox="1"/>
          <p:nvPr/>
        </p:nvSpPr>
        <p:spPr>
          <a:xfrm>
            <a:off x="457200" y="2743200"/>
            <a:ext cx="914400" cy="685800"/>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Link 4</a:t>
            </a:r>
            <a:endParaRPr lang="en-US" sz="1150" dirty="0"/>
          </a:p>
        </p:txBody>
      </p:sp>
      <p:sp>
        <p:nvSpPr>
          <p:cNvPr id="18" name="Shape 15"/>
          <p:cNvSpPr/>
          <p:nvPr/>
        </p:nvSpPr>
        <p:spPr>
          <a:xfrm>
            <a:off x="1371600" y="2743200"/>
            <a:ext cx="1828800" cy="685800"/>
          </a:xfrm>
          <a:prstGeom prst="rect">
            <a:avLst/>
          </a:prstGeom>
          <a:solidFill>
            <a:srgbClr val="1F6FB5"/>
          </a:solidFill>
          <a:ln w="19050">
            <a:solidFill>
              <a:srgbClr val="FFFFFF"/>
            </a:solidFill>
            <a:prstDash val="solid"/>
          </a:ln>
        </p:spPr>
      </p:sp>
      <p:sp>
        <p:nvSpPr>
          <p:cNvPr id="19" name="Text 16"/>
          <p:cNvSpPr txBox="1"/>
          <p:nvPr/>
        </p:nvSpPr>
        <p:spPr>
          <a:xfrm>
            <a:off x="1371600" y="2743200"/>
            <a:ext cx="1828800" cy="685800"/>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Header 13</a:t>
            </a:r>
            <a:endParaRPr lang="en-US" sz="1150" dirty="0"/>
          </a:p>
        </p:txBody>
      </p:sp>
      <p:sp>
        <p:nvSpPr>
          <p:cNvPr id="20" name="Shape 17"/>
          <p:cNvSpPr/>
          <p:nvPr/>
        </p:nvSpPr>
        <p:spPr>
          <a:xfrm>
            <a:off x="3200400" y="2743200"/>
            <a:ext cx="4937760" cy="685800"/>
          </a:xfrm>
          <a:prstGeom prst="rect">
            <a:avLst/>
          </a:prstGeom>
          <a:solidFill>
            <a:srgbClr val="08A1D9"/>
          </a:solidFill>
          <a:ln w="19050">
            <a:solidFill>
              <a:srgbClr val="FFFFFF"/>
            </a:solidFill>
            <a:prstDash val="solid"/>
          </a:ln>
        </p:spPr>
      </p:sp>
      <p:sp>
        <p:nvSpPr>
          <p:cNvPr id="21" name="Text 18"/>
          <p:cNvSpPr txBox="1"/>
          <p:nvPr/>
        </p:nvSpPr>
        <p:spPr>
          <a:xfrm>
            <a:off x="3200400" y="2743200"/>
            <a:ext cx="4937760" cy="685800"/>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Block  B = 47 B</a:t>
            </a:r>
            <a:endParaRPr lang="en-US" sz="1150" dirty="0"/>
          </a:p>
        </p:txBody>
      </p:sp>
      <p:sp>
        <p:nvSpPr>
          <p:cNvPr id="22" name="Text 19"/>
          <p:cNvSpPr txBox="1"/>
          <p:nvPr/>
        </p:nvSpPr>
        <p:spPr>
          <a:xfrm>
            <a:off x="457200" y="3520440"/>
            <a:ext cx="3657600" cy="274320"/>
          </a:xfrm>
          <a:prstGeom prst="rect">
            <a:avLst/>
          </a:prstGeom>
          <a:noFill/>
          <a:ln/>
        </p:spPr>
        <p:txBody>
          <a:bodyPr wrap="square" lIns="0" tIns="0" rIns="0" bIns="0" rtlCol="0" anchor="t"/>
          <a:lstStyle/>
          <a:p>
            <a:pPr marL="0" indent="0">
              <a:buNone/>
            </a:pPr>
            <a:r>
              <a:rPr lang="en-US" sz="1050" i="1" dirty="0">
                <a:solidFill>
                  <a:srgbClr val="5B6B7F"/>
                </a:solidFill>
                <a:latin typeface="Arial" pitchFamily="34" charset="0"/>
                <a:ea typeface="Arial" pitchFamily="34" charset="-122"/>
                <a:cs typeface="Arial" pitchFamily="34" charset="-120"/>
              </a:rPr>
              <a:t>Segments not to scale.</a:t>
            </a:r>
            <a:endParaRPr lang="en-US" sz="1050" dirty="0"/>
          </a:p>
        </p:txBody>
      </p:sp>
      <p:sp>
        <p:nvSpPr>
          <p:cNvPr id="23" name="Shape 20"/>
          <p:cNvSpPr/>
          <p:nvPr/>
        </p:nvSpPr>
        <p:spPr>
          <a:xfrm>
            <a:off x="457200" y="3931920"/>
            <a:ext cx="7680960" cy="2331720"/>
          </a:xfrm>
          <a:prstGeom prst="roundRect">
            <a:avLst>
              <a:gd name="adj" fmla="val 3922"/>
            </a:avLst>
          </a:prstGeom>
          <a:solidFill>
            <a:srgbClr val="E8F6FD"/>
          </a:solidFill>
          <a:ln/>
        </p:spPr>
      </p:sp>
      <p:sp>
        <p:nvSpPr>
          <p:cNvPr id="24" name="Text 21"/>
          <p:cNvSpPr txBox="1"/>
          <p:nvPr/>
        </p:nvSpPr>
        <p:spPr>
          <a:xfrm>
            <a:off x="731520" y="4069080"/>
            <a:ext cx="7223760" cy="2103120"/>
          </a:xfrm>
          <a:prstGeom prst="rect">
            <a:avLst/>
          </a:prstGeom>
          <a:noFill/>
          <a:ln/>
        </p:spPr>
        <p:txBody>
          <a:bodyPr wrap="square" lIns="0" tIns="0" rIns="0" bIns="0" rtlCol="0" anchor="ctr"/>
          <a:lstStyle/>
          <a:p>
            <a:pPr marL="0" indent="0">
              <a:buNone/>
            </a:pPr>
            <a:r>
              <a:rPr lang="en-US" sz="1450" b="1" dirty="0">
                <a:solidFill>
                  <a:srgbClr val="17365D"/>
                </a:solidFill>
                <a:latin typeface="Arial" pitchFamily="34" charset="0"/>
                <a:ea typeface="Arial" pitchFamily="34" charset="-122"/>
                <a:cs typeface="Arial" pitchFamily="34" charset="-120"/>
              </a:rPr>
              <a:t>UART has no frame limit.</a:t>
            </a:r>
            <a:endParaRPr lang="en-US" sz="1450" dirty="0"/>
          </a:p>
          <a:p>
            <a:pPr marL="0" indent="0">
              <a:buNone/>
            </a:pPr>
            <a:r>
              <a:rPr lang="en-US" sz="1450" dirty="0">
                <a:solidFill>
                  <a:srgbClr val="1E2A3A"/>
                </a:solidFill>
                <a:latin typeface="Arial" pitchFamily="34" charset="0"/>
                <a:ea typeface="Arial" pitchFamily="34" charset="-122"/>
                <a:cs typeface="Arial" pitchFamily="34" charset="-120"/>
              </a:rPr>
              <a:t>Long frames corrupt more easily, though. We keep B = 47 so UART and CAN-FD share one layout.</a:t>
            </a:r>
            <a:endParaRPr lang="en-US" sz="1450" dirty="0"/>
          </a:p>
          <a:p>
            <a:pPr marL="0" indent="0">
              <a:buNone/>
            </a:pPr>
            <a:r>
              <a:rPr lang="en-US" sz="600" dirty="0">
                <a:solidFill>
                  <a:srgbClr val="1E2A3A"/>
                </a:solidFill>
                <a:latin typeface="Arial" pitchFamily="34" charset="0"/>
                <a:ea typeface="Arial" pitchFamily="34" charset="-122"/>
                <a:cs typeface="Arial" pitchFamily="34" charset="-120"/>
              </a:rPr>
              <a:t> </a:t>
            </a:r>
            <a:endParaRPr lang="en-US" sz="1450" dirty="0"/>
          </a:p>
          <a:p>
            <a:pPr marL="0" indent="0">
              <a:buNone/>
            </a:pPr>
            <a:r>
              <a:rPr lang="en-US" sz="1450" b="1" dirty="0">
                <a:solidFill>
                  <a:srgbClr val="17365D"/>
                </a:solidFill>
                <a:latin typeface="Arial" pitchFamily="34" charset="0"/>
                <a:ea typeface="Arial" pitchFamily="34" charset="-122"/>
                <a:cs typeface="Arial" pitchFamily="34" charset="-120"/>
              </a:rPr>
              <a:t>Sizing rule</a:t>
            </a:r>
            <a:endParaRPr lang="en-US" sz="1450" dirty="0"/>
          </a:p>
          <a:p>
            <a:pPr marL="0" indent="0">
              <a:buNone/>
            </a:pPr>
            <a:r>
              <a:rPr lang="en-US" sz="1450" dirty="0">
                <a:solidFill>
                  <a:srgbClr val="1E2A3A"/>
                </a:solidFill>
                <a:latin typeface="Arial" pitchFamily="34" charset="0"/>
                <a:ea typeface="Arial" pitchFamily="34" charset="-122"/>
                <a:cs typeface="Arial" pitchFamily="34" charset="-120"/>
              </a:rPr>
              <a:t>N = ⌈ image size / B ⌉        bitmap = ⌈ N / 8 ⌉ bytes</a:t>
            </a:r>
            <a:endParaRPr lang="en-US" sz="1450" dirty="0"/>
          </a:p>
        </p:txBody>
      </p:sp>
      <p:sp>
        <p:nvSpPr>
          <p:cNvPr id="25" name="Shape 22"/>
          <p:cNvSpPr/>
          <p:nvPr/>
        </p:nvSpPr>
        <p:spPr>
          <a:xfrm>
            <a:off x="8503920" y="960120"/>
            <a:ext cx="3227832" cy="5303520"/>
          </a:xfrm>
          <a:prstGeom prst="roundRect">
            <a:avLst>
              <a:gd name="adj" fmla="val 3399"/>
            </a:avLst>
          </a:prstGeom>
          <a:solidFill>
            <a:srgbClr val="17365D"/>
          </a:solidFill>
          <a:ln/>
          <a:effectLst>
            <a:outerShdw blurRad="76200" dist="25400" dir="5400000" algn="bl" rotWithShape="0">
              <a:srgbClr val="7A8CA3">
                <a:alpha val="25000"/>
              </a:srgbClr>
            </a:outerShdw>
          </a:effectLst>
        </p:spPr>
      </p:sp>
      <p:sp>
        <p:nvSpPr>
          <p:cNvPr id="26" name="Text 23"/>
          <p:cNvSpPr txBox="1"/>
          <p:nvPr/>
        </p:nvSpPr>
        <p:spPr>
          <a:xfrm>
            <a:off x="8686800" y="1097280"/>
            <a:ext cx="2834640" cy="411480"/>
          </a:xfrm>
          <a:prstGeom prst="rect">
            <a:avLst/>
          </a:prstGeom>
          <a:noFill/>
          <a:ln/>
        </p:spPr>
        <p:txBody>
          <a:bodyPr wrap="square" lIns="0" tIns="0" rIns="0" bIns="0" rtlCol="0" anchor="t"/>
          <a:lstStyle/>
          <a:p>
            <a:pPr marL="0" indent="0" algn="ctr">
              <a:buNone/>
            </a:pPr>
            <a:r>
              <a:rPr lang="en-US" sz="1500" b="1" dirty="0">
                <a:solidFill>
                  <a:srgbClr val="8FD8F8"/>
                </a:solidFill>
                <a:latin typeface="Arial" pitchFamily="34" charset="0"/>
                <a:ea typeface="Arial" pitchFamily="34" charset="-122"/>
                <a:cs typeface="Arial" pitchFamily="34" charset="-120"/>
              </a:rPr>
              <a:t>For an 800 KB image</a:t>
            </a:r>
            <a:endParaRPr lang="en-US" sz="1500" dirty="0"/>
          </a:p>
        </p:txBody>
      </p:sp>
      <p:sp>
        <p:nvSpPr>
          <p:cNvPr id="27" name="Text 24"/>
          <p:cNvSpPr txBox="1"/>
          <p:nvPr/>
        </p:nvSpPr>
        <p:spPr>
          <a:xfrm>
            <a:off x="8595360" y="1600200"/>
            <a:ext cx="3044952"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Arial" pitchFamily="34" charset="0"/>
                <a:ea typeface="Arial" pitchFamily="34" charset="-122"/>
                <a:cs typeface="Arial" pitchFamily="34" charset="-120"/>
              </a:rPr>
              <a:t>565</a:t>
            </a:r>
            <a:endParaRPr lang="en-US" sz="3600" dirty="0"/>
          </a:p>
        </p:txBody>
      </p:sp>
      <p:sp>
        <p:nvSpPr>
          <p:cNvPr id="28" name="Text 25"/>
          <p:cNvSpPr txBox="1"/>
          <p:nvPr/>
        </p:nvSpPr>
        <p:spPr>
          <a:xfrm>
            <a:off x="8595360" y="2221992"/>
            <a:ext cx="3044952" cy="320040"/>
          </a:xfrm>
          <a:prstGeom prst="rect">
            <a:avLst/>
          </a:prstGeom>
          <a:noFill/>
          <a:ln/>
        </p:spPr>
        <p:txBody>
          <a:bodyPr wrap="square" lIns="0" tIns="0" rIns="0" bIns="0" rtlCol="0" anchor="t"/>
          <a:lstStyle/>
          <a:p>
            <a:pPr marL="0" indent="0" algn="ctr">
              <a:buNone/>
            </a:pPr>
            <a:r>
              <a:rPr lang="en-US" sz="1250" dirty="0">
                <a:solidFill>
                  <a:srgbClr val="CFE6FA"/>
                </a:solidFill>
                <a:latin typeface="Arial" pitchFamily="34" charset="0"/>
                <a:ea typeface="Arial" pitchFamily="34" charset="-122"/>
                <a:cs typeface="Arial" pitchFamily="34" charset="-120"/>
              </a:rPr>
              <a:t>blocks on UDP</a:t>
            </a:r>
            <a:endParaRPr lang="en-US" sz="1250" dirty="0"/>
          </a:p>
        </p:txBody>
      </p:sp>
      <p:sp>
        <p:nvSpPr>
          <p:cNvPr id="29" name="Text 26"/>
          <p:cNvSpPr txBox="1"/>
          <p:nvPr/>
        </p:nvSpPr>
        <p:spPr>
          <a:xfrm>
            <a:off x="8595360" y="2743200"/>
            <a:ext cx="3044952"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Arial" pitchFamily="34" charset="0"/>
                <a:ea typeface="Arial" pitchFamily="34" charset="-122"/>
                <a:cs typeface="Arial" pitchFamily="34" charset="-120"/>
              </a:rPr>
              <a:t>71 B</a:t>
            </a:r>
            <a:endParaRPr lang="en-US" sz="3600" dirty="0"/>
          </a:p>
        </p:txBody>
      </p:sp>
      <p:sp>
        <p:nvSpPr>
          <p:cNvPr id="30" name="Text 27"/>
          <p:cNvSpPr txBox="1"/>
          <p:nvPr/>
        </p:nvSpPr>
        <p:spPr>
          <a:xfrm>
            <a:off x="8595360" y="3364992"/>
            <a:ext cx="3044952" cy="320040"/>
          </a:xfrm>
          <a:prstGeom prst="rect">
            <a:avLst/>
          </a:prstGeom>
          <a:noFill/>
          <a:ln/>
        </p:spPr>
        <p:txBody>
          <a:bodyPr wrap="square" lIns="0" tIns="0" rIns="0" bIns="0" rtlCol="0" anchor="t"/>
          <a:lstStyle/>
          <a:p>
            <a:pPr marL="0" indent="0" algn="ctr">
              <a:buNone/>
            </a:pPr>
            <a:r>
              <a:rPr lang="en-US" sz="1250" dirty="0">
                <a:solidFill>
                  <a:srgbClr val="CFE6FA"/>
                </a:solidFill>
                <a:latin typeface="Arial" pitchFamily="34" charset="0"/>
                <a:ea typeface="Arial" pitchFamily="34" charset="-122"/>
                <a:cs typeface="Arial" pitchFamily="34" charset="-120"/>
              </a:rPr>
              <a:t>UDP bitmap</a:t>
            </a:r>
            <a:endParaRPr lang="en-US" sz="1250" dirty="0"/>
          </a:p>
        </p:txBody>
      </p:sp>
      <p:sp>
        <p:nvSpPr>
          <p:cNvPr id="31" name="Text 28"/>
          <p:cNvSpPr txBox="1"/>
          <p:nvPr/>
        </p:nvSpPr>
        <p:spPr>
          <a:xfrm>
            <a:off x="8595360" y="3886200"/>
            <a:ext cx="3044952"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Arial" pitchFamily="34" charset="0"/>
                <a:ea typeface="Arial" pitchFamily="34" charset="-122"/>
                <a:cs typeface="Arial" pitchFamily="34" charset="-120"/>
              </a:rPr>
              <a:t>17,430</a:t>
            </a:r>
            <a:endParaRPr lang="en-US" sz="3600" dirty="0"/>
          </a:p>
        </p:txBody>
      </p:sp>
      <p:sp>
        <p:nvSpPr>
          <p:cNvPr id="32" name="Text 29"/>
          <p:cNvSpPr txBox="1"/>
          <p:nvPr/>
        </p:nvSpPr>
        <p:spPr>
          <a:xfrm>
            <a:off x="8595360" y="4507992"/>
            <a:ext cx="3044952" cy="320040"/>
          </a:xfrm>
          <a:prstGeom prst="rect">
            <a:avLst/>
          </a:prstGeom>
          <a:noFill/>
          <a:ln/>
        </p:spPr>
        <p:txBody>
          <a:bodyPr wrap="square" lIns="0" tIns="0" rIns="0" bIns="0" rtlCol="0" anchor="t"/>
          <a:lstStyle/>
          <a:p>
            <a:pPr marL="0" indent="0" algn="ctr">
              <a:buNone/>
            </a:pPr>
            <a:r>
              <a:rPr lang="en-US" sz="1250" dirty="0">
                <a:solidFill>
                  <a:srgbClr val="CFE6FA"/>
                </a:solidFill>
                <a:latin typeface="Arial" pitchFamily="34" charset="0"/>
                <a:ea typeface="Arial" pitchFamily="34" charset="-122"/>
                <a:cs typeface="Arial" pitchFamily="34" charset="-120"/>
              </a:rPr>
              <a:t>blocks on CAN-FD / UART</a:t>
            </a:r>
            <a:endParaRPr lang="en-US" sz="1250" dirty="0"/>
          </a:p>
        </p:txBody>
      </p:sp>
      <p:sp>
        <p:nvSpPr>
          <p:cNvPr id="33" name="Text 30"/>
          <p:cNvSpPr txBox="1"/>
          <p:nvPr/>
        </p:nvSpPr>
        <p:spPr>
          <a:xfrm>
            <a:off x="8595360" y="5029200"/>
            <a:ext cx="3044952"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Arial" pitchFamily="34" charset="0"/>
                <a:ea typeface="Arial" pitchFamily="34" charset="-122"/>
                <a:cs typeface="Arial" pitchFamily="34" charset="-120"/>
              </a:rPr>
              <a:t>2,179 B</a:t>
            </a:r>
            <a:endParaRPr lang="en-US" sz="3600" dirty="0"/>
          </a:p>
        </p:txBody>
      </p:sp>
      <p:sp>
        <p:nvSpPr>
          <p:cNvPr id="34" name="Text 31"/>
          <p:cNvSpPr txBox="1"/>
          <p:nvPr/>
        </p:nvSpPr>
        <p:spPr>
          <a:xfrm>
            <a:off x="8595360" y="5650992"/>
            <a:ext cx="3044952" cy="320040"/>
          </a:xfrm>
          <a:prstGeom prst="rect">
            <a:avLst/>
          </a:prstGeom>
          <a:noFill/>
          <a:ln/>
        </p:spPr>
        <p:txBody>
          <a:bodyPr wrap="square" lIns="0" tIns="0" rIns="0" bIns="0" rtlCol="0" anchor="t"/>
          <a:lstStyle/>
          <a:p>
            <a:pPr marL="0" indent="0" algn="ctr">
              <a:buNone/>
            </a:pPr>
            <a:r>
              <a:rPr lang="en-US" sz="1250" dirty="0">
                <a:solidFill>
                  <a:srgbClr val="CFE6FA"/>
                </a:solidFill>
                <a:latin typeface="Arial" pitchFamily="34" charset="0"/>
                <a:ea typeface="Arial" pitchFamily="34" charset="-122"/>
                <a:cs typeface="Arial" pitchFamily="34" charset="-120"/>
              </a:rPr>
              <a:t>CAN-FD / UART bitmap</a:t>
            </a:r>
            <a:endParaRPr lang="en-US" sz="1250" dirty="0"/>
          </a:p>
        </p:txBody>
      </p:sp>
      <p:sp>
        <p:nvSpPr>
          <p:cNvPr id="3" name="Slide Number Placeholder 0"/>
          <p:cNvSpPr>
            <a:spLocks noGrp="1"/>
          </p:cNvSpPr>
          <p:nvPr>
            <p:ph type="sldNum" sz="quarter" idx="4294967295"/>
          </p:nvPr>
        </p:nvSpPr>
        <p:spPr>
          <a:xfrm>
            <a:off x="1138428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A"/>
                </a:solidFill>
                <a:latin typeface="Arial"/>
                <a:ea typeface="Arial"/>
                <a:cs typeface="Aria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6576"/>
            <a:ext cx="8686800" cy="420624"/>
          </a:xfrm>
          <a:prstGeom prst="rect">
            <a:avLst/>
          </a:prstGeom>
          <a:noFill/>
          <a:ln/>
        </p:spPr>
        <p:txBody>
          <a:bodyPr wrap="square" lIns="0" tIns="0" rIns="0" bIns="0" rtlCol="0" anchor="ctr"/>
          <a:lstStyle/>
          <a:p>
            <a:pPr marL="0" indent="0">
              <a:buNone/>
            </a:pPr>
            <a:r>
              <a:rPr lang="en-US" sz="2400" b="1" dirty="0">
                <a:solidFill>
                  <a:srgbClr val="1F5A9E"/>
                </a:solidFill>
                <a:latin typeface="Arial" pitchFamily="34" charset="0"/>
                <a:ea typeface="Arial" pitchFamily="34" charset="-122"/>
                <a:cs typeface="Arial" pitchFamily="34" charset="-120"/>
              </a:rPr>
              <a:t>Four Messages, Every Link</a:t>
            </a:r>
            <a:endParaRPr lang="en-US" sz="2400" dirty="0"/>
          </a:p>
        </p:txBody>
      </p:sp>
      <p:sp>
        <p:nvSpPr>
          <p:cNvPr id="4" name="Shape 1"/>
          <p:cNvSpPr/>
          <p:nvPr/>
        </p:nvSpPr>
        <p:spPr>
          <a:xfrm>
            <a:off x="457200" y="960120"/>
            <a:ext cx="11274552" cy="896112"/>
          </a:xfrm>
          <a:prstGeom prst="roundRect">
            <a:avLst>
              <a:gd name="adj" fmla="val 8163"/>
            </a:avLst>
          </a:prstGeom>
          <a:solidFill>
            <a:srgbClr val="E8F6FD"/>
          </a:solidFill>
          <a:ln w="12700">
            <a:solidFill>
              <a:srgbClr val="D6EEFA"/>
            </a:solidFill>
            <a:prstDash val="solid"/>
          </a:ln>
        </p:spPr>
      </p:sp>
      <p:sp>
        <p:nvSpPr>
          <p:cNvPr id="5" name="Text 2"/>
          <p:cNvSpPr txBox="1"/>
          <p:nvPr/>
        </p:nvSpPr>
        <p:spPr>
          <a:xfrm>
            <a:off x="640080" y="1051560"/>
            <a:ext cx="1463040" cy="411480"/>
          </a:xfrm>
          <a:prstGeom prst="rect">
            <a:avLst/>
          </a:prstGeom>
          <a:noFill/>
          <a:ln/>
        </p:spPr>
        <p:txBody>
          <a:bodyPr wrap="square" lIns="0" tIns="0" rIns="0" bIns="0" rtlCol="0" anchor="t"/>
          <a:lstStyle/>
          <a:p>
            <a:pPr marL="0" indent="0">
              <a:buNone/>
            </a:pPr>
            <a:r>
              <a:rPr lang="en-US" sz="1800" b="1" dirty="0">
                <a:solidFill>
                  <a:srgbClr val="17365D"/>
                </a:solidFill>
                <a:latin typeface="Arial" pitchFamily="34" charset="0"/>
                <a:ea typeface="Arial" pitchFamily="34" charset="-122"/>
                <a:cs typeface="Arial" pitchFamily="34" charset="-120"/>
              </a:rPr>
              <a:t>META</a:t>
            </a:r>
            <a:endParaRPr lang="en-US" sz="1800" dirty="0"/>
          </a:p>
        </p:txBody>
      </p:sp>
      <p:sp>
        <p:nvSpPr>
          <p:cNvPr id="6" name="Text 3"/>
          <p:cNvSpPr txBox="1"/>
          <p:nvPr/>
        </p:nvSpPr>
        <p:spPr>
          <a:xfrm>
            <a:off x="640080" y="1463040"/>
            <a:ext cx="2651760" cy="320040"/>
          </a:xfrm>
          <a:prstGeom prst="rect">
            <a:avLst/>
          </a:prstGeom>
          <a:noFill/>
          <a:ln/>
        </p:spPr>
        <p:txBody>
          <a:bodyPr wrap="square" lIns="0" tIns="0" rIns="0" bIns="0" rtlCol="0" anchor="t"/>
          <a:lstStyle/>
          <a:p>
            <a:pPr marL="0" indent="0">
              <a:buNone/>
            </a:pPr>
            <a:r>
              <a:rPr lang="en-US" sz="1150" dirty="0">
                <a:solidFill>
                  <a:srgbClr val="5B6B7F"/>
                </a:solidFill>
                <a:latin typeface="Arial" pitchFamily="34" charset="0"/>
                <a:ea typeface="Arial" pitchFamily="34" charset="-122"/>
                <a:cs typeface="Arial" pitchFamily="34" charset="-120"/>
              </a:rPr>
              <a:t>42 B  ·  sender → receiver</a:t>
            </a:r>
            <a:endParaRPr lang="en-US" sz="1150" dirty="0"/>
          </a:p>
        </p:txBody>
      </p:sp>
      <p:sp>
        <p:nvSpPr>
          <p:cNvPr id="7" name="Shape 4"/>
          <p:cNvSpPr/>
          <p:nvPr/>
        </p:nvSpPr>
        <p:spPr>
          <a:xfrm>
            <a:off x="3291840" y="1143000"/>
            <a:ext cx="731520" cy="530352"/>
          </a:xfrm>
          <a:prstGeom prst="rect">
            <a:avLst/>
          </a:prstGeom>
          <a:solidFill>
            <a:srgbClr val="6B778A"/>
          </a:solidFill>
          <a:ln w="19050">
            <a:solidFill>
              <a:srgbClr val="FFFFFF"/>
            </a:solidFill>
            <a:prstDash val="solid"/>
          </a:ln>
        </p:spPr>
      </p:sp>
      <p:sp>
        <p:nvSpPr>
          <p:cNvPr id="8" name="Text 5"/>
          <p:cNvSpPr txBox="1"/>
          <p:nvPr/>
        </p:nvSpPr>
        <p:spPr>
          <a:xfrm>
            <a:off x="3291840" y="1143000"/>
            <a:ext cx="731520"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type</a:t>
            </a:r>
            <a:endParaRPr lang="en-US" sz="1150" dirty="0"/>
          </a:p>
        </p:txBody>
      </p:sp>
      <p:sp>
        <p:nvSpPr>
          <p:cNvPr id="9" name="Shape 6"/>
          <p:cNvSpPr/>
          <p:nvPr/>
        </p:nvSpPr>
        <p:spPr>
          <a:xfrm>
            <a:off x="4023360" y="1143000"/>
            <a:ext cx="1188720" cy="530352"/>
          </a:xfrm>
          <a:prstGeom prst="rect">
            <a:avLst/>
          </a:prstGeom>
          <a:solidFill>
            <a:srgbClr val="17365D"/>
          </a:solidFill>
          <a:ln w="19050">
            <a:solidFill>
              <a:srgbClr val="FFFFFF"/>
            </a:solidFill>
            <a:prstDash val="solid"/>
          </a:ln>
        </p:spPr>
      </p:sp>
      <p:sp>
        <p:nvSpPr>
          <p:cNvPr id="10" name="Text 7"/>
          <p:cNvSpPr txBox="1"/>
          <p:nvPr/>
        </p:nvSpPr>
        <p:spPr>
          <a:xfrm>
            <a:off x="4023360" y="1143000"/>
            <a:ext cx="1188720"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target id</a:t>
            </a:r>
            <a:endParaRPr lang="en-US" sz="1150" dirty="0"/>
          </a:p>
        </p:txBody>
      </p:sp>
      <p:sp>
        <p:nvSpPr>
          <p:cNvPr id="11" name="Shape 8"/>
          <p:cNvSpPr/>
          <p:nvPr/>
        </p:nvSpPr>
        <p:spPr>
          <a:xfrm>
            <a:off x="5212080" y="1143000"/>
            <a:ext cx="1280160" cy="530352"/>
          </a:xfrm>
          <a:prstGeom prst="rect">
            <a:avLst/>
          </a:prstGeom>
          <a:solidFill>
            <a:srgbClr val="1F6FB5"/>
          </a:solidFill>
          <a:ln w="19050">
            <a:solidFill>
              <a:srgbClr val="FFFFFF"/>
            </a:solidFill>
            <a:prstDash val="solid"/>
          </a:ln>
        </p:spPr>
      </p:sp>
      <p:sp>
        <p:nvSpPr>
          <p:cNvPr id="12" name="Text 9"/>
          <p:cNvSpPr txBox="1"/>
          <p:nvPr/>
        </p:nvSpPr>
        <p:spPr>
          <a:xfrm>
            <a:off x="5212080" y="1143000"/>
            <a:ext cx="1280160"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image size</a:t>
            </a:r>
            <a:endParaRPr lang="en-US" sz="1150" dirty="0"/>
          </a:p>
        </p:txBody>
      </p:sp>
      <p:sp>
        <p:nvSpPr>
          <p:cNvPr id="13" name="Shape 10"/>
          <p:cNvSpPr/>
          <p:nvPr/>
        </p:nvSpPr>
        <p:spPr>
          <a:xfrm>
            <a:off x="6492240" y="1143000"/>
            <a:ext cx="1463040" cy="530352"/>
          </a:xfrm>
          <a:prstGeom prst="rect">
            <a:avLst/>
          </a:prstGeom>
          <a:solidFill>
            <a:srgbClr val="08A1D9"/>
          </a:solidFill>
          <a:ln w="19050">
            <a:solidFill>
              <a:srgbClr val="FFFFFF"/>
            </a:solidFill>
            <a:prstDash val="solid"/>
          </a:ln>
        </p:spPr>
      </p:sp>
      <p:sp>
        <p:nvSpPr>
          <p:cNvPr id="14" name="Text 11"/>
          <p:cNvSpPr txBox="1"/>
          <p:nvPr/>
        </p:nvSpPr>
        <p:spPr>
          <a:xfrm>
            <a:off x="6492240" y="1143000"/>
            <a:ext cx="1463040"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image CRC-32</a:t>
            </a:r>
            <a:endParaRPr lang="en-US" sz="1150" dirty="0"/>
          </a:p>
        </p:txBody>
      </p:sp>
      <p:sp>
        <p:nvSpPr>
          <p:cNvPr id="15" name="Shape 12"/>
          <p:cNvSpPr/>
          <p:nvPr/>
        </p:nvSpPr>
        <p:spPr>
          <a:xfrm>
            <a:off x="7955280" y="1143000"/>
            <a:ext cx="2651760" cy="530352"/>
          </a:xfrm>
          <a:prstGeom prst="rect">
            <a:avLst/>
          </a:prstGeom>
          <a:solidFill>
            <a:srgbClr val="1E8E5A"/>
          </a:solidFill>
          <a:ln w="19050">
            <a:solidFill>
              <a:srgbClr val="FFFFFF"/>
            </a:solidFill>
            <a:prstDash val="solid"/>
          </a:ln>
        </p:spPr>
      </p:sp>
      <p:sp>
        <p:nvSpPr>
          <p:cNvPr id="16" name="Text 13"/>
          <p:cNvSpPr txBox="1"/>
          <p:nvPr/>
        </p:nvSpPr>
        <p:spPr>
          <a:xfrm>
            <a:off x="7955280" y="1143000"/>
            <a:ext cx="2651760"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digital signature</a:t>
            </a:r>
            <a:endParaRPr lang="en-US" sz="1150" dirty="0"/>
          </a:p>
        </p:txBody>
      </p:sp>
      <p:sp>
        <p:nvSpPr>
          <p:cNvPr id="17" name="Shape 14"/>
          <p:cNvSpPr/>
          <p:nvPr/>
        </p:nvSpPr>
        <p:spPr>
          <a:xfrm>
            <a:off x="457200" y="1984248"/>
            <a:ext cx="11274552" cy="896112"/>
          </a:xfrm>
          <a:prstGeom prst="roundRect">
            <a:avLst>
              <a:gd name="adj" fmla="val 8163"/>
            </a:avLst>
          </a:prstGeom>
          <a:solidFill>
            <a:srgbClr val="FFFFFF"/>
          </a:solidFill>
          <a:ln w="12700">
            <a:solidFill>
              <a:srgbClr val="D6EEFA"/>
            </a:solidFill>
            <a:prstDash val="solid"/>
          </a:ln>
        </p:spPr>
      </p:sp>
      <p:sp>
        <p:nvSpPr>
          <p:cNvPr id="18" name="Text 15"/>
          <p:cNvSpPr txBox="1"/>
          <p:nvPr/>
        </p:nvSpPr>
        <p:spPr>
          <a:xfrm>
            <a:off x="640080" y="2075688"/>
            <a:ext cx="1463040" cy="411480"/>
          </a:xfrm>
          <a:prstGeom prst="rect">
            <a:avLst/>
          </a:prstGeom>
          <a:noFill/>
          <a:ln/>
        </p:spPr>
        <p:txBody>
          <a:bodyPr wrap="square" lIns="0" tIns="0" rIns="0" bIns="0" rtlCol="0" anchor="t"/>
          <a:lstStyle/>
          <a:p>
            <a:pPr marL="0" indent="0">
              <a:buNone/>
            </a:pPr>
            <a:r>
              <a:rPr lang="en-US" sz="1800" b="1" dirty="0">
                <a:solidFill>
                  <a:srgbClr val="17365D"/>
                </a:solidFill>
                <a:latin typeface="Arial" pitchFamily="34" charset="0"/>
                <a:ea typeface="Arial" pitchFamily="34" charset="-122"/>
                <a:cs typeface="Arial" pitchFamily="34" charset="-120"/>
              </a:rPr>
              <a:t>DATA</a:t>
            </a:r>
            <a:endParaRPr lang="en-US" sz="1800" dirty="0"/>
          </a:p>
        </p:txBody>
      </p:sp>
      <p:sp>
        <p:nvSpPr>
          <p:cNvPr id="19" name="Text 16"/>
          <p:cNvSpPr txBox="1"/>
          <p:nvPr/>
        </p:nvSpPr>
        <p:spPr>
          <a:xfrm>
            <a:off x="640080" y="2487168"/>
            <a:ext cx="2651760" cy="320040"/>
          </a:xfrm>
          <a:prstGeom prst="rect">
            <a:avLst/>
          </a:prstGeom>
          <a:noFill/>
          <a:ln/>
        </p:spPr>
        <p:txBody>
          <a:bodyPr wrap="square" lIns="0" tIns="0" rIns="0" bIns="0" rtlCol="0" anchor="t"/>
          <a:lstStyle/>
          <a:p>
            <a:pPr marL="0" indent="0">
              <a:buNone/>
            </a:pPr>
            <a:r>
              <a:rPr lang="en-US" sz="1150" dirty="0">
                <a:solidFill>
                  <a:srgbClr val="5B6B7F"/>
                </a:solidFill>
                <a:latin typeface="Arial" pitchFamily="34" charset="0"/>
                <a:ea typeface="Arial" pitchFamily="34" charset="-122"/>
                <a:cs typeface="Arial" pitchFamily="34" charset="-120"/>
              </a:rPr>
              <a:t>13 B + ≤ B  ·  sender → receiver</a:t>
            </a:r>
            <a:endParaRPr lang="en-US" sz="1150" dirty="0"/>
          </a:p>
        </p:txBody>
      </p:sp>
      <p:sp>
        <p:nvSpPr>
          <p:cNvPr id="20" name="Shape 17"/>
          <p:cNvSpPr/>
          <p:nvPr/>
        </p:nvSpPr>
        <p:spPr>
          <a:xfrm>
            <a:off x="3291840" y="2167128"/>
            <a:ext cx="731520" cy="530352"/>
          </a:xfrm>
          <a:prstGeom prst="rect">
            <a:avLst/>
          </a:prstGeom>
          <a:solidFill>
            <a:srgbClr val="6B778A"/>
          </a:solidFill>
          <a:ln w="19050">
            <a:solidFill>
              <a:srgbClr val="FFFFFF"/>
            </a:solidFill>
            <a:prstDash val="solid"/>
          </a:ln>
        </p:spPr>
      </p:sp>
      <p:sp>
        <p:nvSpPr>
          <p:cNvPr id="21" name="Text 18"/>
          <p:cNvSpPr txBox="1"/>
          <p:nvPr/>
        </p:nvSpPr>
        <p:spPr>
          <a:xfrm>
            <a:off x="3291840" y="2167128"/>
            <a:ext cx="731520"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type</a:t>
            </a:r>
            <a:endParaRPr lang="en-US" sz="1150" dirty="0"/>
          </a:p>
        </p:txBody>
      </p:sp>
      <p:sp>
        <p:nvSpPr>
          <p:cNvPr id="22" name="Shape 19"/>
          <p:cNvSpPr/>
          <p:nvPr/>
        </p:nvSpPr>
        <p:spPr>
          <a:xfrm>
            <a:off x="4023360" y="2167128"/>
            <a:ext cx="1097280" cy="530352"/>
          </a:xfrm>
          <a:prstGeom prst="rect">
            <a:avLst/>
          </a:prstGeom>
          <a:solidFill>
            <a:srgbClr val="17365D"/>
          </a:solidFill>
          <a:ln w="19050">
            <a:solidFill>
              <a:srgbClr val="FFFFFF"/>
            </a:solidFill>
            <a:prstDash val="solid"/>
          </a:ln>
        </p:spPr>
      </p:sp>
      <p:sp>
        <p:nvSpPr>
          <p:cNvPr id="23" name="Text 20"/>
          <p:cNvSpPr txBox="1"/>
          <p:nvPr/>
        </p:nvSpPr>
        <p:spPr>
          <a:xfrm>
            <a:off x="4023360" y="2167128"/>
            <a:ext cx="1097280"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offset</a:t>
            </a:r>
            <a:endParaRPr lang="en-US" sz="1150" dirty="0"/>
          </a:p>
        </p:txBody>
      </p:sp>
      <p:sp>
        <p:nvSpPr>
          <p:cNvPr id="24" name="Shape 21"/>
          <p:cNvSpPr/>
          <p:nvPr/>
        </p:nvSpPr>
        <p:spPr>
          <a:xfrm>
            <a:off x="5120640" y="2167128"/>
            <a:ext cx="1097280" cy="530352"/>
          </a:xfrm>
          <a:prstGeom prst="rect">
            <a:avLst/>
          </a:prstGeom>
          <a:solidFill>
            <a:srgbClr val="1F6FB5"/>
          </a:solidFill>
          <a:ln w="19050">
            <a:solidFill>
              <a:srgbClr val="FFFFFF"/>
            </a:solidFill>
            <a:prstDash val="solid"/>
          </a:ln>
        </p:spPr>
      </p:sp>
      <p:sp>
        <p:nvSpPr>
          <p:cNvPr id="25" name="Text 22"/>
          <p:cNvSpPr txBox="1"/>
          <p:nvPr/>
        </p:nvSpPr>
        <p:spPr>
          <a:xfrm>
            <a:off x="5120640" y="2167128"/>
            <a:ext cx="1097280"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length</a:t>
            </a:r>
            <a:endParaRPr lang="en-US" sz="1150" dirty="0"/>
          </a:p>
        </p:txBody>
      </p:sp>
      <p:sp>
        <p:nvSpPr>
          <p:cNvPr id="26" name="Shape 23"/>
          <p:cNvSpPr/>
          <p:nvPr/>
        </p:nvSpPr>
        <p:spPr>
          <a:xfrm>
            <a:off x="6217920" y="2167128"/>
            <a:ext cx="1463040" cy="530352"/>
          </a:xfrm>
          <a:prstGeom prst="rect">
            <a:avLst/>
          </a:prstGeom>
          <a:solidFill>
            <a:srgbClr val="08A1D9"/>
          </a:solidFill>
          <a:ln w="19050">
            <a:solidFill>
              <a:srgbClr val="FFFFFF"/>
            </a:solidFill>
            <a:prstDash val="solid"/>
          </a:ln>
        </p:spPr>
      </p:sp>
      <p:sp>
        <p:nvSpPr>
          <p:cNvPr id="27" name="Text 24"/>
          <p:cNvSpPr txBox="1"/>
          <p:nvPr/>
        </p:nvSpPr>
        <p:spPr>
          <a:xfrm>
            <a:off x="6217920" y="2167128"/>
            <a:ext cx="1463040"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block CRC-32</a:t>
            </a:r>
            <a:endParaRPr lang="en-US" sz="1150" dirty="0"/>
          </a:p>
        </p:txBody>
      </p:sp>
      <p:sp>
        <p:nvSpPr>
          <p:cNvPr id="28" name="Shape 25"/>
          <p:cNvSpPr/>
          <p:nvPr/>
        </p:nvSpPr>
        <p:spPr>
          <a:xfrm>
            <a:off x="7680960" y="2167128"/>
            <a:ext cx="2926080" cy="530352"/>
          </a:xfrm>
          <a:prstGeom prst="rect">
            <a:avLst/>
          </a:prstGeom>
          <a:solidFill>
            <a:srgbClr val="7FCBEA"/>
          </a:solidFill>
          <a:ln w="19050">
            <a:solidFill>
              <a:srgbClr val="FFFFFF"/>
            </a:solidFill>
            <a:prstDash val="solid"/>
          </a:ln>
        </p:spPr>
      </p:sp>
      <p:sp>
        <p:nvSpPr>
          <p:cNvPr id="29" name="Text 26"/>
          <p:cNvSpPr txBox="1"/>
          <p:nvPr/>
        </p:nvSpPr>
        <p:spPr>
          <a:xfrm>
            <a:off x="7680960" y="2167128"/>
            <a:ext cx="2926080"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payload (≤ B bytes)</a:t>
            </a:r>
            <a:endParaRPr lang="en-US" sz="1150" dirty="0"/>
          </a:p>
        </p:txBody>
      </p:sp>
      <p:sp>
        <p:nvSpPr>
          <p:cNvPr id="30" name="Shape 27"/>
          <p:cNvSpPr/>
          <p:nvPr/>
        </p:nvSpPr>
        <p:spPr>
          <a:xfrm>
            <a:off x="457200" y="3008376"/>
            <a:ext cx="11274552" cy="896112"/>
          </a:xfrm>
          <a:prstGeom prst="roundRect">
            <a:avLst>
              <a:gd name="adj" fmla="val 8163"/>
            </a:avLst>
          </a:prstGeom>
          <a:solidFill>
            <a:srgbClr val="E8F6FD"/>
          </a:solidFill>
          <a:ln w="12700">
            <a:solidFill>
              <a:srgbClr val="D6EEFA"/>
            </a:solidFill>
            <a:prstDash val="solid"/>
          </a:ln>
        </p:spPr>
      </p:sp>
      <p:sp>
        <p:nvSpPr>
          <p:cNvPr id="31" name="Text 28"/>
          <p:cNvSpPr txBox="1"/>
          <p:nvPr/>
        </p:nvSpPr>
        <p:spPr>
          <a:xfrm>
            <a:off x="640080" y="3099816"/>
            <a:ext cx="1463040" cy="411480"/>
          </a:xfrm>
          <a:prstGeom prst="rect">
            <a:avLst/>
          </a:prstGeom>
          <a:noFill/>
          <a:ln/>
        </p:spPr>
        <p:txBody>
          <a:bodyPr wrap="square" lIns="0" tIns="0" rIns="0" bIns="0" rtlCol="0" anchor="t"/>
          <a:lstStyle/>
          <a:p>
            <a:pPr marL="0" indent="0">
              <a:buNone/>
            </a:pPr>
            <a:r>
              <a:rPr lang="en-US" sz="1800" b="1" dirty="0">
                <a:solidFill>
                  <a:srgbClr val="17365D"/>
                </a:solidFill>
                <a:latin typeface="Arial" pitchFamily="34" charset="0"/>
                <a:ea typeface="Arial" pitchFamily="34" charset="-122"/>
                <a:cs typeface="Arial" pitchFamily="34" charset="-120"/>
              </a:rPr>
              <a:t>POLL</a:t>
            </a:r>
            <a:endParaRPr lang="en-US" sz="1800" dirty="0"/>
          </a:p>
        </p:txBody>
      </p:sp>
      <p:sp>
        <p:nvSpPr>
          <p:cNvPr id="32" name="Text 29"/>
          <p:cNvSpPr txBox="1"/>
          <p:nvPr/>
        </p:nvSpPr>
        <p:spPr>
          <a:xfrm>
            <a:off x="640080" y="3511296"/>
            <a:ext cx="2651760" cy="320040"/>
          </a:xfrm>
          <a:prstGeom prst="rect">
            <a:avLst/>
          </a:prstGeom>
          <a:noFill/>
          <a:ln/>
        </p:spPr>
        <p:txBody>
          <a:bodyPr wrap="square" lIns="0" tIns="0" rIns="0" bIns="0" rtlCol="0" anchor="t"/>
          <a:lstStyle/>
          <a:p>
            <a:pPr marL="0" indent="0">
              <a:buNone/>
            </a:pPr>
            <a:r>
              <a:rPr lang="en-US" sz="1150" dirty="0">
                <a:solidFill>
                  <a:srgbClr val="5B6B7F"/>
                </a:solidFill>
                <a:latin typeface="Arial" pitchFamily="34" charset="0"/>
                <a:ea typeface="Arial" pitchFamily="34" charset="-122"/>
                <a:cs typeface="Arial" pitchFamily="34" charset="-120"/>
              </a:rPr>
              <a:t>5 B  ·  sender → receiver</a:t>
            </a:r>
            <a:endParaRPr lang="en-US" sz="1150" dirty="0"/>
          </a:p>
        </p:txBody>
      </p:sp>
      <p:sp>
        <p:nvSpPr>
          <p:cNvPr id="33" name="Shape 30"/>
          <p:cNvSpPr/>
          <p:nvPr/>
        </p:nvSpPr>
        <p:spPr>
          <a:xfrm>
            <a:off x="3291840" y="3191256"/>
            <a:ext cx="731520" cy="530352"/>
          </a:xfrm>
          <a:prstGeom prst="rect">
            <a:avLst/>
          </a:prstGeom>
          <a:solidFill>
            <a:srgbClr val="6B778A"/>
          </a:solidFill>
          <a:ln w="19050">
            <a:solidFill>
              <a:srgbClr val="FFFFFF"/>
            </a:solidFill>
            <a:prstDash val="solid"/>
          </a:ln>
        </p:spPr>
      </p:sp>
      <p:sp>
        <p:nvSpPr>
          <p:cNvPr id="34" name="Text 31"/>
          <p:cNvSpPr txBox="1"/>
          <p:nvPr/>
        </p:nvSpPr>
        <p:spPr>
          <a:xfrm>
            <a:off x="3291840" y="3191256"/>
            <a:ext cx="731520"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type</a:t>
            </a:r>
            <a:endParaRPr lang="en-US" sz="1150" dirty="0"/>
          </a:p>
        </p:txBody>
      </p:sp>
      <p:sp>
        <p:nvSpPr>
          <p:cNvPr id="35" name="Shape 32"/>
          <p:cNvSpPr/>
          <p:nvPr/>
        </p:nvSpPr>
        <p:spPr>
          <a:xfrm>
            <a:off x="4023360" y="3191256"/>
            <a:ext cx="1737360" cy="530352"/>
          </a:xfrm>
          <a:prstGeom prst="rect">
            <a:avLst/>
          </a:prstGeom>
          <a:solidFill>
            <a:srgbClr val="D98A00"/>
          </a:solidFill>
          <a:ln w="19050">
            <a:solidFill>
              <a:srgbClr val="FFFFFF"/>
            </a:solidFill>
            <a:prstDash val="solid"/>
          </a:ln>
        </p:spPr>
      </p:sp>
      <p:sp>
        <p:nvSpPr>
          <p:cNvPr id="36" name="Text 33"/>
          <p:cNvSpPr txBox="1"/>
          <p:nvPr/>
        </p:nvSpPr>
        <p:spPr>
          <a:xfrm>
            <a:off x="4023360" y="3191256"/>
            <a:ext cx="1737360"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session CRC-32</a:t>
            </a:r>
            <a:endParaRPr lang="en-US" sz="1150" dirty="0"/>
          </a:p>
        </p:txBody>
      </p:sp>
      <p:sp>
        <p:nvSpPr>
          <p:cNvPr id="37" name="Shape 34"/>
          <p:cNvSpPr/>
          <p:nvPr/>
        </p:nvSpPr>
        <p:spPr>
          <a:xfrm>
            <a:off x="457200" y="4032504"/>
            <a:ext cx="11274552" cy="896112"/>
          </a:xfrm>
          <a:prstGeom prst="roundRect">
            <a:avLst>
              <a:gd name="adj" fmla="val 8163"/>
            </a:avLst>
          </a:prstGeom>
          <a:solidFill>
            <a:srgbClr val="FFFFFF"/>
          </a:solidFill>
          <a:ln w="12700">
            <a:solidFill>
              <a:srgbClr val="D6EEFA"/>
            </a:solidFill>
            <a:prstDash val="solid"/>
          </a:ln>
        </p:spPr>
      </p:sp>
      <p:sp>
        <p:nvSpPr>
          <p:cNvPr id="38" name="Text 35"/>
          <p:cNvSpPr txBox="1"/>
          <p:nvPr/>
        </p:nvSpPr>
        <p:spPr>
          <a:xfrm>
            <a:off x="640080" y="4123944"/>
            <a:ext cx="1463040" cy="411480"/>
          </a:xfrm>
          <a:prstGeom prst="rect">
            <a:avLst/>
          </a:prstGeom>
          <a:noFill/>
          <a:ln/>
        </p:spPr>
        <p:txBody>
          <a:bodyPr wrap="square" lIns="0" tIns="0" rIns="0" bIns="0" rtlCol="0" anchor="t"/>
          <a:lstStyle/>
          <a:p>
            <a:pPr marL="0" indent="0">
              <a:buNone/>
            </a:pPr>
            <a:r>
              <a:rPr lang="en-US" sz="1800" b="1" dirty="0">
                <a:solidFill>
                  <a:srgbClr val="17365D"/>
                </a:solidFill>
                <a:latin typeface="Arial" pitchFamily="34" charset="0"/>
                <a:ea typeface="Arial" pitchFamily="34" charset="-122"/>
                <a:cs typeface="Arial" pitchFamily="34" charset="-120"/>
              </a:rPr>
              <a:t>STATUS</a:t>
            </a:r>
            <a:endParaRPr lang="en-US" sz="1800" dirty="0"/>
          </a:p>
        </p:txBody>
      </p:sp>
      <p:sp>
        <p:nvSpPr>
          <p:cNvPr id="39" name="Text 36"/>
          <p:cNvSpPr txBox="1"/>
          <p:nvPr/>
        </p:nvSpPr>
        <p:spPr>
          <a:xfrm>
            <a:off x="640080" y="4535424"/>
            <a:ext cx="2651760" cy="320040"/>
          </a:xfrm>
          <a:prstGeom prst="rect">
            <a:avLst/>
          </a:prstGeom>
          <a:noFill/>
          <a:ln/>
        </p:spPr>
        <p:txBody>
          <a:bodyPr wrap="square" lIns="0" tIns="0" rIns="0" bIns="0" rtlCol="0" anchor="t"/>
          <a:lstStyle/>
          <a:p>
            <a:pPr marL="0" indent="0">
              <a:buNone/>
            </a:pPr>
            <a:r>
              <a:rPr lang="en-US" sz="1150" dirty="0">
                <a:solidFill>
                  <a:srgbClr val="5B6B7F"/>
                </a:solidFill>
                <a:latin typeface="Arial" pitchFamily="34" charset="0"/>
                <a:ea typeface="Arial" pitchFamily="34" charset="-122"/>
                <a:cs typeface="Arial" pitchFamily="34" charset="-120"/>
              </a:rPr>
              <a:t>16 B + bitmap  ·  receiver → sender</a:t>
            </a:r>
            <a:endParaRPr lang="en-US" sz="1150" dirty="0"/>
          </a:p>
        </p:txBody>
      </p:sp>
      <p:sp>
        <p:nvSpPr>
          <p:cNvPr id="40" name="Shape 37"/>
          <p:cNvSpPr/>
          <p:nvPr/>
        </p:nvSpPr>
        <p:spPr>
          <a:xfrm>
            <a:off x="3291840" y="4215384"/>
            <a:ext cx="731520" cy="530352"/>
          </a:xfrm>
          <a:prstGeom prst="rect">
            <a:avLst/>
          </a:prstGeom>
          <a:solidFill>
            <a:srgbClr val="6B778A"/>
          </a:solidFill>
          <a:ln w="19050">
            <a:solidFill>
              <a:srgbClr val="FFFFFF"/>
            </a:solidFill>
            <a:prstDash val="solid"/>
          </a:ln>
        </p:spPr>
      </p:sp>
      <p:sp>
        <p:nvSpPr>
          <p:cNvPr id="41" name="Text 38"/>
          <p:cNvSpPr txBox="1"/>
          <p:nvPr/>
        </p:nvSpPr>
        <p:spPr>
          <a:xfrm>
            <a:off x="3291840" y="4215384"/>
            <a:ext cx="731520"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type</a:t>
            </a:r>
            <a:endParaRPr lang="en-US" sz="1150" dirty="0"/>
          </a:p>
        </p:txBody>
      </p:sp>
      <p:sp>
        <p:nvSpPr>
          <p:cNvPr id="42" name="Shape 39"/>
          <p:cNvSpPr/>
          <p:nvPr/>
        </p:nvSpPr>
        <p:spPr>
          <a:xfrm>
            <a:off x="4023360" y="4215384"/>
            <a:ext cx="1005840" cy="530352"/>
          </a:xfrm>
          <a:prstGeom prst="rect">
            <a:avLst/>
          </a:prstGeom>
          <a:solidFill>
            <a:srgbClr val="C8102E"/>
          </a:solidFill>
          <a:ln w="19050">
            <a:solidFill>
              <a:srgbClr val="FFFFFF"/>
            </a:solidFill>
            <a:prstDash val="solid"/>
          </a:ln>
        </p:spPr>
      </p:sp>
      <p:sp>
        <p:nvSpPr>
          <p:cNvPr id="43" name="Text 40"/>
          <p:cNvSpPr txBox="1"/>
          <p:nvPr/>
        </p:nvSpPr>
        <p:spPr>
          <a:xfrm>
            <a:off x="4023360" y="4215384"/>
            <a:ext cx="1005840"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outcome</a:t>
            </a:r>
            <a:endParaRPr lang="en-US" sz="1150" dirty="0"/>
          </a:p>
        </p:txBody>
      </p:sp>
      <p:sp>
        <p:nvSpPr>
          <p:cNvPr id="44" name="Shape 41"/>
          <p:cNvSpPr/>
          <p:nvPr/>
        </p:nvSpPr>
        <p:spPr>
          <a:xfrm>
            <a:off x="5029200" y="4215384"/>
            <a:ext cx="1463040" cy="530352"/>
          </a:xfrm>
          <a:prstGeom prst="rect">
            <a:avLst/>
          </a:prstGeom>
          <a:solidFill>
            <a:srgbClr val="D98A00"/>
          </a:solidFill>
          <a:ln w="19050">
            <a:solidFill>
              <a:srgbClr val="FFFFFF"/>
            </a:solidFill>
            <a:prstDash val="solid"/>
          </a:ln>
        </p:spPr>
      </p:sp>
      <p:sp>
        <p:nvSpPr>
          <p:cNvPr id="45" name="Text 42"/>
          <p:cNvSpPr txBox="1"/>
          <p:nvPr/>
        </p:nvSpPr>
        <p:spPr>
          <a:xfrm>
            <a:off x="5029200" y="4215384"/>
            <a:ext cx="1463040"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session CRC-32</a:t>
            </a:r>
            <a:endParaRPr lang="en-US" sz="1150" dirty="0"/>
          </a:p>
        </p:txBody>
      </p:sp>
      <p:sp>
        <p:nvSpPr>
          <p:cNvPr id="46" name="Shape 43"/>
          <p:cNvSpPr/>
          <p:nvPr/>
        </p:nvSpPr>
        <p:spPr>
          <a:xfrm>
            <a:off x="6492240" y="4215384"/>
            <a:ext cx="1143000" cy="530352"/>
          </a:xfrm>
          <a:prstGeom prst="rect">
            <a:avLst/>
          </a:prstGeom>
          <a:solidFill>
            <a:srgbClr val="17365D"/>
          </a:solidFill>
          <a:ln w="19050">
            <a:solidFill>
              <a:srgbClr val="FFFFFF"/>
            </a:solidFill>
            <a:prstDash val="solid"/>
          </a:ln>
        </p:spPr>
      </p:sp>
      <p:sp>
        <p:nvSpPr>
          <p:cNvPr id="47" name="Text 44"/>
          <p:cNvSpPr txBox="1"/>
          <p:nvPr/>
        </p:nvSpPr>
        <p:spPr>
          <a:xfrm>
            <a:off x="6492240" y="4215384"/>
            <a:ext cx="1143000"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total blocks</a:t>
            </a:r>
            <a:endParaRPr lang="en-US" sz="1150" dirty="0"/>
          </a:p>
        </p:txBody>
      </p:sp>
      <p:sp>
        <p:nvSpPr>
          <p:cNvPr id="48" name="Shape 45"/>
          <p:cNvSpPr/>
          <p:nvPr/>
        </p:nvSpPr>
        <p:spPr>
          <a:xfrm>
            <a:off x="7635240" y="4215384"/>
            <a:ext cx="960120" cy="530352"/>
          </a:xfrm>
          <a:prstGeom prst="rect">
            <a:avLst/>
          </a:prstGeom>
          <a:solidFill>
            <a:srgbClr val="1F6FB5"/>
          </a:solidFill>
          <a:ln w="19050">
            <a:solidFill>
              <a:srgbClr val="FFFFFF"/>
            </a:solidFill>
            <a:prstDash val="solid"/>
          </a:ln>
        </p:spPr>
      </p:sp>
      <p:sp>
        <p:nvSpPr>
          <p:cNvPr id="49" name="Text 46"/>
          <p:cNvSpPr txBox="1"/>
          <p:nvPr/>
        </p:nvSpPr>
        <p:spPr>
          <a:xfrm>
            <a:off x="7635240" y="4215384"/>
            <a:ext cx="960120"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received</a:t>
            </a:r>
            <a:endParaRPr lang="en-US" sz="1150" dirty="0"/>
          </a:p>
        </p:txBody>
      </p:sp>
      <p:sp>
        <p:nvSpPr>
          <p:cNvPr id="50" name="Shape 47"/>
          <p:cNvSpPr/>
          <p:nvPr/>
        </p:nvSpPr>
        <p:spPr>
          <a:xfrm>
            <a:off x="8595360" y="4215384"/>
            <a:ext cx="1005840" cy="530352"/>
          </a:xfrm>
          <a:prstGeom prst="rect">
            <a:avLst/>
          </a:prstGeom>
          <a:solidFill>
            <a:srgbClr val="08A1D9"/>
          </a:solidFill>
          <a:ln w="19050">
            <a:solidFill>
              <a:srgbClr val="FFFFFF"/>
            </a:solidFill>
            <a:prstDash val="solid"/>
          </a:ln>
        </p:spPr>
      </p:sp>
      <p:sp>
        <p:nvSpPr>
          <p:cNvPr id="51" name="Text 48"/>
          <p:cNvSpPr txBox="1"/>
          <p:nvPr/>
        </p:nvSpPr>
        <p:spPr>
          <a:xfrm>
            <a:off x="8595360" y="4215384"/>
            <a:ext cx="1005840"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bitmap len</a:t>
            </a:r>
            <a:endParaRPr lang="en-US" sz="1150" dirty="0"/>
          </a:p>
        </p:txBody>
      </p:sp>
      <p:sp>
        <p:nvSpPr>
          <p:cNvPr id="52" name="Shape 49"/>
          <p:cNvSpPr/>
          <p:nvPr/>
        </p:nvSpPr>
        <p:spPr>
          <a:xfrm>
            <a:off x="9601200" y="4215384"/>
            <a:ext cx="1005840" cy="530352"/>
          </a:xfrm>
          <a:prstGeom prst="rect">
            <a:avLst/>
          </a:prstGeom>
          <a:solidFill>
            <a:srgbClr val="7FCBEA"/>
          </a:solidFill>
          <a:ln w="19050">
            <a:solidFill>
              <a:srgbClr val="FFFFFF"/>
            </a:solidFill>
            <a:prstDash val="solid"/>
          </a:ln>
        </p:spPr>
      </p:sp>
      <p:sp>
        <p:nvSpPr>
          <p:cNvPr id="53" name="Text 50"/>
          <p:cNvSpPr txBox="1"/>
          <p:nvPr/>
        </p:nvSpPr>
        <p:spPr>
          <a:xfrm>
            <a:off x="9601200" y="4215384"/>
            <a:ext cx="1005840"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bitmap*</a:t>
            </a:r>
            <a:endParaRPr lang="en-US" sz="1150" dirty="0"/>
          </a:p>
        </p:txBody>
      </p:sp>
      <p:sp>
        <p:nvSpPr>
          <p:cNvPr id="54" name="Shape 51"/>
          <p:cNvSpPr/>
          <p:nvPr/>
        </p:nvSpPr>
        <p:spPr>
          <a:xfrm>
            <a:off x="457200" y="5120640"/>
            <a:ext cx="11274552" cy="1170432"/>
          </a:xfrm>
          <a:prstGeom prst="roundRect">
            <a:avLst>
              <a:gd name="adj" fmla="val 7813"/>
            </a:avLst>
          </a:prstGeom>
          <a:solidFill>
            <a:srgbClr val="17365D"/>
          </a:solidFill>
          <a:ln/>
        </p:spPr>
      </p:sp>
      <p:pic>
        <p:nvPicPr>
          <p:cNvPr id="55" name="Image 0" descr="preencoded.png"/>
          <p:cNvPicPr>
            <a:picLocks noChangeAspect="1"/>
          </p:cNvPicPr>
          <p:nvPr/>
        </p:nvPicPr>
        <p:blipFill>
          <a:blip r:embed="rId3"/>
          <a:stretch>
            <a:fillRect/>
          </a:stretch>
        </p:blipFill>
        <p:spPr>
          <a:xfrm>
            <a:off x="731520" y="5440680"/>
            <a:ext cx="502920" cy="502920"/>
          </a:xfrm>
          <a:prstGeom prst="rect">
            <a:avLst/>
          </a:prstGeom>
        </p:spPr>
      </p:pic>
      <p:sp>
        <p:nvSpPr>
          <p:cNvPr id="56" name="Text 52"/>
          <p:cNvSpPr txBox="1"/>
          <p:nvPr/>
        </p:nvSpPr>
        <p:spPr>
          <a:xfrm>
            <a:off x="1463040" y="5120640"/>
            <a:ext cx="10058400" cy="1170432"/>
          </a:xfrm>
          <a:prstGeom prst="rect">
            <a:avLst/>
          </a:prstGeom>
          <a:noFill/>
          <a:ln/>
        </p:spPr>
        <p:txBody>
          <a:bodyPr wrap="square" lIns="0" tIns="0" rIns="0" bIns="0" rtlCol="0" anchor="ctr"/>
          <a:lstStyle/>
          <a:p>
            <a:pPr marL="0" indent="0">
              <a:buNone/>
            </a:pPr>
            <a:r>
              <a:rPr lang="en-US" sz="1350" b="1" dirty="0">
                <a:solidFill>
                  <a:srgbClr val="8FD8F8"/>
                </a:solidFill>
                <a:latin typeface="Arial" pitchFamily="34" charset="0"/>
                <a:ea typeface="Arial" pitchFamily="34" charset="-122"/>
                <a:cs typeface="Arial" pitchFamily="34" charset="-120"/>
              </a:rPr>
              <a:t>Session id = whole-image CRC-32 from META.</a:t>
            </a:r>
            <a:endParaRPr lang="en-US" sz="1350" dirty="0"/>
          </a:p>
          <a:p>
            <a:pPr marL="0" indent="0">
              <a:buNone/>
            </a:pPr>
            <a:r>
              <a:rPr lang="en-US" sz="1350" dirty="0">
                <a:solidFill>
                  <a:srgbClr val="FFFFFF"/>
                </a:solidFill>
                <a:latin typeface="Arial" pitchFamily="34" charset="0"/>
                <a:ea typeface="Arial" pitchFamily="34" charset="-122"/>
                <a:cs typeface="Arial" pitchFamily="34" charset="-120"/>
              </a:rPr>
              <a:t>POLL and STATUS both carry it, so a leftover message from an aborted session can't touch the current one. *Bitmap is sent only when the outcome is INCOMPLETE.</a:t>
            </a:r>
            <a:endParaRPr lang="en-US" sz="1350" dirty="0"/>
          </a:p>
        </p:txBody>
      </p:sp>
      <p:sp>
        <p:nvSpPr>
          <p:cNvPr id="3" name="Slide Number Placeholder 0"/>
          <p:cNvSpPr>
            <a:spLocks noGrp="1"/>
          </p:cNvSpPr>
          <p:nvPr>
            <p:ph type="sldNum" sz="quarter" idx="4294967295"/>
          </p:nvPr>
        </p:nvSpPr>
        <p:spPr>
          <a:xfrm>
            <a:off x="1138428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A"/>
                </a:solidFill>
                <a:latin typeface="Arial"/>
                <a:ea typeface="Arial"/>
                <a:cs typeface="Aria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36576"/>
            <a:ext cx="8686800" cy="420624"/>
          </a:xfrm>
          <a:prstGeom prst="rect">
            <a:avLst/>
          </a:prstGeom>
          <a:noFill/>
          <a:ln/>
        </p:spPr>
        <p:txBody>
          <a:bodyPr wrap="square" lIns="0" tIns="0" rIns="0" bIns="0" rtlCol="0" anchor="ctr"/>
          <a:lstStyle/>
          <a:p>
            <a:pPr marL="0" indent="0">
              <a:buNone/>
            </a:pPr>
            <a:r>
              <a:rPr lang="en-US" sz="2400" b="1" dirty="0">
                <a:solidFill>
                  <a:srgbClr val="1F5A9E"/>
                </a:solidFill>
                <a:latin typeface="Arial" pitchFamily="34" charset="0"/>
                <a:ea typeface="Arial" pitchFamily="34" charset="-122"/>
                <a:cs typeface="Arial" pitchFamily="34" charset="-120"/>
              </a:rPr>
              <a:t>Stages of Transfer</a:t>
            </a:r>
            <a:endParaRPr lang="en-US" sz="2400" dirty="0"/>
          </a:p>
        </p:txBody>
      </p:sp>
      <p:sp>
        <p:nvSpPr>
          <p:cNvPr id="4" name="Shape 1"/>
          <p:cNvSpPr/>
          <p:nvPr/>
        </p:nvSpPr>
        <p:spPr>
          <a:xfrm>
            <a:off x="457200" y="1234440"/>
            <a:ext cx="6537960" cy="914400"/>
          </a:xfrm>
          <a:prstGeom prst="rect">
            <a:avLst/>
          </a:prstGeom>
          <a:solidFill>
            <a:srgbClr val="DDF2FC"/>
          </a:solidFill>
          <a:ln/>
        </p:spPr>
      </p:sp>
      <p:sp>
        <p:nvSpPr>
          <p:cNvPr id="5" name="Shape 2"/>
          <p:cNvSpPr/>
          <p:nvPr/>
        </p:nvSpPr>
        <p:spPr>
          <a:xfrm>
            <a:off x="457200" y="2194560"/>
            <a:ext cx="6537960" cy="1417320"/>
          </a:xfrm>
          <a:prstGeom prst="rect">
            <a:avLst/>
          </a:prstGeom>
          <a:solidFill>
            <a:srgbClr val="EAF7FD"/>
          </a:solidFill>
          <a:ln/>
        </p:spPr>
      </p:sp>
      <p:sp>
        <p:nvSpPr>
          <p:cNvPr id="6" name="Shape 3"/>
          <p:cNvSpPr/>
          <p:nvPr/>
        </p:nvSpPr>
        <p:spPr>
          <a:xfrm>
            <a:off x="457200" y="3657600"/>
            <a:ext cx="6537960" cy="2651760"/>
          </a:xfrm>
          <a:prstGeom prst="rect">
            <a:avLst/>
          </a:prstGeom>
          <a:solidFill>
            <a:srgbClr val="DDF2FC"/>
          </a:solidFill>
          <a:ln/>
        </p:spPr>
      </p:sp>
      <p:sp>
        <p:nvSpPr>
          <p:cNvPr id="7" name="Shape 4"/>
          <p:cNvSpPr/>
          <p:nvPr/>
        </p:nvSpPr>
        <p:spPr>
          <a:xfrm>
            <a:off x="685800" y="822960"/>
            <a:ext cx="1188720" cy="384048"/>
          </a:xfrm>
          <a:prstGeom prst="roundRect">
            <a:avLst>
              <a:gd name="adj" fmla="val 14286"/>
            </a:avLst>
          </a:prstGeom>
          <a:solidFill>
            <a:srgbClr val="17365D"/>
          </a:solidFill>
          <a:ln/>
        </p:spPr>
      </p:sp>
      <p:sp>
        <p:nvSpPr>
          <p:cNvPr id="8" name="Text 5"/>
          <p:cNvSpPr txBox="1"/>
          <p:nvPr/>
        </p:nvSpPr>
        <p:spPr>
          <a:xfrm>
            <a:off x="685800" y="822960"/>
            <a:ext cx="11887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Sender</a:t>
            </a:r>
            <a:endParaRPr lang="en-US" sz="1300" dirty="0"/>
          </a:p>
        </p:txBody>
      </p:sp>
      <p:sp>
        <p:nvSpPr>
          <p:cNvPr id="9" name="Shape 6"/>
          <p:cNvSpPr/>
          <p:nvPr/>
        </p:nvSpPr>
        <p:spPr>
          <a:xfrm>
            <a:off x="5440680" y="822960"/>
            <a:ext cx="1188720" cy="384048"/>
          </a:xfrm>
          <a:prstGeom prst="roundRect">
            <a:avLst>
              <a:gd name="adj" fmla="val 14286"/>
            </a:avLst>
          </a:prstGeom>
          <a:solidFill>
            <a:srgbClr val="08A1D9"/>
          </a:solidFill>
          <a:ln/>
        </p:spPr>
      </p:sp>
      <p:sp>
        <p:nvSpPr>
          <p:cNvPr id="10" name="Text 7"/>
          <p:cNvSpPr txBox="1"/>
          <p:nvPr/>
        </p:nvSpPr>
        <p:spPr>
          <a:xfrm>
            <a:off x="5440680" y="822960"/>
            <a:ext cx="11887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Receiver</a:t>
            </a:r>
            <a:endParaRPr lang="en-US" sz="1300" dirty="0"/>
          </a:p>
        </p:txBody>
      </p:sp>
      <p:sp>
        <p:nvSpPr>
          <p:cNvPr id="11" name="Shape 8"/>
          <p:cNvSpPr/>
          <p:nvPr/>
        </p:nvSpPr>
        <p:spPr>
          <a:xfrm>
            <a:off x="1280160" y="1207008"/>
            <a:ext cx="0" cy="5120640"/>
          </a:xfrm>
          <a:prstGeom prst="line">
            <a:avLst/>
          </a:prstGeom>
          <a:noFill/>
          <a:ln w="15875">
            <a:solidFill>
              <a:srgbClr val="17365D"/>
            </a:solidFill>
            <a:prstDash val="dash"/>
          </a:ln>
        </p:spPr>
      </p:sp>
      <p:sp>
        <p:nvSpPr>
          <p:cNvPr id="12" name="Shape 9"/>
          <p:cNvSpPr/>
          <p:nvPr/>
        </p:nvSpPr>
        <p:spPr>
          <a:xfrm>
            <a:off x="6035040" y="1207008"/>
            <a:ext cx="0" cy="5120640"/>
          </a:xfrm>
          <a:prstGeom prst="line">
            <a:avLst/>
          </a:prstGeom>
          <a:noFill/>
          <a:ln w="15875">
            <a:solidFill>
              <a:srgbClr val="08A1D9"/>
            </a:solidFill>
            <a:prstDash val="dash"/>
          </a:ln>
        </p:spPr>
      </p:sp>
      <p:sp>
        <p:nvSpPr>
          <p:cNvPr id="13" name="Shape 10"/>
          <p:cNvSpPr/>
          <p:nvPr/>
        </p:nvSpPr>
        <p:spPr>
          <a:xfrm>
            <a:off x="1325880" y="1600200"/>
            <a:ext cx="4663440" cy="0"/>
          </a:xfrm>
          <a:prstGeom prst="line">
            <a:avLst/>
          </a:prstGeom>
          <a:noFill/>
          <a:ln w="25400">
            <a:solidFill>
              <a:srgbClr val="17365D"/>
            </a:solidFill>
            <a:prstDash val="solid"/>
            <a:tailEnd type="triangle"/>
          </a:ln>
        </p:spPr>
      </p:sp>
      <p:sp>
        <p:nvSpPr>
          <p:cNvPr id="14" name="Text 11"/>
          <p:cNvSpPr txBox="1"/>
          <p:nvPr/>
        </p:nvSpPr>
        <p:spPr>
          <a:xfrm>
            <a:off x="1554480" y="1325880"/>
            <a:ext cx="4206240" cy="256032"/>
          </a:xfrm>
          <a:prstGeom prst="rect">
            <a:avLst/>
          </a:prstGeom>
          <a:noFill/>
          <a:ln/>
        </p:spPr>
        <p:txBody>
          <a:bodyPr wrap="square" lIns="0" tIns="0" rIns="0" bIns="0" rtlCol="0" anchor="t"/>
          <a:lstStyle/>
          <a:p>
            <a:pPr marL="0" indent="0">
              <a:buNone/>
            </a:pPr>
            <a:r>
              <a:rPr lang="en-US" sz="1150" b="1" dirty="0">
                <a:solidFill>
                  <a:srgbClr val="17365D"/>
                </a:solidFill>
                <a:latin typeface="Arial" pitchFamily="34" charset="0"/>
                <a:ea typeface="Arial" pitchFamily="34" charset="-122"/>
                <a:cs typeface="Arial" pitchFamily="34" charset="-120"/>
              </a:rPr>
              <a:t>META  (×3 on UDP, ×4 on CAN-FD/UART)</a:t>
            </a:r>
            <a:endParaRPr lang="en-US" sz="1150" dirty="0"/>
          </a:p>
        </p:txBody>
      </p:sp>
      <p:sp>
        <p:nvSpPr>
          <p:cNvPr id="15" name="Shape 12"/>
          <p:cNvSpPr/>
          <p:nvPr/>
        </p:nvSpPr>
        <p:spPr>
          <a:xfrm>
            <a:off x="1325880" y="2011680"/>
            <a:ext cx="4663440" cy="0"/>
          </a:xfrm>
          <a:prstGeom prst="line">
            <a:avLst/>
          </a:prstGeom>
          <a:noFill/>
          <a:ln w="25400">
            <a:solidFill>
              <a:srgbClr val="17365D"/>
            </a:solidFill>
            <a:prstDash val="solid"/>
            <a:tailEnd type="triangle"/>
          </a:ln>
        </p:spPr>
      </p:sp>
      <p:sp>
        <p:nvSpPr>
          <p:cNvPr id="16" name="Text 13"/>
          <p:cNvSpPr txBox="1"/>
          <p:nvPr/>
        </p:nvSpPr>
        <p:spPr>
          <a:xfrm>
            <a:off x="1554480" y="1737360"/>
            <a:ext cx="4206240" cy="256032"/>
          </a:xfrm>
          <a:prstGeom prst="rect">
            <a:avLst/>
          </a:prstGeom>
          <a:noFill/>
          <a:ln/>
        </p:spPr>
        <p:txBody>
          <a:bodyPr wrap="square" lIns="0" tIns="0" rIns="0" bIns="0" rtlCol="0" anchor="t"/>
          <a:lstStyle/>
          <a:p>
            <a:pPr marL="0" indent="0">
              <a:buNone/>
            </a:pPr>
            <a:r>
              <a:rPr lang="en-US" sz="1150" b="1" dirty="0">
                <a:solidFill>
                  <a:srgbClr val="17365D"/>
                </a:solidFill>
                <a:latin typeface="Arial" pitchFamily="34" charset="0"/>
                <a:ea typeface="Arial" pitchFamily="34" charset="-122"/>
                <a:cs typeface="Arial" pitchFamily="34" charset="-120"/>
              </a:rPr>
              <a:t>META  (repeat)</a:t>
            </a:r>
            <a:endParaRPr lang="en-US" sz="1150" dirty="0"/>
          </a:p>
        </p:txBody>
      </p:sp>
      <p:sp>
        <p:nvSpPr>
          <p:cNvPr id="17" name="Shape 14"/>
          <p:cNvSpPr/>
          <p:nvPr/>
        </p:nvSpPr>
        <p:spPr>
          <a:xfrm>
            <a:off x="1325880" y="2606040"/>
            <a:ext cx="4663440" cy="0"/>
          </a:xfrm>
          <a:prstGeom prst="line">
            <a:avLst/>
          </a:prstGeom>
          <a:noFill/>
          <a:ln w="25400">
            <a:solidFill>
              <a:srgbClr val="1F6FB5"/>
            </a:solidFill>
            <a:prstDash val="solid"/>
            <a:tailEnd type="triangle"/>
          </a:ln>
        </p:spPr>
      </p:sp>
      <p:sp>
        <p:nvSpPr>
          <p:cNvPr id="18" name="Text 15"/>
          <p:cNvSpPr txBox="1"/>
          <p:nvPr/>
        </p:nvSpPr>
        <p:spPr>
          <a:xfrm>
            <a:off x="1554480" y="2331720"/>
            <a:ext cx="4206240" cy="256032"/>
          </a:xfrm>
          <a:prstGeom prst="rect">
            <a:avLst/>
          </a:prstGeom>
          <a:noFill/>
          <a:ln/>
        </p:spPr>
        <p:txBody>
          <a:bodyPr wrap="square" lIns="0" tIns="0" rIns="0" bIns="0" rtlCol="0" anchor="t"/>
          <a:lstStyle/>
          <a:p>
            <a:pPr marL="0" indent="0">
              <a:buNone/>
            </a:pPr>
            <a:r>
              <a:rPr lang="en-US" sz="1150" b="1" dirty="0">
                <a:solidFill>
                  <a:srgbClr val="1F6FB5"/>
                </a:solidFill>
                <a:latin typeface="Arial" pitchFamily="34" charset="0"/>
                <a:ea typeface="Arial" pitchFamily="34" charset="-122"/>
                <a:cs typeface="Arial" pitchFamily="34" charset="-120"/>
              </a:rPr>
              <a:t>DATA block 0</a:t>
            </a:r>
            <a:endParaRPr lang="en-US" sz="1150" dirty="0"/>
          </a:p>
        </p:txBody>
      </p:sp>
      <p:sp>
        <p:nvSpPr>
          <p:cNvPr id="19" name="Shape 16"/>
          <p:cNvSpPr/>
          <p:nvPr/>
        </p:nvSpPr>
        <p:spPr>
          <a:xfrm>
            <a:off x="1325880" y="3017520"/>
            <a:ext cx="2377440" cy="0"/>
          </a:xfrm>
          <a:prstGeom prst="line">
            <a:avLst/>
          </a:prstGeom>
          <a:noFill/>
          <a:ln w="25400">
            <a:solidFill>
              <a:srgbClr val="1F6FB5"/>
            </a:solidFill>
            <a:prstDash val="solid"/>
            <a:tailEnd type="triangle"/>
          </a:ln>
        </p:spPr>
      </p:sp>
      <p:sp>
        <p:nvSpPr>
          <p:cNvPr id="20" name="Text 17"/>
          <p:cNvSpPr txBox="1"/>
          <p:nvPr/>
        </p:nvSpPr>
        <p:spPr>
          <a:xfrm>
            <a:off x="1554480" y="2743200"/>
            <a:ext cx="4206240" cy="256032"/>
          </a:xfrm>
          <a:prstGeom prst="rect">
            <a:avLst/>
          </a:prstGeom>
          <a:noFill/>
          <a:ln/>
        </p:spPr>
        <p:txBody>
          <a:bodyPr wrap="square" lIns="0" tIns="0" rIns="0" bIns="0" rtlCol="0" anchor="t"/>
          <a:lstStyle/>
          <a:p>
            <a:pPr marL="0" indent="0">
              <a:buNone/>
            </a:pPr>
            <a:r>
              <a:rPr lang="en-US" sz="1150" b="1" dirty="0">
                <a:solidFill>
                  <a:srgbClr val="1F6FB5"/>
                </a:solidFill>
                <a:latin typeface="Arial" pitchFamily="34" charset="0"/>
                <a:ea typeface="Arial" pitchFamily="34" charset="-122"/>
                <a:cs typeface="Arial" pitchFamily="34" charset="-120"/>
              </a:rPr>
              <a:t>DATA block 1</a:t>
            </a:r>
            <a:endParaRPr lang="en-US" sz="1150" dirty="0"/>
          </a:p>
        </p:txBody>
      </p:sp>
      <p:sp>
        <p:nvSpPr>
          <p:cNvPr id="21" name="Text 18"/>
          <p:cNvSpPr txBox="1"/>
          <p:nvPr/>
        </p:nvSpPr>
        <p:spPr>
          <a:xfrm>
            <a:off x="3749040" y="2862072"/>
            <a:ext cx="914400" cy="292608"/>
          </a:xfrm>
          <a:prstGeom prst="rect">
            <a:avLst/>
          </a:prstGeom>
          <a:noFill/>
          <a:ln/>
        </p:spPr>
        <p:txBody>
          <a:bodyPr wrap="square" lIns="0" tIns="0" rIns="0" bIns="0" rtlCol="0" anchor="ctr"/>
          <a:lstStyle/>
          <a:p>
            <a:pPr marL="0" indent="0">
              <a:buNone/>
            </a:pPr>
            <a:r>
              <a:rPr lang="en-US" sz="1200" b="1" dirty="0">
                <a:solidFill>
                  <a:srgbClr val="C8102E"/>
                </a:solidFill>
                <a:latin typeface="Arial" pitchFamily="34" charset="0"/>
                <a:ea typeface="Arial" pitchFamily="34" charset="-122"/>
                <a:cs typeface="Arial" pitchFamily="34" charset="-120"/>
              </a:rPr>
              <a:t>✕ lost</a:t>
            </a:r>
            <a:endParaRPr lang="en-US" sz="1200" dirty="0"/>
          </a:p>
        </p:txBody>
      </p:sp>
      <p:sp>
        <p:nvSpPr>
          <p:cNvPr id="22" name="Shape 19"/>
          <p:cNvSpPr/>
          <p:nvPr/>
        </p:nvSpPr>
        <p:spPr>
          <a:xfrm>
            <a:off x="1325880" y="3429000"/>
            <a:ext cx="4663440" cy="0"/>
          </a:xfrm>
          <a:prstGeom prst="line">
            <a:avLst/>
          </a:prstGeom>
          <a:noFill/>
          <a:ln w="25400">
            <a:solidFill>
              <a:srgbClr val="1F6FB5"/>
            </a:solidFill>
            <a:prstDash val="solid"/>
            <a:tailEnd type="triangle"/>
          </a:ln>
        </p:spPr>
      </p:sp>
      <p:sp>
        <p:nvSpPr>
          <p:cNvPr id="23" name="Text 20"/>
          <p:cNvSpPr txBox="1"/>
          <p:nvPr/>
        </p:nvSpPr>
        <p:spPr>
          <a:xfrm>
            <a:off x="1554480" y="3154680"/>
            <a:ext cx="4206240" cy="256032"/>
          </a:xfrm>
          <a:prstGeom prst="rect">
            <a:avLst/>
          </a:prstGeom>
          <a:noFill/>
          <a:ln/>
        </p:spPr>
        <p:txBody>
          <a:bodyPr wrap="square" lIns="0" tIns="0" rIns="0" bIns="0" rtlCol="0" anchor="t"/>
          <a:lstStyle/>
          <a:p>
            <a:pPr marL="0" indent="0">
              <a:buNone/>
            </a:pPr>
            <a:r>
              <a:rPr lang="en-US" sz="1150" b="1" dirty="0">
                <a:solidFill>
                  <a:srgbClr val="1F6FB5"/>
                </a:solidFill>
                <a:latin typeface="Arial" pitchFamily="34" charset="0"/>
                <a:ea typeface="Arial" pitchFamily="34" charset="-122"/>
                <a:cs typeface="Arial" pitchFamily="34" charset="-120"/>
              </a:rPr>
              <a:t>DATA block 2 … N−1</a:t>
            </a:r>
            <a:endParaRPr lang="en-US" sz="1150" dirty="0"/>
          </a:p>
        </p:txBody>
      </p:sp>
      <p:sp>
        <p:nvSpPr>
          <p:cNvPr id="24" name="Shape 21"/>
          <p:cNvSpPr/>
          <p:nvPr/>
        </p:nvSpPr>
        <p:spPr>
          <a:xfrm>
            <a:off x="1325880" y="4069080"/>
            <a:ext cx="4663440" cy="0"/>
          </a:xfrm>
          <a:prstGeom prst="line">
            <a:avLst/>
          </a:prstGeom>
          <a:noFill/>
          <a:ln w="25400">
            <a:solidFill>
              <a:srgbClr val="D98A00"/>
            </a:solidFill>
            <a:prstDash val="solid"/>
            <a:tailEnd type="triangle"/>
          </a:ln>
        </p:spPr>
      </p:sp>
      <p:sp>
        <p:nvSpPr>
          <p:cNvPr id="25" name="Text 22"/>
          <p:cNvSpPr txBox="1"/>
          <p:nvPr/>
        </p:nvSpPr>
        <p:spPr>
          <a:xfrm>
            <a:off x="1554480" y="3794760"/>
            <a:ext cx="4206240" cy="256032"/>
          </a:xfrm>
          <a:prstGeom prst="rect">
            <a:avLst/>
          </a:prstGeom>
          <a:noFill/>
          <a:ln/>
        </p:spPr>
        <p:txBody>
          <a:bodyPr wrap="square" lIns="0" tIns="0" rIns="0" bIns="0" rtlCol="0" anchor="t"/>
          <a:lstStyle/>
          <a:p>
            <a:pPr marL="0" indent="0">
              <a:buNone/>
            </a:pPr>
            <a:r>
              <a:rPr lang="en-US" sz="1150" b="1" dirty="0">
                <a:solidFill>
                  <a:srgbClr val="D98A00"/>
                </a:solidFill>
                <a:latin typeface="Arial" pitchFamily="34" charset="0"/>
                <a:ea typeface="Arial" pitchFamily="34" charset="-122"/>
                <a:cs typeface="Arial" pitchFamily="34" charset="-120"/>
              </a:rPr>
              <a:t>POLL</a:t>
            </a:r>
            <a:endParaRPr lang="en-US" sz="1150" dirty="0"/>
          </a:p>
        </p:txBody>
      </p:sp>
      <p:sp>
        <p:nvSpPr>
          <p:cNvPr id="26" name="Shape 23"/>
          <p:cNvSpPr/>
          <p:nvPr/>
        </p:nvSpPr>
        <p:spPr>
          <a:xfrm flipH="1">
            <a:off x="1325880" y="4480560"/>
            <a:ext cx="4663440" cy="0"/>
          </a:xfrm>
          <a:prstGeom prst="line">
            <a:avLst/>
          </a:prstGeom>
          <a:noFill/>
          <a:ln w="25400">
            <a:solidFill>
              <a:srgbClr val="08A1D9"/>
            </a:solidFill>
            <a:prstDash val="solid"/>
            <a:tailEnd type="triangle"/>
          </a:ln>
        </p:spPr>
      </p:sp>
      <p:sp>
        <p:nvSpPr>
          <p:cNvPr id="27" name="Text 24"/>
          <p:cNvSpPr txBox="1"/>
          <p:nvPr/>
        </p:nvSpPr>
        <p:spPr>
          <a:xfrm>
            <a:off x="1554480" y="4206240"/>
            <a:ext cx="4206240" cy="256032"/>
          </a:xfrm>
          <a:prstGeom prst="rect">
            <a:avLst/>
          </a:prstGeom>
          <a:noFill/>
          <a:ln/>
        </p:spPr>
        <p:txBody>
          <a:bodyPr wrap="square" lIns="0" tIns="0" rIns="0" bIns="0" rtlCol="0" anchor="t"/>
          <a:lstStyle/>
          <a:p>
            <a:pPr marL="0" indent="0">
              <a:buNone/>
            </a:pPr>
            <a:r>
              <a:rPr lang="en-US" sz="1150" b="1" dirty="0">
                <a:solidFill>
                  <a:srgbClr val="08A1D9"/>
                </a:solidFill>
                <a:latin typeface="Arial" pitchFamily="34" charset="0"/>
                <a:ea typeface="Arial" pitchFamily="34" charset="-122"/>
                <a:cs typeface="Arial" pitchFamily="34" charset="-120"/>
              </a:rPr>
              <a:t>STATUS: INCOMPLETE + bitmap</a:t>
            </a:r>
            <a:endParaRPr lang="en-US" sz="1150" dirty="0"/>
          </a:p>
        </p:txBody>
      </p:sp>
      <p:sp>
        <p:nvSpPr>
          <p:cNvPr id="28" name="Shape 25"/>
          <p:cNvSpPr/>
          <p:nvPr/>
        </p:nvSpPr>
        <p:spPr>
          <a:xfrm>
            <a:off x="1325880" y="4937760"/>
            <a:ext cx="4663440" cy="0"/>
          </a:xfrm>
          <a:prstGeom prst="line">
            <a:avLst/>
          </a:prstGeom>
          <a:noFill/>
          <a:ln w="25400">
            <a:solidFill>
              <a:srgbClr val="1F6FB5"/>
            </a:solidFill>
            <a:prstDash val="solid"/>
            <a:tailEnd type="triangle"/>
          </a:ln>
        </p:spPr>
      </p:sp>
      <p:sp>
        <p:nvSpPr>
          <p:cNvPr id="29" name="Text 26"/>
          <p:cNvSpPr txBox="1"/>
          <p:nvPr/>
        </p:nvSpPr>
        <p:spPr>
          <a:xfrm>
            <a:off x="1554480" y="4663440"/>
            <a:ext cx="4206240" cy="256032"/>
          </a:xfrm>
          <a:prstGeom prst="rect">
            <a:avLst/>
          </a:prstGeom>
          <a:noFill/>
          <a:ln/>
        </p:spPr>
        <p:txBody>
          <a:bodyPr wrap="square" lIns="0" tIns="0" rIns="0" bIns="0" rtlCol="0" anchor="t"/>
          <a:lstStyle/>
          <a:p>
            <a:pPr marL="0" indent="0">
              <a:buNone/>
            </a:pPr>
            <a:r>
              <a:rPr lang="en-US" sz="1150" b="1" dirty="0">
                <a:solidFill>
                  <a:srgbClr val="1F6FB5"/>
                </a:solidFill>
                <a:latin typeface="Arial" pitchFamily="34" charset="0"/>
                <a:ea typeface="Arial" pitchFamily="34" charset="-122"/>
                <a:cs typeface="Arial" pitchFamily="34" charset="-120"/>
              </a:rPr>
              <a:t>DATA: only the missing blocks</a:t>
            </a:r>
            <a:endParaRPr lang="en-US" sz="1150" dirty="0"/>
          </a:p>
        </p:txBody>
      </p:sp>
      <p:sp>
        <p:nvSpPr>
          <p:cNvPr id="30" name="Shape 27"/>
          <p:cNvSpPr/>
          <p:nvPr/>
        </p:nvSpPr>
        <p:spPr>
          <a:xfrm>
            <a:off x="1325880" y="5349240"/>
            <a:ext cx="4663440" cy="0"/>
          </a:xfrm>
          <a:prstGeom prst="line">
            <a:avLst/>
          </a:prstGeom>
          <a:noFill/>
          <a:ln w="25400">
            <a:solidFill>
              <a:srgbClr val="D98A00"/>
            </a:solidFill>
            <a:prstDash val="solid"/>
            <a:tailEnd type="triangle"/>
          </a:ln>
        </p:spPr>
      </p:sp>
      <p:sp>
        <p:nvSpPr>
          <p:cNvPr id="31" name="Text 28"/>
          <p:cNvSpPr txBox="1"/>
          <p:nvPr/>
        </p:nvSpPr>
        <p:spPr>
          <a:xfrm>
            <a:off x="1554480" y="5074920"/>
            <a:ext cx="4206240" cy="256032"/>
          </a:xfrm>
          <a:prstGeom prst="rect">
            <a:avLst/>
          </a:prstGeom>
          <a:noFill/>
          <a:ln/>
        </p:spPr>
        <p:txBody>
          <a:bodyPr wrap="square" lIns="0" tIns="0" rIns="0" bIns="0" rtlCol="0" anchor="t"/>
          <a:lstStyle/>
          <a:p>
            <a:pPr marL="0" indent="0">
              <a:buNone/>
            </a:pPr>
            <a:r>
              <a:rPr lang="en-US" sz="1150" b="1" dirty="0">
                <a:solidFill>
                  <a:srgbClr val="D98A00"/>
                </a:solidFill>
                <a:latin typeface="Arial" pitchFamily="34" charset="0"/>
                <a:ea typeface="Arial" pitchFamily="34" charset="-122"/>
                <a:cs typeface="Arial" pitchFamily="34" charset="-120"/>
              </a:rPr>
              <a:t>POLL</a:t>
            </a:r>
            <a:endParaRPr lang="en-US" sz="1150" dirty="0"/>
          </a:p>
        </p:txBody>
      </p:sp>
      <p:sp>
        <p:nvSpPr>
          <p:cNvPr id="32" name="Shape 29"/>
          <p:cNvSpPr/>
          <p:nvPr/>
        </p:nvSpPr>
        <p:spPr>
          <a:xfrm flipH="1">
            <a:off x="1325880" y="5806440"/>
            <a:ext cx="4663440" cy="0"/>
          </a:xfrm>
          <a:prstGeom prst="line">
            <a:avLst/>
          </a:prstGeom>
          <a:noFill/>
          <a:ln w="25400">
            <a:solidFill>
              <a:srgbClr val="1E8E5A"/>
            </a:solidFill>
            <a:prstDash val="solid"/>
            <a:tailEnd type="triangle"/>
          </a:ln>
        </p:spPr>
      </p:sp>
      <p:sp>
        <p:nvSpPr>
          <p:cNvPr id="33" name="Text 30"/>
          <p:cNvSpPr txBox="1"/>
          <p:nvPr/>
        </p:nvSpPr>
        <p:spPr>
          <a:xfrm>
            <a:off x="1554480" y="5532120"/>
            <a:ext cx="4206240" cy="256032"/>
          </a:xfrm>
          <a:prstGeom prst="rect">
            <a:avLst/>
          </a:prstGeom>
          <a:noFill/>
          <a:ln/>
        </p:spPr>
        <p:txBody>
          <a:bodyPr wrap="square" lIns="0" tIns="0" rIns="0" bIns="0" rtlCol="0" anchor="t"/>
          <a:lstStyle/>
          <a:p>
            <a:pPr marL="0" indent="0">
              <a:buNone/>
            </a:pPr>
            <a:r>
              <a:rPr lang="en-US" sz="1150" b="1" dirty="0">
                <a:solidFill>
                  <a:srgbClr val="1E8E5A"/>
                </a:solidFill>
                <a:latin typeface="Arial" pitchFamily="34" charset="0"/>
                <a:ea typeface="Arial" pitchFamily="34" charset="-122"/>
                <a:cs typeface="Arial" pitchFamily="34" charset="-120"/>
              </a:rPr>
              <a:t>STATUS: COMPLETE  (×3)</a:t>
            </a:r>
            <a:endParaRPr lang="en-US" sz="1150" dirty="0"/>
          </a:p>
        </p:txBody>
      </p:sp>
      <p:sp>
        <p:nvSpPr>
          <p:cNvPr id="34" name="Text 31"/>
          <p:cNvSpPr txBox="1"/>
          <p:nvPr/>
        </p:nvSpPr>
        <p:spPr>
          <a:xfrm>
            <a:off x="4434840" y="5943600"/>
            <a:ext cx="1554480" cy="274320"/>
          </a:xfrm>
          <a:prstGeom prst="rect">
            <a:avLst/>
          </a:prstGeom>
          <a:noFill/>
          <a:ln/>
        </p:spPr>
        <p:txBody>
          <a:bodyPr wrap="square" lIns="0" tIns="0" rIns="0" bIns="0" rtlCol="0" anchor="t"/>
          <a:lstStyle/>
          <a:p>
            <a:pPr marL="0" indent="0" algn="r">
              <a:buNone/>
            </a:pPr>
            <a:r>
              <a:rPr lang="en-US" sz="1050" i="1" dirty="0">
                <a:solidFill>
                  <a:srgbClr val="1E8E5A"/>
                </a:solidFill>
                <a:latin typeface="Arial" pitchFamily="34" charset="0"/>
                <a:ea typeface="Arial" pitchFamily="34" charset="-122"/>
                <a:cs typeface="Arial" pitchFamily="34" charset="-120"/>
              </a:rPr>
              <a:t>then commit &amp; reboot</a:t>
            </a:r>
            <a:endParaRPr lang="en-US" sz="1050" dirty="0"/>
          </a:p>
        </p:txBody>
      </p:sp>
      <p:sp>
        <p:nvSpPr>
          <p:cNvPr id="35" name="Text 32"/>
          <p:cNvSpPr txBox="1"/>
          <p:nvPr/>
        </p:nvSpPr>
        <p:spPr>
          <a:xfrm>
            <a:off x="7315200" y="868680"/>
            <a:ext cx="4389120" cy="365760"/>
          </a:xfrm>
          <a:prstGeom prst="rect">
            <a:avLst/>
          </a:prstGeom>
          <a:noFill/>
          <a:ln/>
        </p:spPr>
        <p:txBody>
          <a:bodyPr wrap="square" lIns="0" tIns="0" rIns="0" bIns="0" rtlCol="0" anchor="t"/>
          <a:lstStyle/>
          <a:p>
            <a:pPr marL="0" indent="0">
              <a:buNone/>
            </a:pPr>
            <a:r>
              <a:rPr lang="en-US" sz="1500" b="1" dirty="0">
                <a:solidFill>
                  <a:srgbClr val="17365D"/>
                </a:solidFill>
                <a:latin typeface="Arial" pitchFamily="34" charset="0"/>
                <a:ea typeface="Arial" pitchFamily="34" charset="-122"/>
                <a:cs typeface="Arial" pitchFamily="34" charset="-120"/>
              </a:rPr>
              <a:t>1  Announce</a:t>
            </a:r>
            <a:endParaRPr lang="en-US" sz="1500" dirty="0"/>
          </a:p>
        </p:txBody>
      </p:sp>
      <p:sp>
        <p:nvSpPr>
          <p:cNvPr id="36" name="Text 33"/>
          <p:cNvSpPr txBox="1"/>
          <p:nvPr/>
        </p:nvSpPr>
        <p:spPr>
          <a:xfrm>
            <a:off x="7315200" y="1234440"/>
            <a:ext cx="4389120" cy="777240"/>
          </a:xfrm>
          <a:prstGeom prst="rect">
            <a:avLst/>
          </a:prstGeom>
          <a:noFill/>
          <a:ln/>
        </p:spPr>
        <p:txBody>
          <a:bodyPr wrap="square" lIns="0" tIns="0" rIns="0" bIns="0" rtlCol="0" anchor="t"/>
          <a:lstStyle/>
          <a:p>
            <a:pPr marL="0" indent="0">
              <a:buNone/>
            </a:pPr>
            <a:r>
              <a:rPr lang="en-US" sz="1250" dirty="0">
                <a:solidFill>
                  <a:srgbClr val="1E2A3A"/>
                </a:solidFill>
                <a:latin typeface="Arial" pitchFamily="34" charset="0"/>
                <a:ea typeface="Arial" pitchFamily="34" charset="-122"/>
                <a:cs typeface="Arial" pitchFamily="34" charset="-120"/>
              </a:rPr>
              <a:t>The sender repeats META. The receiver resets its buffer, computes N and stores the expected CRC and signature.</a:t>
            </a:r>
            <a:endParaRPr lang="en-US" sz="1250" dirty="0"/>
          </a:p>
        </p:txBody>
      </p:sp>
      <p:sp>
        <p:nvSpPr>
          <p:cNvPr id="37" name="Text 34"/>
          <p:cNvSpPr txBox="1"/>
          <p:nvPr/>
        </p:nvSpPr>
        <p:spPr>
          <a:xfrm>
            <a:off x="7315200" y="2057400"/>
            <a:ext cx="4389120" cy="365760"/>
          </a:xfrm>
          <a:prstGeom prst="rect">
            <a:avLst/>
          </a:prstGeom>
          <a:noFill/>
          <a:ln/>
        </p:spPr>
        <p:txBody>
          <a:bodyPr wrap="square" lIns="0" tIns="0" rIns="0" bIns="0" rtlCol="0" anchor="t"/>
          <a:lstStyle/>
          <a:p>
            <a:pPr marL="0" indent="0">
              <a:buNone/>
            </a:pPr>
            <a:r>
              <a:rPr lang="en-US" sz="1500" b="1" dirty="0">
                <a:solidFill>
                  <a:srgbClr val="17365D"/>
                </a:solidFill>
                <a:latin typeface="Arial" pitchFamily="34" charset="0"/>
                <a:ea typeface="Arial" pitchFamily="34" charset="-122"/>
                <a:cs typeface="Arial" pitchFamily="34" charset="-120"/>
              </a:rPr>
              <a:t>2  Bulk send</a:t>
            </a:r>
            <a:endParaRPr lang="en-US" sz="1500" dirty="0"/>
          </a:p>
        </p:txBody>
      </p:sp>
      <p:sp>
        <p:nvSpPr>
          <p:cNvPr id="38" name="Text 35"/>
          <p:cNvSpPr txBox="1"/>
          <p:nvPr/>
        </p:nvSpPr>
        <p:spPr>
          <a:xfrm>
            <a:off x="7315200" y="2423160"/>
            <a:ext cx="4389120" cy="777240"/>
          </a:xfrm>
          <a:prstGeom prst="rect">
            <a:avLst/>
          </a:prstGeom>
          <a:noFill/>
          <a:ln/>
        </p:spPr>
        <p:txBody>
          <a:bodyPr wrap="square" lIns="0" tIns="0" rIns="0" bIns="0" rtlCol="0" anchor="t"/>
          <a:lstStyle/>
          <a:p>
            <a:pPr marL="0" indent="0">
              <a:buNone/>
            </a:pPr>
            <a:r>
              <a:rPr lang="en-US" sz="1250" dirty="0">
                <a:solidFill>
                  <a:srgbClr val="1E2A3A"/>
                </a:solidFill>
                <a:latin typeface="Arial" pitchFamily="34" charset="0"/>
                <a:ea typeface="Arial" pitchFamily="34" charset="-122"/>
                <a:cs typeface="Arial" pitchFamily="34" charset="-120"/>
              </a:rPr>
              <a:t>Every block goes out once. The receiver checks each CRC, stores the block and sets its bit.</a:t>
            </a:r>
            <a:endParaRPr lang="en-US" sz="1250" dirty="0"/>
          </a:p>
        </p:txBody>
      </p:sp>
      <p:sp>
        <p:nvSpPr>
          <p:cNvPr id="39" name="Text 36"/>
          <p:cNvSpPr txBox="1"/>
          <p:nvPr/>
        </p:nvSpPr>
        <p:spPr>
          <a:xfrm>
            <a:off x="7315200" y="3246120"/>
            <a:ext cx="4389120" cy="365760"/>
          </a:xfrm>
          <a:prstGeom prst="rect">
            <a:avLst/>
          </a:prstGeom>
          <a:noFill/>
          <a:ln/>
        </p:spPr>
        <p:txBody>
          <a:bodyPr wrap="square" lIns="0" tIns="0" rIns="0" bIns="0" rtlCol="0" anchor="t"/>
          <a:lstStyle/>
          <a:p>
            <a:pPr marL="0" indent="0">
              <a:buNone/>
            </a:pPr>
            <a:r>
              <a:rPr lang="en-US" sz="1500" b="1" dirty="0">
                <a:solidFill>
                  <a:srgbClr val="17365D"/>
                </a:solidFill>
                <a:latin typeface="Arial" pitchFamily="34" charset="0"/>
                <a:ea typeface="Arial" pitchFamily="34" charset="-122"/>
                <a:cs typeface="Arial" pitchFamily="34" charset="-120"/>
              </a:rPr>
              <a:t>3  Poll / repair</a:t>
            </a:r>
            <a:endParaRPr lang="en-US" sz="1500" dirty="0"/>
          </a:p>
        </p:txBody>
      </p:sp>
      <p:sp>
        <p:nvSpPr>
          <p:cNvPr id="40" name="Text 37"/>
          <p:cNvSpPr txBox="1"/>
          <p:nvPr/>
        </p:nvSpPr>
        <p:spPr>
          <a:xfrm>
            <a:off x="7315200" y="3611880"/>
            <a:ext cx="4389120" cy="777240"/>
          </a:xfrm>
          <a:prstGeom prst="rect">
            <a:avLst/>
          </a:prstGeom>
          <a:noFill/>
          <a:ln/>
        </p:spPr>
        <p:txBody>
          <a:bodyPr wrap="square" lIns="0" tIns="0" rIns="0" bIns="0" rtlCol="0" anchor="t"/>
          <a:lstStyle/>
          <a:p>
            <a:pPr marL="0" indent="0">
              <a:buNone/>
            </a:pPr>
            <a:r>
              <a:rPr lang="en-US" sz="1250" dirty="0">
                <a:solidFill>
                  <a:srgbClr val="1E2A3A"/>
                </a:solidFill>
                <a:latin typeface="Arial" pitchFamily="34" charset="0"/>
                <a:ea typeface="Arial" pitchFamily="34" charset="-122"/>
                <a:cs typeface="Arial" pitchFamily="34" charset="-120"/>
              </a:rPr>
              <a:t>The receiver answers each poll. The sender resends only the missing blocks, then polls again.</a:t>
            </a:r>
            <a:endParaRPr lang="en-US" sz="1250" dirty="0"/>
          </a:p>
        </p:txBody>
      </p:sp>
      <p:sp>
        <p:nvSpPr>
          <p:cNvPr id="41" name="Text 38"/>
          <p:cNvSpPr txBox="1"/>
          <p:nvPr/>
        </p:nvSpPr>
        <p:spPr>
          <a:xfrm>
            <a:off x="7315200" y="4480560"/>
            <a:ext cx="4389120" cy="320040"/>
          </a:xfrm>
          <a:prstGeom prst="rect">
            <a:avLst/>
          </a:prstGeom>
          <a:noFill/>
          <a:ln/>
        </p:spPr>
        <p:txBody>
          <a:bodyPr wrap="square" lIns="0" tIns="0" rIns="0" bIns="0" rtlCol="0" anchor="t"/>
          <a:lstStyle/>
          <a:p>
            <a:pPr marL="0" indent="0">
              <a:buNone/>
            </a:pPr>
            <a:r>
              <a:rPr lang="en-US" sz="1300" b="1" dirty="0">
                <a:solidFill>
                  <a:srgbClr val="17365D"/>
                </a:solidFill>
                <a:latin typeface="Arial" pitchFamily="34" charset="0"/>
                <a:ea typeface="Arial" pitchFamily="34" charset="-122"/>
                <a:cs typeface="Arial" pitchFamily="34" charset="-120"/>
              </a:rPr>
              <a:t>STATUS outcomes</a:t>
            </a:r>
            <a:endParaRPr lang="en-US" sz="1300" dirty="0"/>
          </a:p>
        </p:txBody>
      </p:sp>
      <p:sp>
        <p:nvSpPr>
          <p:cNvPr id="42" name="Shape 39"/>
          <p:cNvSpPr/>
          <p:nvPr/>
        </p:nvSpPr>
        <p:spPr>
          <a:xfrm>
            <a:off x="7315200" y="4846320"/>
            <a:ext cx="2103120" cy="347472"/>
          </a:xfrm>
          <a:prstGeom prst="roundRect">
            <a:avLst>
              <a:gd name="adj" fmla="val 15789"/>
            </a:avLst>
          </a:prstGeom>
          <a:solidFill>
            <a:srgbClr val="1E8E5A"/>
          </a:solidFill>
          <a:ln/>
        </p:spPr>
      </p:sp>
      <p:sp>
        <p:nvSpPr>
          <p:cNvPr id="43" name="Text 40"/>
          <p:cNvSpPr txBox="1"/>
          <p:nvPr/>
        </p:nvSpPr>
        <p:spPr>
          <a:xfrm>
            <a:off x="7315200" y="4846320"/>
            <a:ext cx="21031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COMPLETE</a:t>
            </a:r>
            <a:endParaRPr lang="en-US" sz="1200" dirty="0"/>
          </a:p>
        </p:txBody>
      </p:sp>
      <p:sp>
        <p:nvSpPr>
          <p:cNvPr id="44" name="Shape 41"/>
          <p:cNvSpPr/>
          <p:nvPr/>
        </p:nvSpPr>
        <p:spPr>
          <a:xfrm>
            <a:off x="9555480" y="4846320"/>
            <a:ext cx="2103120" cy="347472"/>
          </a:xfrm>
          <a:prstGeom prst="roundRect">
            <a:avLst>
              <a:gd name="adj" fmla="val 15789"/>
            </a:avLst>
          </a:prstGeom>
          <a:solidFill>
            <a:srgbClr val="D98A00"/>
          </a:solidFill>
          <a:ln/>
        </p:spPr>
      </p:sp>
      <p:sp>
        <p:nvSpPr>
          <p:cNvPr id="45" name="Text 42"/>
          <p:cNvSpPr txBox="1"/>
          <p:nvPr/>
        </p:nvSpPr>
        <p:spPr>
          <a:xfrm>
            <a:off x="9555480" y="4846320"/>
            <a:ext cx="21031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INCOMPLETE</a:t>
            </a:r>
            <a:endParaRPr lang="en-US" sz="1200" dirty="0"/>
          </a:p>
        </p:txBody>
      </p:sp>
      <p:sp>
        <p:nvSpPr>
          <p:cNvPr id="46" name="Shape 43"/>
          <p:cNvSpPr/>
          <p:nvPr/>
        </p:nvSpPr>
        <p:spPr>
          <a:xfrm>
            <a:off x="7315200" y="5285232"/>
            <a:ext cx="2103120" cy="347472"/>
          </a:xfrm>
          <a:prstGeom prst="roundRect">
            <a:avLst>
              <a:gd name="adj" fmla="val 15789"/>
            </a:avLst>
          </a:prstGeom>
          <a:solidFill>
            <a:srgbClr val="1F6FB5"/>
          </a:solidFill>
          <a:ln/>
        </p:spPr>
      </p:sp>
      <p:sp>
        <p:nvSpPr>
          <p:cNvPr id="47" name="Text 44"/>
          <p:cNvSpPr txBox="1"/>
          <p:nvPr/>
        </p:nvSpPr>
        <p:spPr>
          <a:xfrm>
            <a:off x="7315200" y="5285232"/>
            <a:ext cx="21031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NEED_META</a:t>
            </a:r>
            <a:endParaRPr lang="en-US" sz="1200" dirty="0"/>
          </a:p>
        </p:txBody>
      </p:sp>
      <p:sp>
        <p:nvSpPr>
          <p:cNvPr id="48" name="Shape 45"/>
          <p:cNvSpPr/>
          <p:nvPr/>
        </p:nvSpPr>
        <p:spPr>
          <a:xfrm>
            <a:off x="9555480" y="5285232"/>
            <a:ext cx="2103120" cy="347472"/>
          </a:xfrm>
          <a:prstGeom prst="roundRect">
            <a:avLst>
              <a:gd name="adj" fmla="val 15789"/>
            </a:avLst>
          </a:prstGeom>
          <a:solidFill>
            <a:srgbClr val="C8102E"/>
          </a:solidFill>
          <a:ln/>
        </p:spPr>
      </p:sp>
      <p:sp>
        <p:nvSpPr>
          <p:cNvPr id="49" name="Text 46"/>
          <p:cNvSpPr txBox="1"/>
          <p:nvPr/>
        </p:nvSpPr>
        <p:spPr>
          <a:xfrm>
            <a:off x="9555480" y="5285232"/>
            <a:ext cx="21031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IMAGE_FAIL</a:t>
            </a:r>
            <a:endParaRPr lang="en-US" sz="1200" dirty="0"/>
          </a:p>
        </p:txBody>
      </p:sp>
      <p:sp>
        <p:nvSpPr>
          <p:cNvPr id="50" name="Text 47"/>
          <p:cNvSpPr txBox="1"/>
          <p:nvPr/>
        </p:nvSpPr>
        <p:spPr>
          <a:xfrm>
            <a:off x="7315200" y="5806440"/>
            <a:ext cx="4389120" cy="502920"/>
          </a:xfrm>
          <a:prstGeom prst="rect">
            <a:avLst/>
          </a:prstGeom>
          <a:noFill/>
          <a:ln/>
        </p:spPr>
        <p:txBody>
          <a:bodyPr wrap="square" lIns="0" tIns="0" rIns="0" bIns="0" rtlCol="0" anchor="t"/>
          <a:lstStyle/>
          <a:p>
            <a:pPr marL="0" indent="0">
              <a:buNone/>
            </a:pPr>
            <a:r>
              <a:rPr lang="en-US" sz="1200" i="1" dirty="0">
                <a:solidFill>
                  <a:srgbClr val="5B6B7F"/>
                </a:solidFill>
                <a:latin typeface="Arial" pitchFamily="34" charset="0"/>
                <a:ea typeface="Arial" pitchFamily="34" charset="-122"/>
                <a:cs typeface="Arial" pitchFamily="34" charset="-120"/>
              </a:rPr>
              <a:t>Stops on COMPLETE, or when the round or poll-retry budget runs out.</a:t>
            </a:r>
            <a:endParaRPr lang="en-US" sz="1200" dirty="0"/>
          </a:p>
        </p:txBody>
      </p:sp>
      <p:sp>
        <p:nvSpPr>
          <p:cNvPr id="3" name="Slide Number Placeholder 0"/>
          <p:cNvSpPr>
            <a:spLocks noGrp="1"/>
          </p:cNvSpPr>
          <p:nvPr>
            <p:ph type="sldNum" sz="quarter" idx="4294967295"/>
          </p:nvPr>
        </p:nvSpPr>
        <p:spPr>
          <a:xfrm>
            <a:off x="1138428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A"/>
                </a:solidFill>
                <a:latin typeface="Arial"/>
                <a:ea typeface="Arial"/>
                <a:cs typeface="Aria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36576"/>
            <a:ext cx="8686800" cy="420624"/>
          </a:xfrm>
          <a:prstGeom prst="rect">
            <a:avLst/>
          </a:prstGeom>
          <a:noFill/>
          <a:ln/>
        </p:spPr>
        <p:txBody>
          <a:bodyPr wrap="square" lIns="0" tIns="0" rIns="0" bIns="0" rtlCol="0" anchor="ctr"/>
          <a:lstStyle/>
          <a:p>
            <a:pPr marL="0" indent="0">
              <a:buNone/>
            </a:pPr>
            <a:r>
              <a:rPr lang="en-US" sz="2400" b="1" dirty="0">
                <a:solidFill>
                  <a:srgbClr val="1F5A9E"/>
                </a:solidFill>
                <a:latin typeface="Arial" pitchFamily="34" charset="0"/>
                <a:ea typeface="Arial" pitchFamily="34" charset="-122"/>
                <a:cs typeface="Arial" pitchFamily="34" charset="-120"/>
              </a:rPr>
              <a:t>Bitmap Selective-Repeat Retransmission</a:t>
            </a:r>
            <a:endParaRPr lang="en-US" sz="2400" dirty="0"/>
          </a:p>
        </p:txBody>
      </p:sp>
      <p:sp>
        <p:nvSpPr>
          <p:cNvPr id="4" name="Text 1"/>
          <p:cNvSpPr txBox="1"/>
          <p:nvPr/>
        </p:nvSpPr>
        <p:spPr>
          <a:xfrm>
            <a:off x="457200" y="1234440"/>
            <a:ext cx="1280160" cy="502920"/>
          </a:xfrm>
          <a:prstGeom prst="rect">
            <a:avLst/>
          </a:prstGeom>
          <a:noFill/>
          <a:ln/>
        </p:spPr>
        <p:txBody>
          <a:bodyPr wrap="square" lIns="0" tIns="0" rIns="0" bIns="0" rtlCol="0" anchor="ctr"/>
          <a:lstStyle/>
          <a:p>
            <a:pPr marL="0" indent="0">
              <a:buNone/>
            </a:pPr>
            <a:r>
              <a:rPr lang="en-US" sz="1300" b="1" dirty="0">
                <a:solidFill>
                  <a:srgbClr val="17365D"/>
                </a:solidFill>
                <a:latin typeface="Arial" pitchFamily="34" charset="0"/>
                <a:ea typeface="Arial" pitchFamily="34" charset="-122"/>
                <a:cs typeface="Arial" pitchFamily="34" charset="-120"/>
              </a:rPr>
              <a:t>After bulk send</a:t>
            </a:r>
            <a:endParaRPr lang="en-US" sz="1300" dirty="0"/>
          </a:p>
        </p:txBody>
      </p:sp>
      <p:sp>
        <p:nvSpPr>
          <p:cNvPr id="5" name="Shape 2"/>
          <p:cNvSpPr/>
          <p:nvPr/>
        </p:nvSpPr>
        <p:spPr>
          <a:xfrm>
            <a:off x="1783080" y="1234440"/>
            <a:ext cx="512064" cy="502920"/>
          </a:xfrm>
          <a:prstGeom prst="rect">
            <a:avLst/>
          </a:prstGeom>
          <a:solidFill>
            <a:srgbClr val="08A1D9"/>
          </a:solidFill>
          <a:ln/>
        </p:spPr>
      </p:sp>
      <p:sp>
        <p:nvSpPr>
          <p:cNvPr id="6" name="Text 3"/>
          <p:cNvSpPr txBox="1"/>
          <p:nvPr/>
        </p:nvSpPr>
        <p:spPr>
          <a:xfrm>
            <a:off x="1783080" y="12344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a:t>
            </a:r>
            <a:endParaRPr lang="en-US" sz="1200" dirty="0"/>
          </a:p>
        </p:txBody>
      </p:sp>
      <p:sp>
        <p:nvSpPr>
          <p:cNvPr id="7" name="Text 4"/>
          <p:cNvSpPr txBox="1"/>
          <p:nvPr/>
        </p:nvSpPr>
        <p:spPr>
          <a:xfrm>
            <a:off x="1783080" y="17830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8" name="Shape 5"/>
          <p:cNvSpPr/>
          <p:nvPr/>
        </p:nvSpPr>
        <p:spPr>
          <a:xfrm>
            <a:off x="2350008" y="1234440"/>
            <a:ext cx="512064" cy="502920"/>
          </a:xfrm>
          <a:prstGeom prst="rect">
            <a:avLst/>
          </a:prstGeom>
          <a:solidFill>
            <a:srgbClr val="08A1D9"/>
          </a:solidFill>
          <a:ln/>
        </p:spPr>
      </p:sp>
      <p:sp>
        <p:nvSpPr>
          <p:cNvPr id="9" name="Text 6"/>
          <p:cNvSpPr txBox="1"/>
          <p:nvPr/>
        </p:nvSpPr>
        <p:spPr>
          <a:xfrm>
            <a:off x="2350008" y="12344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0" name="Text 7"/>
          <p:cNvSpPr txBox="1"/>
          <p:nvPr/>
        </p:nvSpPr>
        <p:spPr>
          <a:xfrm>
            <a:off x="2350008" y="17830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11" name="Shape 8"/>
          <p:cNvSpPr/>
          <p:nvPr/>
        </p:nvSpPr>
        <p:spPr>
          <a:xfrm>
            <a:off x="2916936" y="1234440"/>
            <a:ext cx="512064" cy="502920"/>
          </a:xfrm>
          <a:prstGeom prst="rect">
            <a:avLst/>
          </a:prstGeom>
          <a:solidFill>
            <a:srgbClr val="08A1D9"/>
          </a:solidFill>
          <a:ln/>
        </p:spPr>
      </p:sp>
      <p:sp>
        <p:nvSpPr>
          <p:cNvPr id="12" name="Text 9"/>
          <p:cNvSpPr txBox="1"/>
          <p:nvPr/>
        </p:nvSpPr>
        <p:spPr>
          <a:xfrm>
            <a:off x="2916936" y="12344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0"/>
          <p:cNvSpPr txBox="1"/>
          <p:nvPr/>
        </p:nvSpPr>
        <p:spPr>
          <a:xfrm>
            <a:off x="2916936" y="17830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14" name="Shape 11"/>
          <p:cNvSpPr/>
          <p:nvPr/>
        </p:nvSpPr>
        <p:spPr>
          <a:xfrm>
            <a:off x="3483864" y="1234440"/>
            <a:ext cx="512064" cy="502920"/>
          </a:xfrm>
          <a:prstGeom prst="rect">
            <a:avLst/>
          </a:prstGeom>
          <a:solidFill>
            <a:srgbClr val="E3E8EE"/>
          </a:solidFill>
          <a:ln/>
        </p:spPr>
      </p:sp>
      <p:sp>
        <p:nvSpPr>
          <p:cNvPr id="15" name="Text 12"/>
          <p:cNvSpPr txBox="1"/>
          <p:nvPr/>
        </p:nvSpPr>
        <p:spPr>
          <a:xfrm>
            <a:off x="3483864" y="1234440"/>
            <a:ext cx="512064" cy="502920"/>
          </a:xfrm>
          <a:prstGeom prst="rect">
            <a:avLst/>
          </a:prstGeom>
          <a:noFill/>
          <a:ln/>
        </p:spPr>
        <p:txBody>
          <a:bodyPr wrap="square" lIns="0" tIns="0" rIns="0" bIns="0" rtlCol="0" anchor="ctr"/>
          <a:lstStyle/>
          <a:p>
            <a:pPr marL="0" indent="0" algn="ctr">
              <a:buNone/>
            </a:pPr>
            <a:r>
              <a:rPr lang="en-US" sz="1200" b="1" dirty="0">
                <a:solidFill>
                  <a:srgbClr val="5B6B7F"/>
                </a:solidFill>
                <a:latin typeface="Arial" pitchFamily="34" charset="0"/>
                <a:ea typeface="Arial" pitchFamily="34" charset="-122"/>
                <a:cs typeface="Arial" pitchFamily="34" charset="-120"/>
              </a:rPr>
              <a:t>3</a:t>
            </a:r>
            <a:endParaRPr lang="en-US" sz="1200" dirty="0"/>
          </a:p>
        </p:txBody>
      </p:sp>
      <p:sp>
        <p:nvSpPr>
          <p:cNvPr id="16" name="Text 13"/>
          <p:cNvSpPr txBox="1"/>
          <p:nvPr/>
        </p:nvSpPr>
        <p:spPr>
          <a:xfrm>
            <a:off x="3483864" y="1783080"/>
            <a:ext cx="512064" cy="274320"/>
          </a:xfrm>
          <a:prstGeom prst="rect">
            <a:avLst/>
          </a:prstGeom>
          <a:noFill/>
          <a:ln/>
        </p:spPr>
        <p:txBody>
          <a:bodyPr wrap="square" lIns="0" tIns="0" rIns="0" bIns="0" rtlCol="0" anchor="t"/>
          <a:lstStyle/>
          <a:p>
            <a:pPr marL="0" indent="0" algn="ctr">
              <a:buNone/>
            </a:pPr>
            <a:r>
              <a:rPr lang="en-US" sz="1200" b="1" dirty="0">
                <a:solidFill>
                  <a:srgbClr val="C8102E"/>
                </a:solidFill>
                <a:latin typeface="Courier New" pitchFamily="34" charset="0"/>
                <a:ea typeface="Courier New" pitchFamily="34" charset="-122"/>
                <a:cs typeface="Courier New" pitchFamily="34" charset="-120"/>
              </a:rPr>
              <a:t>0</a:t>
            </a:r>
            <a:endParaRPr lang="en-US" sz="1200" dirty="0"/>
          </a:p>
        </p:txBody>
      </p:sp>
      <p:sp>
        <p:nvSpPr>
          <p:cNvPr id="17" name="Text 14"/>
          <p:cNvSpPr txBox="1"/>
          <p:nvPr/>
        </p:nvSpPr>
        <p:spPr>
          <a:xfrm>
            <a:off x="3300984" y="941832"/>
            <a:ext cx="877824" cy="256032"/>
          </a:xfrm>
          <a:prstGeom prst="rect">
            <a:avLst/>
          </a:prstGeom>
          <a:noFill/>
          <a:ln/>
        </p:spPr>
        <p:txBody>
          <a:bodyPr wrap="square" lIns="0" tIns="0" rIns="0" bIns="0" rtlCol="0" anchor="t"/>
          <a:lstStyle/>
          <a:p>
            <a:pPr marL="0" indent="0" algn="ctr">
              <a:buNone/>
            </a:pPr>
            <a:r>
              <a:rPr lang="en-US" sz="1000" b="1" dirty="0">
                <a:solidFill>
                  <a:srgbClr val="C8102E"/>
                </a:solidFill>
                <a:latin typeface="Arial" pitchFamily="34" charset="0"/>
                <a:ea typeface="Arial" pitchFamily="34" charset="-122"/>
                <a:cs typeface="Arial" pitchFamily="34" charset="-120"/>
              </a:rPr>
              <a:t>lost</a:t>
            </a:r>
            <a:endParaRPr lang="en-US" sz="1000" dirty="0"/>
          </a:p>
        </p:txBody>
      </p:sp>
      <p:sp>
        <p:nvSpPr>
          <p:cNvPr id="18" name="Shape 15"/>
          <p:cNvSpPr/>
          <p:nvPr/>
        </p:nvSpPr>
        <p:spPr>
          <a:xfrm>
            <a:off x="4050792" y="1234440"/>
            <a:ext cx="512064" cy="502920"/>
          </a:xfrm>
          <a:prstGeom prst="rect">
            <a:avLst/>
          </a:prstGeom>
          <a:solidFill>
            <a:srgbClr val="08A1D9"/>
          </a:solidFill>
          <a:ln/>
        </p:spPr>
      </p:sp>
      <p:sp>
        <p:nvSpPr>
          <p:cNvPr id="19" name="Text 16"/>
          <p:cNvSpPr txBox="1"/>
          <p:nvPr/>
        </p:nvSpPr>
        <p:spPr>
          <a:xfrm>
            <a:off x="4050792" y="12344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0" name="Text 17"/>
          <p:cNvSpPr txBox="1"/>
          <p:nvPr/>
        </p:nvSpPr>
        <p:spPr>
          <a:xfrm>
            <a:off x="4050792" y="17830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21" name="Shape 18"/>
          <p:cNvSpPr/>
          <p:nvPr/>
        </p:nvSpPr>
        <p:spPr>
          <a:xfrm>
            <a:off x="4617720" y="1234440"/>
            <a:ext cx="512064" cy="502920"/>
          </a:xfrm>
          <a:prstGeom prst="rect">
            <a:avLst/>
          </a:prstGeom>
          <a:solidFill>
            <a:srgbClr val="08A1D9"/>
          </a:solidFill>
          <a:ln/>
        </p:spPr>
      </p:sp>
      <p:sp>
        <p:nvSpPr>
          <p:cNvPr id="22" name="Text 19"/>
          <p:cNvSpPr txBox="1"/>
          <p:nvPr/>
        </p:nvSpPr>
        <p:spPr>
          <a:xfrm>
            <a:off x="4617720" y="12344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3" name="Text 20"/>
          <p:cNvSpPr txBox="1"/>
          <p:nvPr/>
        </p:nvSpPr>
        <p:spPr>
          <a:xfrm>
            <a:off x="4617720" y="17830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24" name="Shape 21"/>
          <p:cNvSpPr/>
          <p:nvPr/>
        </p:nvSpPr>
        <p:spPr>
          <a:xfrm>
            <a:off x="5184648" y="1234440"/>
            <a:ext cx="512064" cy="502920"/>
          </a:xfrm>
          <a:prstGeom prst="rect">
            <a:avLst/>
          </a:prstGeom>
          <a:solidFill>
            <a:srgbClr val="08A1D9"/>
          </a:solidFill>
          <a:ln/>
        </p:spPr>
      </p:sp>
      <p:sp>
        <p:nvSpPr>
          <p:cNvPr id="25" name="Text 22"/>
          <p:cNvSpPr txBox="1"/>
          <p:nvPr/>
        </p:nvSpPr>
        <p:spPr>
          <a:xfrm>
            <a:off x="5184648" y="12344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26" name="Text 23"/>
          <p:cNvSpPr txBox="1"/>
          <p:nvPr/>
        </p:nvSpPr>
        <p:spPr>
          <a:xfrm>
            <a:off x="5184648" y="17830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27" name="Shape 24"/>
          <p:cNvSpPr/>
          <p:nvPr/>
        </p:nvSpPr>
        <p:spPr>
          <a:xfrm>
            <a:off x="5751576" y="1234440"/>
            <a:ext cx="512064" cy="502920"/>
          </a:xfrm>
          <a:prstGeom prst="rect">
            <a:avLst/>
          </a:prstGeom>
          <a:solidFill>
            <a:srgbClr val="E3E8EE"/>
          </a:solidFill>
          <a:ln/>
        </p:spPr>
      </p:sp>
      <p:sp>
        <p:nvSpPr>
          <p:cNvPr id="28" name="Text 25"/>
          <p:cNvSpPr txBox="1"/>
          <p:nvPr/>
        </p:nvSpPr>
        <p:spPr>
          <a:xfrm>
            <a:off x="5751576" y="1234440"/>
            <a:ext cx="512064" cy="502920"/>
          </a:xfrm>
          <a:prstGeom prst="rect">
            <a:avLst/>
          </a:prstGeom>
          <a:noFill/>
          <a:ln/>
        </p:spPr>
        <p:txBody>
          <a:bodyPr wrap="square" lIns="0" tIns="0" rIns="0" bIns="0" rtlCol="0" anchor="ctr"/>
          <a:lstStyle/>
          <a:p>
            <a:pPr marL="0" indent="0" algn="ctr">
              <a:buNone/>
            </a:pPr>
            <a:r>
              <a:rPr lang="en-US" sz="1200" b="1" dirty="0">
                <a:solidFill>
                  <a:srgbClr val="5B6B7F"/>
                </a:solidFill>
                <a:latin typeface="Arial" pitchFamily="34" charset="0"/>
                <a:ea typeface="Arial" pitchFamily="34" charset="-122"/>
                <a:cs typeface="Arial" pitchFamily="34" charset="-120"/>
              </a:rPr>
              <a:t>7</a:t>
            </a:r>
            <a:endParaRPr lang="en-US" sz="1200" dirty="0"/>
          </a:p>
        </p:txBody>
      </p:sp>
      <p:sp>
        <p:nvSpPr>
          <p:cNvPr id="29" name="Text 26"/>
          <p:cNvSpPr txBox="1"/>
          <p:nvPr/>
        </p:nvSpPr>
        <p:spPr>
          <a:xfrm>
            <a:off x="5751576" y="1783080"/>
            <a:ext cx="512064" cy="274320"/>
          </a:xfrm>
          <a:prstGeom prst="rect">
            <a:avLst/>
          </a:prstGeom>
          <a:noFill/>
          <a:ln/>
        </p:spPr>
        <p:txBody>
          <a:bodyPr wrap="square" lIns="0" tIns="0" rIns="0" bIns="0" rtlCol="0" anchor="t"/>
          <a:lstStyle/>
          <a:p>
            <a:pPr marL="0" indent="0" algn="ctr">
              <a:buNone/>
            </a:pPr>
            <a:r>
              <a:rPr lang="en-US" sz="1200" b="1" dirty="0">
                <a:solidFill>
                  <a:srgbClr val="C8102E"/>
                </a:solidFill>
                <a:latin typeface="Courier New" pitchFamily="34" charset="0"/>
                <a:ea typeface="Courier New" pitchFamily="34" charset="-122"/>
                <a:cs typeface="Courier New" pitchFamily="34" charset="-120"/>
              </a:rPr>
              <a:t>0</a:t>
            </a:r>
            <a:endParaRPr lang="en-US" sz="1200" dirty="0"/>
          </a:p>
        </p:txBody>
      </p:sp>
      <p:sp>
        <p:nvSpPr>
          <p:cNvPr id="30" name="Text 27"/>
          <p:cNvSpPr txBox="1"/>
          <p:nvPr/>
        </p:nvSpPr>
        <p:spPr>
          <a:xfrm>
            <a:off x="5568696" y="941832"/>
            <a:ext cx="877824" cy="256032"/>
          </a:xfrm>
          <a:prstGeom prst="rect">
            <a:avLst/>
          </a:prstGeom>
          <a:noFill/>
          <a:ln/>
        </p:spPr>
        <p:txBody>
          <a:bodyPr wrap="square" lIns="0" tIns="0" rIns="0" bIns="0" rtlCol="0" anchor="t"/>
          <a:lstStyle/>
          <a:p>
            <a:pPr marL="0" indent="0" algn="ctr">
              <a:buNone/>
            </a:pPr>
            <a:r>
              <a:rPr lang="en-US" sz="1000" b="1" dirty="0">
                <a:solidFill>
                  <a:srgbClr val="C8102E"/>
                </a:solidFill>
                <a:latin typeface="Arial" pitchFamily="34" charset="0"/>
                <a:ea typeface="Arial" pitchFamily="34" charset="-122"/>
                <a:cs typeface="Arial" pitchFamily="34" charset="-120"/>
              </a:rPr>
              <a:t>CRC ✕</a:t>
            </a:r>
            <a:endParaRPr lang="en-US" sz="1000" dirty="0"/>
          </a:p>
        </p:txBody>
      </p:sp>
      <p:sp>
        <p:nvSpPr>
          <p:cNvPr id="31" name="Shape 28"/>
          <p:cNvSpPr/>
          <p:nvPr/>
        </p:nvSpPr>
        <p:spPr>
          <a:xfrm>
            <a:off x="6318504" y="1234440"/>
            <a:ext cx="512064" cy="502920"/>
          </a:xfrm>
          <a:prstGeom prst="rect">
            <a:avLst/>
          </a:prstGeom>
          <a:solidFill>
            <a:srgbClr val="08A1D9"/>
          </a:solidFill>
          <a:ln/>
        </p:spPr>
      </p:sp>
      <p:sp>
        <p:nvSpPr>
          <p:cNvPr id="32" name="Text 29"/>
          <p:cNvSpPr txBox="1"/>
          <p:nvPr/>
        </p:nvSpPr>
        <p:spPr>
          <a:xfrm>
            <a:off x="6318504" y="12344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33" name="Text 30"/>
          <p:cNvSpPr txBox="1"/>
          <p:nvPr/>
        </p:nvSpPr>
        <p:spPr>
          <a:xfrm>
            <a:off x="6318504" y="17830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34" name="Shape 31"/>
          <p:cNvSpPr/>
          <p:nvPr/>
        </p:nvSpPr>
        <p:spPr>
          <a:xfrm>
            <a:off x="6885432" y="1234440"/>
            <a:ext cx="512064" cy="502920"/>
          </a:xfrm>
          <a:prstGeom prst="rect">
            <a:avLst/>
          </a:prstGeom>
          <a:solidFill>
            <a:srgbClr val="08A1D9"/>
          </a:solidFill>
          <a:ln/>
        </p:spPr>
      </p:sp>
      <p:sp>
        <p:nvSpPr>
          <p:cNvPr id="35" name="Text 32"/>
          <p:cNvSpPr txBox="1"/>
          <p:nvPr/>
        </p:nvSpPr>
        <p:spPr>
          <a:xfrm>
            <a:off x="6885432" y="12344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9</a:t>
            </a:r>
            <a:endParaRPr lang="en-US" sz="1200" dirty="0"/>
          </a:p>
        </p:txBody>
      </p:sp>
      <p:sp>
        <p:nvSpPr>
          <p:cNvPr id="36" name="Text 33"/>
          <p:cNvSpPr txBox="1"/>
          <p:nvPr/>
        </p:nvSpPr>
        <p:spPr>
          <a:xfrm>
            <a:off x="6885432" y="17830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37" name="Shape 34"/>
          <p:cNvSpPr/>
          <p:nvPr/>
        </p:nvSpPr>
        <p:spPr>
          <a:xfrm>
            <a:off x="7452360" y="1234440"/>
            <a:ext cx="512064" cy="502920"/>
          </a:xfrm>
          <a:prstGeom prst="rect">
            <a:avLst/>
          </a:prstGeom>
          <a:solidFill>
            <a:srgbClr val="08A1D9"/>
          </a:solidFill>
          <a:ln/>
        </p:spPr>
      </p:sp>
      <p:sp>
        <p:nvSpPr>
          <p:cNvPr id="38" name="Text 35"/>
          <p:cNvSpPr txBox="1"/>
          <p:nvPr/>
        </p:nvSpPr>
        <p:spPr>
          <a:xfrm>
            <a:off x="7452360" y="12344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10</a:t>
            </a:r>
            <a:endParaRPr lang="en-US" sz="1200" dirty="0"/>
          </a:p>
        </p:txBody>
      </p:sp>
      <p:sp>
        <p:nvSpPr>
          <p:cNvPr id="39" name="Text 36"/>
          <p:cNvSpPr txBox="1"/>
          <p:nvPr/>
        </p:nvSpPr>
        <p:spPr>
          <a:xfrm>
            <a:off x="7452360" y="17830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40" name="Shape 37"/>
          <p:cNvSpPr/>
          <p:nvPr/>
        </p:nvSpPr>
        <p:spPr>
          <a:xfrm>
            <a:off x="8019288" y="1234440"/>
            <a:ext cx="512064" cy="502920"/>
          </a:xfrm>
          <a:prstGeom prst="rect">
            <a:avLst/>
          </a:prstGeom>
          <a:solidFill>
            <a:srgbClr val="08A1D9"/>
          </a:solidFill>
          <a:ln/>
        </p:spPr>
      </p:sp>
      <p:sp>
        <p:nvSpPr>
          <p:cNvPr id="41" name="Text 38"/>
          <p:cNvSpPr txBox="1"/>
          <p:nvPr/>
        </p:nvSpPr>
        <p:spPr>
          <a:xfrm>
            <a:off x="8019288" y="12344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11</a:t>
            </a:r>
            <a:endParaRPr lang="en-US" sz="1200" dirty="0"/>
          </a:p>
        </p:txBody>
      </p:sp>
      <p:sp>
        <p:nvSpPr>
          <p:cNvPr id="42" name="Text 39"/>
          <p:cNvSpPr txBox="1"/>
          <p:nvPr/>
        </p:nvSpPr>
        <p:spPr>
          <a:xfrm>
            <a:off x="8019288" y="17830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43" name="Shape 40"/>
          <p:cNvSpPr/>
          <p:nvPr/>
        </p:nvSpPr>
        <p:spPr>
          <a:xfrm>
            <a:off x="8586216" y="1234440"/>
            <a:ext cx="512064" cy="502920"/>
          </a:xfrm>
          <a:prstGeom prst="rect">
            <a:avLst/>
          </a:prstGeom>
          <a:solidFill>
            <a:srgbClr val="E3E8EE"/>
          </a:solidFill>
          <a:ln/>
        </p:spPr>
      </p:sp>
      <p:sp>
        <p:nvSpPr>
          <p:cNvPr id="44" name="Text 41"/>
          <p:cNvSpPr txBox="1"/>
          <p:nvPr/>
        </p:nvSpPr>
        <p:spPr>
          <a:xfrm>
            <a:off x="8586216" y="1234440"/>
            <a:ext cx="512064" cy="502920"/>
          </a:xfrm>
          <a:prstGeom prst="rect">
            <a:avLst/>
          </a:prstGeom>
          <a:noFill/>
          <a:ln/>
        </p:spPr>
        <p:txBody>
          <a:bodyPr wrap="square" lIns="0" tIns="0" rIns="0" bIns="0" rtlCol="0" anchor="ctr"/>
          <a:lstStyle/>
          <a:p>
            <a:pPr marL="0" indent="0" algn="ctr">
              <a:buNone/>
            </a:pPr>
            <a:r>
              <a:rPr lang="en-US" sz="1200" b="1" dirty="0">
                <a:solidFill>
                  <a:srgbClr val="5B6B7F"/>
                </a:solidFill>
                <a:latin typeface="Arial" pitchFamily="34" charset="0"/>
                <a:ea typeface="Arial" pitchFamily="34" charset="-122"/>
                <a:cs typeface="Arial" pitchFamily="34" charset="-120"/>
              </a:rPr>
              <a:t>12</a:t>
            </a:r>
            <a:endParaRPr lang="en-US" sz="1200" dirty="0"/>
          </a:p>
        </p:txBody>
      </p:sp>
      <p:sp>
        <p:nvSpPr>
          <p:cNvPr id="45" name="Text 42"/>
          <p:cNvSpPr txBox="1"/>
          <p:nvPr/>
        </p:nvSpPr>
        <p:spPr>
          <a:xfrm>
            <a:off x="8586216" y="1783080"/>
            <a:ext cx="512064" cy="274320"/>
          </a:xfrm>
          <a:prstGeom prst="rect">
            <a:avLst/>
          </a:prstGeom>
          <a:noFill/>
          <a:ln/>
        </p:spPr>
        <p:txBody>
          <a:bodyPr wrap="square" lIns="0" tIns="0" rIns="0" bIns="0" rtlCol="0" anchor="t"/>
          <a:lstStyle/>
          <a:p>
            <a:pPr marL="0" indent="0" algn="ctr">
              <a:buNone/>
            </a:pPr>
            <a:r>
              <a:rPr lang="en-US" sz="1200" b="1" dirty="0">
                <a:solidFill>
                  <a:srgbClr val="C8102E"/>
                </a:solidFill>
                <a:latin typeface="Courier New" pitchFamily="34" charset="0"/>
                <a:ea typeface="Courier New" pitchFamily="34" charset="-122"/>
                <a:cs typeface="Courier New" pitchFamily="34" charset="-120"/>
              </a:rPr>
              <a:t>0</a:t>
            </a:r>
            <a:endParaRPr lang="en-US" sz="1200" dirty="0"/>
          </a:p>
        </p:txBody>
      </p:sp>
      <p:sp>
        <p:nvSpPr>
          <p:cNvPr id="46" name="Text 43"/>
          <p:cNvSpPr txBox="1"/>
          <p:nvPr/>
        </p:nvSpPr>
        <p:spPr>
          <a:xfrm>
            <a:off x="8403336" y="941832"/>
            <a:ext cx="877824" cy="256032"/>
          </a:xfrm>
          <a:prstGeom prst="rect">
            <a:avLst/>
          </a:prstGeom>
          <a:noFill/>
          <a:ln/>
        </p:spPr>
        <p:txBody>
          <a:bodyPr wrap="square" lIns="0" tIns="0" rIns="0" bIns="0" rtlCol="0" anchor="t"/>
          <a:lstStyle/>
          <a:p>
            <a:pPr marL="0" indent="0" algn="ctr">
              <a:buNone/>
            </a:pPr>
            <a:r>
              <a:rPr lang="en-US" sz="1000" b="1" dirty="0">
                <a:solidFill>
                  <a:srgbClr val="C8102E"/>
                </a:solidFill>
                <a:latin typeface="Arial" pitchFamily="34" charset="0"/>
                <a:ea typeface="Arial" pitchFamily="34" charset="-122"/>
                <a:cs typeface="Arial" pitchFamily="34" charset="-120"/>
              </a:rPr>
              <a:t>lost</a:t>
            </a:r>
            <a:endParaRPr lang="en-US" sz="1000" dirty="0"/>
          </a:p>
        </p:txBody>
      </p:sp>
      <p:sp>
        <p:nvSpPr>
          <p:cNvPr id="47" name="Shape 44"/>
          <p:cNvSpPr/>
          <p:nvPr/>
        </p:nvSpPr>
        <p:spPr>
          <a:xfrm>
            <a:off x="9153144" y="1234440"/>
            <a:ext cx="512064" cy="502920"/>
          </a:xfrm>
          <a:prstGeom prst="rect">
            <a:avLst/>
          </a:prstGeom>
          <a:solidFill>
            <a:srgbClr val="08A1D9"/>
          </a:solidFill>
          <a:ln/>
        </p:spPr>
      </p:sp>
      <p:sp>
        <p:nvSpPr>
          <p:cNvPr id="48" name="Text 45"/>
          <p:cNvSpPr txBox="1"/>
          <p:nvPr/>
        </p:nvSpPr>
        <p:spPr>
          <a:xfrm>
            <a:off x="9153144" y="12344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13</a:t>
            </a:r>
            <a:endParaRPr lang="en-US" sz="1200" dirty="0"/>
          </a:p>
        </p:txBody>
      </p:sp>
      <p:sp>
        <p:nvSpPr>
          <p:cNvPr id="49" name="Text 46"/>
          <p:cNvSpPr txBox="1"/>
          <p:nvPr/>
        </p:nvSpPr>
        <p:spPr>
          <a:xfrm>
            <a:off x="9153144" y="17830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50" name="Shape 47"/>
          <p:cNvSpPr/>
          <p:nvPr/>
        </p:nvSpPr>
        <p:spPr>
          <a:xfrm>
            <a:off x="9720072" y="1234440"/>
            <a:ext cx="512064" cy="502920"/>
          </a:xfrm>
          <a:prstGeom prst="rect">
            <a:avLst/>
          </a:prstGeom>
          <a:solidFill>
            <a:srgbClr val="08A1D9"/>
          </a:solidFill>
          <a:ln/>
        </p:spPr>
      </p:sp>
      <p:sp>
        <p:nvSpPr>
          <p:cNvPr id="51" name="Text 48"/>
          <p:cNvSpPr txBox="1"/>
          <p:nvPr/>
        </p:nvSpPr>
        <p:spPr>
          <a:xfrm>
            <a:off x="9720072" y="12344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14</a:t>
            </a:r>
            <a:endParaRPr lang="en-US" sz="1200" dirty="0"/>
          </a:p>
        </p:txBody>
      </p:sp>
      <p:sp>
        <p:nvSpPr>
          <p:cNvPr id="52" name="Text 49"/>
          <p:cNvSpPr txBox="1"/>
          <p:nvPr/>
        </p:nvSpPr>
        <p:spPr>
          <a:xfrm>
            <a:off x="9720072" y="17830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53" name="Shape 50"/>
          <p:cNvSpPr/>
          <p:nvPr/>
        </p:nvSpPr>
        <p:spPr>
          <a:xfrm>
            <a:off x="10287000" y="1234440"/>
            <a:ext cx="512064" cy="502920"/>
          </a:xfrm>
          <a:prstGeom prst="rect">
            <a:avLst/>
          </a:prstGeom>
          <a:solidFill>
            <a:srgbClr val="08A1D9"/>
          </a:solidFill>
          <a:ln/>
        </p:spPr>
      </p:sp>
      <p:sp>
        <p:nvSpPr>
          <p:cNvPr id="54" name="Text 51"/>
          <p:cNvSpPr txBox="1"/>
          <p:nvPr/>
        </p:nvSpPr>
        <p:spPr>
          <a:xfrm>
            <a:off x="10287000" y="12344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15</a:t>
            </a:r>
            <a:endParaRPr lang="en-US" sz="1200" dirty="0"/>
          </a:p>
        </p:txBody>
      </p:sp>
      <p:sp>
        <p:nvSpPr>
          <p:cNvPr id="55" name="Text 52"/>
          <p:cNvSpPr txBox="1"/>
          <p:nvPr/>
        </p:nvSpPr>
        <p:spPr>
          <a:xfrm>
            <a:off x="10287000" y="17830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56" name="Text 53"/>
          <p:cNvSpPr txBox="1"/>
          <p:nvPr/>
        </p:nvSpPr>
        <p:spPr>
          <a:xfrm>
            <a:off x="457200" y="1783080"/>
            <a:ext cx="1280160" cy="274320"/>
          </a:xfrm>
          <a:prstGeom prst="rect">
            <a:avLst/>
          </a:prstGeom>
          <a:noFill/>
          <a:ln/>
        </p:spPr>
        <p:txBody>
          <a:bodyPr wrap="square" lIns="0" tIns="0" rIns="0" bIns="0" rtlCol="0" anchor="t"/>
          <a:lstStyle/>
          <a:p>
            <a:pPr marL="0" indent="0">
              <a:buNone/>
            </a:pPr>
            <a:r>
              <a:rPr lang="en-US" sz="1100" i="1" dirty="0">
                <a:solidFill>
                  <a:srgbClr val="5B6B7F"/>
                </a:solidFill>
                <a:latin typeface="Arial" pitchFamily="34" charset="0"/>
                <a:ea typeface="Arial" pitchFamily="34" charset="-122"/>
                <a:cs typeface="Arial" pitchFamily="34" charset="-120"/>
              </a:rPr>
              <a:t>bitmap</a:t>
            </a:r>
            <a:endParaRPr lang="en-US" sz="1100" dirty="0"/>
          </a:p>
        </p:txBody>
      </p:sp>
      <p:sp>
        <p:nvSpPr>
          <p:cNvPr id="57" name="Shape 54"/>
          <p:cNvSpPr/>
          <p:nvPr/>
        </p:nvSpPr>
        <p:spPr>
          <a:xfrm>
            <a:off x="1783080" y="2240280"/>
            <a:ext cx="9006840" cy="548640"/>
          </a:xfrm>
          <a:prstGeom prst="roundRect">
            <a:avLst>
              <a:gd name="adj" fmla="val 13333"/>
            </a:avLst>
          </a:prstGeom>
          <a:solidFill>
            <a:srgbClr val="C9EDFB"/>
          </a:solidFill>
          <a:ln/>
        </p:spPr>
      </p:sp>
      <p:sp>
        <p:nvSpPr>
          <p:cNvPr id="58" name="Text 55"/>
          <p:cNvSpPr txBox="1"/>
          <p:nvPr/>
        </p:nvSpPr>
        <p:spPr>
          <a:xfrm>
            <a:off x="1920240" y="2240280"/>
            <a:ext cx="8778240" cy="548640"/>
          </a:xfrm>
          <a:prstGeom prst="rect">
            <a:avLst/>
          </a:prstGeom>
          <a:noFill/>
          <a:ln/>
        </p:spPr>
        <p:txBody>
          <a:bodyPr wrap="square" lIns="0" tIns="0" rIns="0" bIns="0" rtlCol="0" anchor="ctr"/>
          <a:lstStyle/>
          <a:p>
            <a:pPr marL="0" indent="0" algn="ctr">
              <a:buNone/>
            </a:pPr>
            <a:r>
              <a:rPr lang="en-US" sz="1400" b="1" dirty="0">
                <a:solidFill>
                  <a:srgbClr val="17365D"/>
                </a:solidFill>
                <a:latin typeface="Arial" pitchFamily="34" charset="0"/>
                <a:ea typeface="Arial" pitchFamily="34" charset="-122"/>
                <a:cs typeface="Arial" pitchFamily="34" charset="-120"/>
              </a:rPr>
              <a:t>STATUS: INCOMPLETE + bitmap  →  </a:t>
            </a:r>
            <a:r>
              <a:rPr lang="en-US" sz="1400" dirty="0">
                <a:solidFill>
                  <a:srgbClr val="1E2A3A"/>
                </a:solidFill>
                <a:latin typeface="Arial" pitchFamily="34" charset="0"/>
                <a:ea typeface="Arial" pitchFamily="34" charset="-122"/>
                <a:cs typeface="Arial" pitchFamily="34" charset="-120"/>
              </a:rPr>
              <a:t>sender resends only blocks 3, 7 and 12</a:t>
            </a:r>
            <a:endParaRPr lang="en-US" sz="1400" dirty="0"/>
          </a:p>
        </p:txBody>
      </p:sp>
      <p:sp>
        <p:nvSpPr>
          <p:cNvPr id="59" name="Text 56"/>
          <p:cNvSpPr txBox="1"/>
          <p:nvPr/>
        </p:nvSpPr>
        <p:spPr>
          <a:xfrm>
            <a:off x="457200" y="3063240"/>
            <a:ext cx="1280160" cy="502920"/>
          </a:xfrm>
          <a:prstGeom prst="rect">
            <a:avLst/>
          </a:prstGeom>
          <a:noFill/>
          <a:ln/>
        </p:spPr>
        <p:txBody>
          <a:bodyPr wrap="square" lIns="0" tIns="0" rIns="0" bIns="0" rtlCol="0" anchor="ctr"/>
          <a:lstStyle/>
          <a:p>
            <a:pPr marL="0" indent="0">
              <a:buNone/>
            </a:pPr>
            <a:r>
              <a:rPr lang="en-US" sz="1300" b="1" dirty="0">
                <a:solidFill>
                  <a:srgbClr val="17365D"/>
                </a:solidFill>
                <a:latin typeface="Arial" pitchFamily="34" charset="0"/>
                <a:ea typeface="Arial" pitchFamily="34" charset="-122"/>
                <a:cs typeface="Arial" pitchFamily="34" charset="-120"/>
              </a:rPr>
              <a:t>After repair</a:t>
            </a:r>
            <a:endParaRPr lang="en-US" sz="1300" dirty="0"/>
          </a:p>
        </p:txBody>
      </p:sp>
      <p:sp>
        <p:nvSpPr>
          <p:cNvPr id="60" name="Shape 57"/>
          <p:cNvSpPr/>
          <p:nvPr/>
        </p:nvSpPr>
        <p:spPr>
          <a:xfrm>
            <a:off x="1783080" y="3063240"/>
            <a:ext cx="512064" cy="502920"/>
          </a:xfrm>
          <a:prstGeom prst="rect">
            <a:avLst/>
          </a:prstGeom>
          <a:solidFill>
            <a:srgbClr val="08A1D9"/>
          </a:solidFill>
          <a:ln/>
        </p:spPr>
      </p:sp>
      <p:sp>
        <p:nvSpPr>
          <p:cNvPr id="61" name="Text 58"/>
          <p:cNvSpPr txBox="1"/>
          <p:nvPr/>
        </p:nvSpPr>
        <p:spPr>
          <a:xfrm>
            <a:off x="1783080" y="30632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a:t>
            </a:r>
            <a:endParaRPr lang="en-US" sz="1200" dirty="0"/>
          </a:p>
        </p:txBody>
      </p:sp>
      <p:sp>
        <p:nvSpPr>
          <p:cNvPr id="62" name="Text 59"/>
          <p:cNvSpPr txBox="1"/>
          <p:nvPr/>
        </p:nvSpPr>
        <p:spPr>
          <a:xfrm>
            <a:off x="1783080" y="36118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63" name="Shape 60"/>
          <p:cNvSpPr/>
          <p:nvPr/>
        </p:nvSpPr>
        <p:spPr>
          <a:xfrm>
            <a:off x="2350008" y="3063240"/>
            <a:ext cx="512064" cy="502920"/>
          </a:xfrm>
          <a:prstGeom prst="rect">
            <a:avLst/>
          </a:prstGeom>
          <a:solidFill>
            <a:srgbClr val="08A1D9"/>
          </a:solidFill>
          <a:ln/>
        </p:spPr>
      </p:sp>
      <p:sp>
        <p:nvSpPr>
          <p:cNvPr id="64" name="Text 61"/>
          <p:cNvSpPr txBox="1"/>
          <p:nvPr/>
        </p:nvSpPr>
        <p:spPr>
          <a:xfrm>
            <a:off x="2350008" y="30632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65" name="Text 62"/>
          <p:cNvSpPr txBox="1"/>
          <p:nvPr/>
        </p:nvSpPr>
        <p:spPr>
          <a:xfrm>
            <a:off x="2350008" y="36118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66" name="Shape 63"/>
          <p:cNvSpPr/>
          <p:nvPr/>
        </p:nvSpPr>
        <p:spPr>
          <a:xfrm>
            <a:off x="2916936" y="3063240"/>
            <a:ext cx="512064" cy="502920"/>
          </a:xfrm>
          <a:prstGeom prst="rect">
            <a:avLst/>
          </a:prstGeom>
          <a:solidFill>
            <a:srgbClr val="08A1D9"/>
          </a:solidFill>
          <a:ln/>
        </p:spPr>
      </p:sp>
      <p:sp>
        <p:nvSpPr>
          <p:cNvPr id="67" name="Text 64"/>
          <p:cNvSpPr txBox="1"/>
          <p:nvPr/>
        </p:nvSpPr>
        <p:spPr>
          <a:xfrm>
            <a:off x="2916936" y="30632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68" name="Text 65"/>
          <p:cNvSpPr txBox="1"/>
          <p:nvPr/>
        </p:nvSpPr>
        <p:spPr>
          <a:xfrm>
            <a:off x="2916936" y="36118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69" name="Shape 66"/>
          <p:cNvSpPr/>
          <p:nvPr/>
        </p:nvSpPr>
        <p:spPr>
          <a:xfrm>
            <a:off x="3483864" y="3063240"/>
            <a:ext cx="512064" cy="502920"/>
          </a:xfrm>
          <a:prstGeom prst="rect">
            <a:avLst/>
          </a:prstGeom>
          <a:solidFill>
            <a:srgbClr val="1E8E5A"/>
          </a:solidFill>
          <a:ln/>
        </p:spPr>
      </p:sp>
      <p:sp>
        <p:nvSpPr>
          <p:cNvPr id="70" name="Text 67"/>
          <p:cNvSpPr txBox="1"/>
          <p:nvPr/>
        </p:nvSpPr>
        <p:spPr>
          <a:xfrm>
            <a:off x="3483864" y="30632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71" name="Text 68"/>
          <p:cNvSpPr txBox="1"/>
          <p:nvPr/>
        </p:nvSpPr>
        <p:spPr>
          <a:xfrm>
            <a:off x="3483864" y="36118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72" name="Shape 69"/>
          <p:cNvSpPr/>
          <p:nvPr/>
        </p:nvSpPr>
        <p:spPr>
          <a:xfrm>
            <a:off x="4050792" y="3063240"/>
            <a:ext cx="512064" cy="502920"/>
          </a:xfrm>
          <a:prstGeom prst="rect">
            <a:avLst/>
          </a:prstGeom>
          <a:solidFill>
            <a:srgbClr val="08A1D9"/>
          </a:solidFill>
          <a:ln/>
        </p:spPr>
      </p:sp>
      <p:sp>
        <p:nvSpPr>
          <p:cNvPr id="73" name="Text 70"/>
          <p:cNvSpPr txBox="1"/>
          <p:nvPr/>
        </p:nvSpPr>
        <p:spPr>
          <a:xfrm>
            <a:off x="4050792" y="30632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74" name="Text 71"/>
          <p:cNvSpPr txBox="1"/>
          <p:nvPr/>
        </p:nvSpPr>
        <p:spPr>
          <a:xfrm>
            <a:off x="4050792" y="36118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75" name="Shape 72"/>
          <p:cNvSpPr/>
          <p:nvPr/>
        </p:nvSpPr>
        <p:spPr>
          <a:xfrm>
            <a:off x="4617720" y="3063240"/>
            <a:ext cx="512064" cy="502920"/>
          </a:xfrm>
          <a:prstGeom prst="rect">
            <a:avLst/>
          </a:prstGeom>
          <a:solidFill>
            <a:srgbClr val="08A1D9"/>
          </a:solidFill>
          <a:ln/>
        </p:spPr>
      </p:sp>
      <p:sp>
        <p:nvSpPr>
          <p:cNvPr id="76" name="Text 73"/>
          <p:cNvSpPr txBox="1"/>
          <p:nvPr/>
        </p:nvSpPr>
        <p:spPr>
          <a:xfrm>
            <a:off x="4617720" y="30632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77" name="Text 74"/>
          <p:cNvSpPr txBox="1"/>
          <p:nvPr/>
        </p:nvSpPr>
        <p:spPr>
          <a:xfrm>
            <a:off x="4617720" y="36118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78" name="Shape 75"/>
          <p:cNvSpPr/>
          <p:nvPr/>
        </p:nvSpPr>
        <p:spPr>
          <a:xfrm>
            <a:off x="5184648" y="3063240"/>
            <a:ext cx="512064" cy="502920"/>
          </a:xfrm>
          <a:prstGeom prst="rect">
            <a:avLst/>
          </a:prstGeom>
          <a:solidFill>
            <a:srgbClr val="08A1D9"/>
          </a:solidFill>
          <a:ln/>
        </p:spPr>
      </p:sp>
      <p:sp>
        <p:nvSpPr>
          <p:cNvPr id="79" name="Text 76"/>
          <p:cNvSpPr txBox="1"/>
          <p:nvPr/>
        </p:nvSpPr>
        <p:spPr>
          <a:xfrm>
            <a:off x="5184648" y="30632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80" name="Text 77"/>
          <p:cNvSpPr txBox="1"/>
          <p:nvPr/>
        </p:nvSpPr>
        <p:spPr>
          <a:xfrm>
            <a:off x="5184648" y="36118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81" name="Shape 78"/>
          <p:cNvSpPr/>
          <p:nvPr/>
        </p:nvSpPr>
        <p:spPr>
          <a:xfrm>
            <a:off x="5751576" y="3063240"/>
            <a:ext cx="512064" cy="502920"/>
          </a:xfrm>
          <a:prstGeom prst="rect">
            <a:avLst/>
          </a:prstGeom>
          <a:solidFill>
            <a:srgbClr val="1E8E5A"/>
          </a:solidFill>
          <a:ln/>
        </p:spPr>
      </p:sp>
      <p:sp>
        <p:nvSpPr>
          <p:cNvPr id="82" name="Text 79"/>
          <p:cNvSpPr txBox="1"/>
          <p:nvPr/>
        </p:nvSpPr>
        <p:spPr>
          <a:xfrm>
            <a:off x="5751576" y="30632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83" name="Text 80"/>
          <p:cNvSpPr txBox="1"/>
          <p:nvPr/>
        </p:nvSpPr>
        <p:spPr>
          <a:xfrm>
            <a:off x="5751576" y="36118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84" name="Shape 81"/>
          <p:cNvSpPr/>
          <p:nvPr/>
        </p:nvSpPr>
        <p:spPr>
          <a:xfrm>
            <a:off x="6318504" y="3063240"/>
            <a:ext cx="512064" cy="502920"/>
          </a:xfrm>
          <a:prstGeom prst="rect">
            <a:avLst/>
          </a:prstGeom>
          <a:solidFill>
            <a:srgbClr val="08A1D9"/>
          </a:solidFill>
          <a:ln/>
        </p:spPr>
      </p:sp>
      <p:sp>
        <p:nvSpPr>
          <p:cNvPr id="85" name="Text 82"/>
          <p:cNvSpPr txBox="1"/>
          <p:nvPr/>
        </p:nvSpPr>
        <p:spPr>
          <a:xfrm>
            <a:off x="6318504" y="30632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86" name="Text 83"/>
          <p:cNvSpPr txBox="1"/>
          <p:nvPr/>
        </p:nvSpPr>
        <p:spPr>
          <a:xfrm>
            <a:off x="6318504" y="36118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87" name="Shape 84"/>
          <p:cNvSpPr/>
          <p:nvPr/>
        </p:nvSpPr>
        <p:spPr>
          <a:xfrm>
            <a:off x="6885432" y="3063240"/>
            <a:ext cx="512064" cy="502920"/>
          </a:xfrm>
          <a:prstGeom prst="rect">
            <a:avLst/>
          </a:prstGeom>
          <a:solidFill>
            <a:srgbClr val="08A1D9"/>
          </a:solidFill>
          <a:ln/>
        </p:spPr>
      </p:sp>
      <p:sp>
        <p:nvSpPr>
          <p:cNvPr id="88" name="Text 85"/>
          <p:cNvSpPr txBox="1"/>
          <p:nvPr/>
        </p:nvSpPr>
        <p:spPr>
          <a:xfrm>
            <a:off x="6885432" y="30632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9</a:t>
            </a:r>
            <a:endParaRPr lang="en-US" sz="1200" dirty="0"/>
          </a:p>
        </p:txBody>
      </p:sp>
      <p:sp>
        <p:nvSpPr>
          <p:cNvPr id="89" name="Text 86"/>
          <p:cNvSpPr txBox="1"/>
          <p:nvPr/>
        </p:nvSpPr>
        <p:spPr>
          <a:xfrm>
            <a:off x="6885432" y="36118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90" name="Shape 87"/>
          <p:cNvSpPr/>
          <p:nvPr/>
        </p:nvSpPr>
        <p:spPr>
          <a:xfrm>
            <a:off x="7452360" y="3063240"/>
            <a:ext cx="512064" cy="502920"/>
          </a:xfrm>
          <a:prstGeom prst="rect">
            <a:avLst/>
          </a:prstGeom>
          <a:solidFill>
            <a:srgbClr val="08A1D9"/>
          </a:solidFill>
          <a:ln/>
        </p:spPr>
      </p:sp>
      <p:sp>
        <p:nvSpPr>
          <p:cNvPr id="91" name="Text 88"/>
          <p:cNvSpPr txBox="1"/>
          <p:nvPr/>
        </p:nvSpPr>
        <p:spPr>
          <a:xfrm>
            <a:off x="7452360" y="30632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10</a:t>
            </a:r>
            <a:endParaRPr lang="en-US" sz="1200" dirty="0"/>
          </a:p>
        </p:txBody>
      </p:sp>
      <p:sp>
        <p:nvSpPr>
          <p:cNvPr id="92" name="Text 89"/>
          <p:cNvSpPr txBox="1"/>
          <p:nvPr/>
        </p:nvSpPr>
        <p:spPr>
          <a:xfrm>
            <a:off x="7452360" y="36118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93" name="Shape 90"/>
          <p:cNvSpPr/>
          <p:nvPr/>
        </p:nvSpPr>
        <p:spPr>
          <a:xfrm>
            <a:off x="8019288" y="3063240"/>
            <a:ext cx="512064" cy="502920"/>
          </a:xfrm>
          <a:prstGeom prst="rect">
            <a:avLst/>
          </a:prstGeom>
          <a:solidFill>
            <a:srgbClr val="08A1D9"/>
          </a:solidFill>
          <a:ln/>
        </p:spPr>
      </p:sp>
      <p:sp>
        <p:nvSpPr>
          <p:cNvPr id="94" name="Text 91"/>
          <p:cNvSpPr txBox="1"/>
          <p:nvPr/>
        </p:nvSpPr>
        <p:spPr>
          <a:xfrm>
            <a:off x="8019288" y="30632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11</a:t>
            </a:r>
            <a:endParaRPr lang="en-US" sz="1200" dirty="0"/>
          </a:p>
        </p:txBody>
      </p:sp>
      <p:sp>
        <p:nvSpPr>
          <p:cNvPr id="95" name="Text 92"/>
          <p:cNvSpPr txBox="1"/>
          <p:nvPr/>
        </p:nvSpPr>
        <p:spPr>
          <a:xfrm>
            <a:off x="8019288" y="36118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96" name="Shape 93"/>
          <p:cNvSpPr/>
          <p:nvPr/>
        </p:nvSpPr>
        <p:spPr>
          <a:xfrm>
            <a:off x="8586216" y="3063240"/>
            <a:ext cx="512064" cy="502920"/>
          </a:xfrm>
          <a:prstGeom prst="rect">
            <a:avLst/>
          </a:prstGeom>
          <a:solidFill>
            <a:srgbClr val="1E8E5A"/>
          </a:solidFill>
          <a:ln/>
        </p:spPr>
      </p:sp>
      <p:sp>
        <p:nvSpPr>
          <p:cNvPr id="97" name="Text 94"/>
          <p:cNvSpPr txBox="1"/>
          <p:nvPr/>
        </p:nvSpPr>
        <p:spPr>
          <a:xfrm>
            <a:off x="8586216" y="30632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12</a:t>
            </a:r>
            <a:endParaRPr lang="en-US" sz="1200" dirty="0"/>
          </a:p>
        </p:txBody>
      </p:sp>
      <p:sp>
        <p:nvSpPr>
          <p:cNvPr id="98" name="Text 95"/>
          <p:cNvSpPr txBox="1"/>
          <p:nvPr/>
        </p:nvSpPr>
        <p:spPr>
          <a:xfrm>
            <a:off x="8586216" y="36118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99" name="Shape 96"/>
          <p:cNvSpPr/>
          <p:nvPr/>
        </p:nvSpPr>
        <p:spPr>
          <a:xfrm>
            <a:off x="9153144" y="3063240"/>
            <a:ext cx="512064" cy="502920"/>
          </a:xfrm>
          <a:prstGeom prst="rect">
            <a:avLst/>
          </a:prstGeom>
          <a:solidFill>
            <a:srgbClr val="08A1D9"/>
          </a:solidFill>
          <a:ln/>
        </p:spPr>
      </p:sp>
      <p:sp>
        <p:nvSpPr>
          <p:cNvPr id="100" name="Text 97"/>
          <p:cNvSpPr txBox="1"/>
          <p:nvPr/>
        </p:nvSpPr>
        <p:spPr>
          <a:xfrm>
            <a:off x="9153144" y="30632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13</a:t>
            </a:r>
            <a:endParaRPr lang="en-US" sz="1200" dirty="0"/>
          </a:p>
        </p:txBody>
      </p:sp>
      <p:sp>
        <p:nvSpPr>
          <p:cNvPr id="101" name="Text 98"/>
          <p:cNvSpPr txBox="1"/>
          <p:nvPr/>
        </p:nvSpPr>
        <p:spPr>
          <a:xfrm>
            <a:off x="9153144" y="36118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102" name="Shape 99"/>
          <p:cNvSpPr/>
          <p:nvPr/>
        </p:nvSpPr>
        <p:spPr>
          <a:xfrm>
            <a:off x="9720072" y="3063240"/>
            <a:ext cx="512064" cy="502920"/>
          </a:xfrm>
          <a:prstGeom prst="rect">
            <a:avLst/>
          </a:prstGeom>
          <a:solidFill>
            <a:srgbClr val="08A1D9"/>
          </a:solidFill>
          <a:ln/>
        </p:spPr>
      </p:sp>
      <p:sp>
        <p:nvSpPr>
          <p:cNvPr id="103" name="Text 100"/>
          <p:cNvSpPr txBox="1"/>
          <p:nvPr/>
        </p:nvSpPr>
        <p:spPr>
          <a:xfrm>
            <a:off x="9720072" y="30632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14</a:t>
            </a:r>
            <a:endParaRPr lang="en-US" sz="1200" dirty="0"/>
          </a:p>
        </p:txBody>
      </p:sp>
      <p:sp>
        <p:nvSpPr>
          <p:cNvPr id="104" name="Text 101"/>
          <p:cNvSpPr txBox="1"/>
          <p:nvPr/>
        </p:nvSpPr>
        <p:spPr>
          <a:xfrm>
            <a:off x="9720072" y="36118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105" name="Shape 102"/>
          <p:cNvSpPr/>
          <p:nvPr/>
        </p:nvSpPr>
        <p:spPr>
          <a:xfrm>
            <a:off x="10287000" y="3063240"/>
            <a:ext cx="512064" cy="502920"/>
          </a:xfrm>
          <a:prstGeom prst="rect">
            <a:avLst/>
          </a:prstGeom>
          <a:solidFill>
            <a:srgbClr val="08A1D9"/>
          </a:solidFill>
          <a:ln/>
        </p:spPr>
      </p:sp>
      <p:sp>
        <p:nvSpPr>
          <p:cNvPr id="106" name="Text 103"/>
          <p:cNvSpPr txBox="1"/>
          <p:nvPr/>
        </p:nvSpPr>
        <p:spPr>
          <a:xfrm>
            <a:off x="10287000" y="3063240"/>
            <a:ext cx="5120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15</a:t>
            </a:r>
            <a:endParaRPr lang="en-US" sz="1200" dirty="0"/>
          </a:p>
        </p:txBody>
      </p:sp>
      <p:sp>
        <p:nvSpPr>
          <p:cNvPr id="107" name="Text 104"/>
          <p:cNvSpPr txBox="1"/>
          <p:nvPr/>
        </p:nvSpPr>
        <p:spPr>
          <a:xfrm>
            <a:off x="10287000" y="3611880"/>
            <a:ext cx="512064" cy="274320"/>
          </a:xfrm>
          <a:prstGeom prst="rect">
            <a:avLst/>
          </a:prstGeom>
          <a:noFill/>
          <a:ln/>
        </p:spPr>
        <p:txBody>
          <a:bodyPr wrap="square" lIns="0" tIns="0" rIns="0" bIns="0" rtlCol="0" anchor="t"/>
          <a:lstStyle/>
          <a:p>
            <a:pPr marL="0" indent="0" algn="ctr">
              <a:buNone/>
            </a:pPr>
            <a:r>
              <a:rPr lang="en-US" sz="1200" b="1" dirty="0">
                <a:solidFill>
                  <a:srgbClr val="17365D"/>
                </a:solidFill>
                <a:latin typeface="Courier New" pitchFamily="34" charset="0"/>
                <a:ea typeface="Courier New" pitchFamily="34" charset="-122"/>
                <a:cs typeface="Courier New" pitchFamily="34" charset="-120"/>
              </a:rPr>
              <a:t>1</a:t>
            </a:r>
            <a:endParaRPr lang="en-US" sz="1200" dirty="0"/>
          </a:p>
        </p:txBody>
      </p:sp>
      <p:sp>
        <p:nvSpPr>
          <p:cNvPr id="108" name="Shape 105"/>
          <p:cNvSpPr/>
          <p:nvPr/>
        </p:nvSpPr>
        <p:spPr>
          <a:xfrm>
            <a:off x="10927080" y="3063240"/>
            <a:ext cx="822960" cy="502920"/>
          </a:xfrm>
          <a:prstGeom prst="roundRect">
            <a:avLst>
              <a:gd name="adj" fmla="val 10909"/>
            </a:avLst>
          </a:prstGeom>
          <a:solidFill>
            <a:srgbClr val="1E8E5A"/>
          </a:solidFill>
          <a:ln/>
        </p:spPr>
      </p:sp>
      <p:sp>
        <p:nvSpPr>
          <p:cNvPr id="109" name="Text 106"/>
          <p:cNvSpPr txBox="1"/>
          <p:nvPr/>
        </p:nvSpPr>
        <p:spPr>
          <a:xfrm>
            <a:off x="10927080" y="3063240"/>
            <a:ext cx="82296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 all set</a:t>
            </a:r>
            <a:endParaRPr lang="en-US" sz="1050" dirty="0"/>
          </a:p>
        </p:txBody>
      </p:sp>
      <p:sp>
        <p:nvSpPr>
          <p:cNvPr id="110" name="Text 107"/>
          <p:cNvSpPr txBox="1"/>
          <p:nvPr/>
        </p:nvSpPr>
        <p:spPr>
          <a:xfrm>
            <a:off x="457200" y="4023360"/>
            <a:ext cx="11247120" cy="365760"/>
          </a:xfrm>
          <a:prstGeom prst="rect">
            <a:avLst/>
          </a:prstGeom>
          <a:noFill/>
          <a:ln/>
        </p:spPr>
        <p:txBody>
          <a:bodyPr wrap="square" lIns="0" tIns="0" rIns="0" bIns="0" rtlCol="0" anchor="t"/>
          <a:lstStyle/>
          <a:p>
            <a:pPr marL="0" indent="0">
              <a:buNone/>
            </a:pPr>
            <a:r>
              <a:rPr lang="en-US" sz="1600" b="1" dirty="0">
                <a:solidFill>
                  <a:srgbClr val="17365D"/>
                </a:solidFill>
                <a:latin typeface="Arial" pitchFamily="34" charset="0"/>
                <a:ea typeface="Arial" pitchFamily="34" charset="-122"/>
                <a:cs typeface="Arial" pitchFamily="34" charset="-120"/>
              </a:rPr>
              <a:t>Every channel fault becomes one question: is the bit set?</a:t>
            </a:r>
            <a:endParaRPr lang="en-US" sz="1600" dirty="0"/>
          </a:p>
        </p:txBody>
      </p:sp>
      <p:sp>
        <p:nvSpPr>
          <p:cNvPr id="111" name="Shape 108"/>
          <p:cNvSpPr/>
          <p:nvPr/>
        </p:nvSpPr>
        <p:spPr>
          <a:xfrm>
            <a:off x="457200" y="4480560"/>
            <a:ext cx="2679192" cy="1325880"/>
          </a:xfrm>
          <a:prstGeom prst="roundRect">
            <a:avLst>
              <a:gd name="adj" fmla="val 6897"/>
            </a:avLst>
          </a:prstGeom>
          <a:solidFill>
            <a:srgbClr val="E8F6FD"/>
          </a:solidFill>
          <a:ln/>
        </p:spPr>
      </p:sp>
      <p:sp>
        <p:nvSpPr>
          <p:cNvPr id="112" name="Text 109"/>
          <p:cNvSpPr txBox="1"/>
          <p:nvPr/>
        </p:nvSpPr>
        <p:spPr>
          <a:xfrm>
            <a:off x="640080" y="4572000"/>
            <a:ext cx="2377440" cy="365760"/>
          </a:xfrm>
          <a:prstGeom prst="rect">
            <a:avLst/>
          </a:prstGeom>
          <a:noFill/>
          <a:ln/>
        </p:spPr>
        <p:txBody>
          <a:bodyPr wrap="square" lIns="0" tIns="0" rIns="0" bIns="0" rtlCol="0" anchor="t"/>
          <a:lstStyle/>
          <a:p>
            <a:pPr marL="0" indent="0">
              <a:buNone/>
            </a:pPr>
            <a:r>
              <a:rPr lang="en-US" sz="1450" b="1" dirty="0">
                <a:solidFill>
                  <a:srgbClr val="17365D"/>
                </a:solidFill>
                <a:latin typeface="Arial" pitchFamily="34" charset="0"/>
                <a:ea typeface="Arial" pitchFamily="34" charset="-122"/>
                <a:cs typeface="Arial" pitchFamily="34" charset="-120"/>
              </a:rPr>
              <a:t>Lost block</a:t>
            </a:r>
            <a:endParaRPr lang="en-US" sz="1450" dirty="0"/>
          </a:p>
        </p:txBody>
      </p:sp>
      <p:sp>
        <p:nvSpPr>
          <p:cNvPr id="113" name="Text 110"/>
          <p:cNvSpPr txBox="1"/>
          <p:nvPr/>
        </p:nvSpPr>
        <p:spPr>
          <a:xfrm>
            <a:off x="640080" y="4956048"/>
            <a:ext cx="2377440" cy="777240"/>
          </a:xfrm>
          <a:prstGeom prst="rect">
            <a:avLst/>
          </a:prstGeom>
          <a:noFill/>
          <a:ln/>
        </p:spPr>
        <p:txBody>
          <a:bodyPr wrap="square" lIns="0" tIns="0" rIns="0" bIns="0" rtlCol="0" anchor="t"/>
          <a:lstStyle/>
          <a:p>
            <a:pPr marL="0" indent="0">
              <a:buNone/>
            </a:pPr>
            <a:r>
              <a:rPr lang="en-US" sz="1250" dirty="0">
                <a:solidFill>
                  <a:srgbClr val="1E2A3A"/>
                </a:solidFill>
                <a:latin typeface="Arial" pitchFamily="34" charset="0"/>
                <a:ea typeface="Arial" pitchFamily="34" charset="-122"/>
                <a:cs typeface="Arial" pitchFamily="34" charset="-120"/>
              </a:rPr>
              <a:t>Bit stays clear. The next poll asks for it.</a:t>
            </a:r>
            <a:endParaRPr lang="en-US" sz="1250" dirty="0"/>
          </a:p>
        </p:txBody>
      </p:sp>
      <p:sp>
        <p:nvSpPr>
          <p:cNvPr id="114" name="Shape 111"/>
          <p:cNvSpPr/>
          <p:nvPr/>
        </p:nvSpPr>
        <p:spPr>
          <a:xfrm>
            <a:off x="3291840" y="4480560"/>
            <a:ext cx="2679192" cy="1325880"/>
          </a:xfrm>
          <a:prstGeom prst="roundRect">
            <a:avLst>
              <a:gd name="adj" fmla="val 6897"/>
            </a:avLst>
          </a:prstGeom>
          <a:solidFill>
            <a:srgbClr val="E8F6FD"/>
          </a:solidFill>
          <a:ln/>
        </p:spPr>
      </p:sp>
      <p:sp>
        <p:nvSpPr>
          <p:cNvPr id="115" name="Text 112"/>
          <p:cNvSpPr txBox="1"/>
          <p:nvPr/>
        </p:nvSpPr>
        <p:spPr>
          <a:xfrm>
            <a:off x="3474720" y="4572000"/>
            <a:ext cx="2377440" cy="365760"/>
          </a:xfrm>
          <a:prstGeom prst="rect">
            <a:avLst/>
          </a:prstGeom>
          <a:noFill/>
          <a:ln/>
        </p:spPr>
        <p:txBody>
          <a:bodyPr wrap="square" lIns="0" tIns="0" rIns="0" bIns="0" rtlCol="0" anchor="t"/>
          <a:lstStyle/>
          <a:p>
            <a:pPr marL="0" indent="0">
              <a:buNone/>
            </a:pPr>
            <a:r>
              <a:rPr lang="en-US" sz="1450" b="1" dirty="0">
                <a:solidFill>
                  <a:srgbClr val="17365D"/>
                </a:solidFill>
                <a:latin typeface="Arial" pitchFamily="34" charset="0"/>
                <a:ea typeface="Arial" pitchFamily="34" charset="-122"/>
                <a:cs typeface="Arial" pitchFamily="34" charset="-120"/>
              </a:rPr>
              <a:t>Corrupted block</a:t>
            </a:r>
            <a:endParaRPr lang="en-US" sz="1450" dirty="0"/>
          </a:p>
        </p:txBody>
      </p:sp>
      <p:sp>
        <p:nvSpPr>
          <p:cNvPr id="116" name="Text 113"/>
          <p:cNvSpPr txBox="1"/>
          <p:nvPr/>
        </p:nvSpPr>
        <p:spPr>
          <a:xfrm>
            <a:off x="3474720" y="4956048"/>
            <a:ext cx="2377440" cy="777240"/>
          </a:xfrm>
          <a:prstGeom prst="rect">
            <a:avLst/>
          </a:prstGeom>
          <a:noFill/>
          <a:ln/>
        </p:spPr>
        <p:txBody>
          <a:bodyPr wrap="square" lIns="0" tIns="0" rIns="0" bIns="0" rtlCol="0" anchor="t"/>
          <a:lstStyle/>
          <a:p>
            <a:pPr marL="0" indent="0">
              <a:buNone/>
            </a:pPr>
            <a:r>
              <a:rPr lang="en-US" sz="1250" dirty="0">
                <a:solidFill>
                  <a:srgbClr val="1E2A3A"/>
                </a:solidFill>
                <a:latin typeface="Arial" pitchFamily="34" charset="0"/>
                <a:ea typeface="Arial" pitchFamily="34" charset="-122"/>
                <a:cs typeface="Arial" pitchFamily="34" charset="-120"/>
              </a:rPr>
              <a:t>Block CRC-32 fails. We treat it as lost.</a:t>
            </a:r>
            <a:endParaRPr lang="en-US" sz="1250" dirty="0"/>
          </a:p>
        </p:txBody>
      </p:sp>
      <p:sp>
        <p:nvSpPr>
          <p:cNvPr id="117" name="Shape 114"/>
          <p:cNvSpPr/>
          <p:nvPr/>
        </p:nvSpPr>
        <p:spPr>
          <a:xfrm>
            <a:off x="6126480" y="4480560"/>
            <a:ext cx="2679192" cy="1325880"/>
          </a:xfrm>
          <a:prstGeom prst="roundRect">
            <a:avLst>
              <a:gd name="adj" fmla="val 6897"/>
            </a:avLst>
          </a:prstGeom>
          <a:solidFill>
            <a:srgbClr val="E8F6FD"/>
          </a:solidFill>
          <a:ln/>
        </p:spPr>
      </p:sp>
      <p:sp>
        <p:nvSpPr>
          <p:cNvPr id="118" name="Text 115"/>
          <p:cNvSpPr txBox="1"/>
          <p:nvPr/>
        </p:nvSpPr>
        <p:spPr>
          <a:xfrm>
            <a:off x="6309360" y="4572000"/>
            <a:ext cx="2377440" cy="365760"/>
          </a:xfrm>
          <a:prstGeom prst="rect">
            <a:avLst/>
          </a:prstGeom>
          <a:noFill/>
          <a:ln/>
        </p:spPr>
        <p:txBody>
          <a:bodyPr wrap="square" lIns="0" tIns="0" rIns="0" bIns="0" rtlCol="0" anchor="t"/>
          <a:lstStyle/>
          <a:p>
            <a:pPr marL="0" indent="0">
              <a:buNone/>
            </a:pPr>
            <a:r>
              <a:rPr lang="en-US" sz="1450" b="1" dirty="0">
                <a:solidFill>
                  <a:srgbClr val="17365D"/>
                </a:solidFill>
                <a:latin typeface="Arial" pitchFamily="34" charset="0"/>
                <a:ea typeface="Arial" pitchFamily="34" charset="-122"/>
                <a:cs typeface="Arial" pitchFamily="34" charset="-120"/>
              </a:rPr>
              <a:t>Duplicated block</a:t>
            </a:r>
            <a:endParaRPr lang="en-US" sz="1450" dirty="0"/>
          </a:p>
        </p:txBody>
      </p:sp>
      <p:sp>
        <p:nvSpPr>
          <p:cNvPr id="119" name="Text 116"/>
          <p:cNvSpPr txBox="1"/>
          <p:nvPr/>
        </p:nvSpPr>
        <p:spPr>
          <a:xfrm>
            <a:off x="6309360" y="4956048"/>
            <a:ext cx="2377440" cy="777240"/>
          </a:xfrm>
          <a:prstGeom prst="rect">
            <a:avLst/>
          </a:prstGeom>
          <a:noFill/>
          <a:ln/>
        </p:spPr>
        <p:txBody>
          <a:bodyPr wrap="square" lIns="0" tIns="0" rIns="0" bIns="0" rtlCol="0" anchor="t"/>
          <a:lstStyle/>
          <a:p>
            <a:pPr marL="0" indent="0">
              <a:buNone/>
            </a:pPr>
            <a:r>
              <a:rPr lang="en-US" sz="1250" dirty="0">
                <a:solidFill>
                  <a:srgbClr val="1E2A3A"/>
                </a:solidFill>
                <a:latin typeface="Arial" pitchFamily="34" charset="0"/>
                <a:ea typeface="Arial" pitchFamily="34" charset="-122"/>
                <a:cs typeface="Arial" pitchFamily="34" charset="-120"/>
              </a:rPr>
              <a:t>Lands in the same slot. Coverage doesn't grow.</a:t>
            </a:r>
            <a:endParaRPr lang="en-US" sz="1250" dirty="0"/>
          </a:p>
        </p:txBody>
      </p:sp>
      <p:sp>
        <p:nvSpPr>
          <p:cNvPr id="120" name="Shape 117"/>
          <p:cNvSpPr/>
          <p:nvPr/>
        </p:nvSpPr>
        <p:spPr>
          <a:xfrm>
            <a:off x="8961120" y="4480560"/>
            <a:ext cx="2679192" cy="1325880"/>
          </a:xfrm>
          <a:prstGeom prst="roundRect">
            <a:avLst>
              <a:gd name="adj" fmla="val 6897"/>
            </a:avLst>
          </a:prstGeom>
          <a:solidFill>
            <a:srgbClr val="E8F6FD"/>
          </a:solidFill>
          <a:ln/>
        </p:spPr>
      </p:sp>
      <p:sp>
        <p:nvSpPr>
          <p:cNvPr id="121" name="Text 118"/>
          <p:cNvSpPr txBox="1"/>
          <p:nvPr/>
        </p:nvSpPr>
        <p:spPr>
          <a:xfrm>
            <a:off x="9144000" y="4572000"/>
            <a:ext cx="2377440" cy="365760"/>
          </a:xfrm>
          <a:prstGeom prst="rect">
            <a:avLst/>
          </a:prstGeom>
          <a:noFill/>
          <a:ln/>
        </p:spPr>
        <p:txBody>
          <a:bodyPr wrap="square" lIns="0" tIns="0" rIns="0" bIns="0" rtlCol="0" anchor="t"/>
          <a:lstStyle/>
          <a:p>
            <a:pPr marL="0" indent="0">
              <a:buNone/>
            </a:pPr>
            <a:r>
              <a:rPr lang="en-US" sz="1450" b="1" dirty="0">
                <a:solidFill>
                  <a:srgbClr val="17365D"/>
                </a:solidFill>
                <a:latin typeface="Arial" pitchFamily="34" charset="0"/>
                <a:ea typeface="Arial" pitchFamily="34" charset="-122"/>
                <a:cs typeface="Arial" pitchFamily="34" charset="-120"/>
              </a:rPr>
              <a:t>Reordered block</a:t>
            </a:r>
            <a:endParaRPr lang="en-US" sz="1450" dirty="0"/>
          </a:p>
        </p:txBody>
      </p:sp>
      <p:sp>
        <p:nvSpPr>
          <p:cNvPr id="122" name="Text 119"/>
          <p:cNvSpPr txBox="1"/>
          <p:nvPr/>
        </p:nvSpPr>
        <p:spPr>
          <a:xfrm>
            <a:off x="9144000" y="4956048"/>
            <a:ext cx="2377440" cy="777240"/>
          </a:xfrm>
          <a:prstGeom prst="rect">
            <a:avLst/>
          </a:prstGeom>
          <a:noFill/>
          <a:ln/>
        </p:spPr>
        <p:txBody>
          <a:bodyPr wrap="square" lIns="0" tIns="0" rIns="0" bIns="0" rtlCol="0" anchor="t"/>
          <a:lstStyle/>
          <a:p>
            <a:pPr marL="0" indent="0">
              <a:buNone/>
            </a:pPr>
            <a:r>
              <a:rPr lang="en-US" sz="1250" dirty="0">
                <a:solidFill>
                  <a:srgbClr val="1E2A3A"/>
                </a:solidFill>
                <a:latin typeface="Arial" pitchFamily="34" charset="0"/>
                <a:ea typeface="Arial" pitchFamily="34" charset="-122"/>
                <a:cs typeface="Arial" pitchFamily="34" charset="-120"/>
              </a:rPr>
              <a:t>Addressed by offset. Order doesn't matter.</a:t>
            </a:r>
            <a:endParaRPr lang="en-US" sz="1250" dirty="0"/>
          </a:p>
        </p:txBody>
      </p:sp>
      <p:sp>
        <p:nvSpPr>
          <p:cNvPr id="123" name="Text 120"/>
          <p:cNvSpPr txBox="1"/>
          <p:nvPr/>
        </p:nvSpPr>
        <p:spPr>
          <a:xfrm>
            <a:off x="457200" y="5943600"/>
            <a:ext cx="11247120" cy="320040"/>
          </a:xfrm>
          <a:prstGeom prst="rect">
            <a:avLst/>
          </a:prstGeom>
          <a:noFill/>
          <a:ln/>
        </p:spPr>
        <p:txBody>
          <a:bodyPr wrap="square" lIns="0" tIns="0" rIns="0" bIns="0" rtlCol="0" anchor="t"/>
          <a:lstStyle/>
          <a:p>
            <a:pPr marL="0" indent="0">
              <a:buNone/>
            </a:pPr>
            <a:r>
              <a:rPr lang="en-US" sz="1250" i="1" dirty="0">
                <a:solidFill>
                  <a:srgbClr val="5B6B7F"/>
                </a:solidFill>
                <a:latin typeface="Arial" pitchFamily="34" charset="0"/>
                <a:ea typeface="Arial" pitchFamily="34" charset="-122"/>
                <a:cs typeface="Arial" pitchFamily="34" charset="-120"/>
              </a:rPr>
              <a:t>A repair round is cheap: a 5 B poll plus a reply of at most 87 B for an 800 KB image on UDP.</a:t>
            </a:r>
            <a:endParaRPr lang="en-US" sz="1250" dirty="0"/>
          </a:p>
        </p:txBody>
      </p:sp>
      <p:sp>
        <p:nvSpPr>
          <p:cNvPr id="3" name="Slide Number Placeholder 0"/>
          <p:cNvSpPr>
            <a:spLocks noGrp="1"/>
          </p:cNvSpPr>
          <p:nvPr>
            <p:ph type="sldNum" sz="quarter" idx="4294967295"/>
          </p:nvPr>
        </p:nvSpPr>
        <p:spPr>
          <a:xfrm>
            <a:off x="1138428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A"/>
                </a:solidFill>
                <a:latin typeface="Arial"/>
                <a:ea typeface="Arial"/>
                <a:cs typeface="Aria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36576"/>
            <a:ext cx="8686800" cy="420624"/>
          </a:xfrm>
          <a:prstGeom prst="rect">
            <a:avLst/>
          </a:prstGeom>
          <a:noFill/>
          <a:ln/>
        </p:spPr>
        <p:txBody>
          <a:bodyPr wrap="square" lIns="0" tIns="0" rIns="0" bIns="0" rtlCol="0" anchor="ctr"/>
          <a:lstStyle/>
          <a:p>
            <a:pPr marL="0" indent="0">
              <a:buNone/>
            </a:pPr>
            <a:r>
              <a:rPr lang="en-US" sz="2400" b="1" dirty="0">
                <a:solidFill>
                  <a:srgbClr val="1F5A9E"/>
                </a:solidFill>
                <a:latin typeface="Arial" pitchFamily="34" charset="0"/>
                <a:ea typeface="Arial" pitchFamily="34" charset="-122"/>
                <a:cs typeface="Arial" pitchFamily="34" charset="-120"/>
              </a:rPr>
              <a:t>Dual-Bank Flash &amp; Memory Map</a:t>
            </a:r>
            <a:endParaRPr lang="en-US" sz="2400" dirty="0"/>
          </a:p>
        </p:txBody>
      </p:sp>
      <p:sp>
        <p:nvSpPr>
          <p:cNvPr id="4" name="Text 1"/>
          <p:cNvSpPr txBox="1"/>
          <p:nvPr/>
        </p:nvSpPr>
        <p:spPr>
          <a:xfrm>
            <a:off x="1737360" y="777240"/>
            <a:ext cx="2743200" cy="182880"/>
          </a:xfrm>
          <a:prstGeom prst="rect">
            <a:avLst/>
          </a:prstGeom>
          <a:noFill/>
          <a:ln/>
        </p:spPr>
        <p:txBody>
          <a:bodyPr wrap="square" lIns="0" tIns="0" rIns="0" bIns="0" rtlCol="0" anchor="t"/>
          <a:lstStyle/>
          <a:p>
            <a:pPr marL="0" indent="0">
              <a:buNone/>
            </a:pPr>
            <a:r>
              <a:rPr lang="en-US" sz="100" dirty="0">
                <a:solidFill>
                  <a:srgbClr val="FFFFFF"/>
                </a:solidFill>
                <a:latin typeface="Arial" pitchFamily="34" charset="0"/>
                <a:ea typeface="Arial" pitchFamily="34" charset="-122"/>
                <a:cs typeface="Arial" pitchFamily="34" charset="-120"/>
              </a:rPr>
              <a:t>QSPI NOR flash, 8 MB</a:t>
            </a:r>
            <a:endParaRPr lang="en-US" sz="100" dirty="0"/>
          </a:p>
        </p:txBody>
      </p:sp>
      <p:sp>
        <p:nvSpPr>
          <p:cNvPr id="5" name="Shape 2"/>
          <p:cNvSpPr/>
          <p:nvPr/>
        </p:nvSpPr>
        <p:spPr>
          <a:xfrm>
            <a:off x="1737360" y="960120"/>
            <a:ext cx="2743200" cy="1234440"/>
          </a:xfrm>
          <a:prstGeom prst="rect">
            <a:avLst/>
          </a:prstGeom>
          <a:solidFill>
            <a:srgbClr val="17365D"/>
          </a:solidFill>
          <a:ln w="19050">
            <a:solidFill>
              <a:srgbClr val="FFFFFF"/>
            </a:solidFill>
            <a:prstDash val="solid"/>
          </a:ln>
        </p:spPr>
      </p:sp>
      <p:sp>
        <p:nvSpPr>
          <p:cNvPr id="6" name="Text 3"/>
          <p:cNvSpPr txBox="1"/>
          <p:nvPr/>
        </p:nvSpPr>
        <p:spPr>
          <a:xfrm>
            <a:off x="1874520" y="960120"/>
            <a:ext cx="2468880" cy="678942"/>
          </a:xfrm>
          <a:prstGeom prst="rect">
            <a:avLst/>
          </a:prstGeom>
          <a:noFill/>
          <a:ln/>
        </p:spPr>
        <p:txBody>
          <a:bodyPr wrap="square" lIns="0" tIns="0" rIns="0" bIns="0" rtlCol="0" anchor="b"/>
          <a:lstStyle/>
          <a:p>
            <a:pPr marL="0" indent="0" algn="ctr">
              <a:buNone/>
            </a:pPr>
            <a:r>
              <a:rPr lang="en-US" sz="1400" b="1" dirty="0" err="1">
                <a:solidFill>
                  <a:srgbClr val="FFFFFF"/>
                </a:solidFill>
                <a:latin typeface="Arial" pitchFamily="34" charset="0"/>
                <a:ea typeface="Arial" pitchFamily="34" charset="-122"/>
                <a:cs typeface="Arial" pitchFamily="34" charset="-120"/>
              </a:rPr>
              <a:t>Bootloader</a:t>
            </a:r>
            <a:r>
              <a:rPr lang="en-US" sz="1400" b="1" dirty="0">
                <a:solidFill>
                  <a:srgbClr val="FFFFFF"/>
                </a:solidFill>
                <a:latin typeface="Arial" pitchFamily="34" charset="0"/>
                <a:ea typeface="Arial" pitchFamily="34" charset="-122"/>
                <a:cs typeface="Arial" pitchFamily="34" charset="-120"/>
              </a:rPr>
              <a:t> / updater</a:t>
            </a:r>
            <a:endParaRPr lang="en-US" sz="1400" dirty="0"/>
          </a:p>
        </p:txBody>
      </p:sp>
      <p:sp>
        <p:nvSpPr>
          <p:cNvPr id="7" name="Text 4"/>
          <p:cNvSpPr txBox="1"/>
          <p:nvPr/>
        </p:nvSpPr>
        <p:spPr>
          <a:xfrm>
            <a:off x="1874520" y="1639062"/>
            <a:ext cx="2468880" cy="493776"/>
          </a:xfrm>
          <a:prstGeom prst="rect">
            <a:avLst/>
          </a:prstGeom>
          <a:noFill/>
          <a:ln/>
        </p:spPr>
        <p:txBody>
          <a:bodyPr wrap="square" lIns="0" tIns="0" rIns="0" bIns="0" rtlCol="0" anchor="t"/>
          <a:lstStyle/>
          <a:p>
            <a:pPr marL="0" indent="0" algn="ctr">
              <a:buNone/>
            </a:pPr>
            <a:r>
              <a:rPr lang="en-US" sz="1100" dirty="0">
                <a:solidFill>
                  <a:srgbClr val="FFFFFF"/>
                </a:solidFill>
                <a:latin typeface="Arial" pitchFamily="34" charset="0"/>
                <a:ea typeface="Arial" pitchFamily="34" charset="-122"/>
                <a:cs typeface="Arial" pitchFamily="34" charset="-120"/>
              </a:rPr>
              <a:t>~250 KB code · never self-modified</a:t>
            </a:r>
            <a:endParaRPr lang="en-US" sz="1100" dirty="0"/>
          </a:p>
        </p:txBody>
      </p:sp>
      <p:sp>
        <p:nvSpPr>
          <p:cNvPr id="8" name="Text 5"/>
          <p:cNvSpPr txBox="1"/>
          <p:nvPr/>
        </p:nvSpPr>
        <p:spPr>
          <a:xfrm>
            <a:off x="411480" y="941832"/>
            <a:ext cx="1234440" cy="274320"/>
          </a:xfrm>
          <a:prstGeom prst="rect">
            <a:avLst/>
          </a:prstGeom>
          <a:noFill/>
          <a:ln/>
        </p:spPr>
        <p:txBody>
          <a:bodyPr wrap="square" lIns="0" tIns="0" rIns="0" bIns="0" rtlCol="0" anchor="t"/>
          <a:lstStyle/>
          <a:p>
            <a:pPr marL="0" indent="0" algn="r">
              <a:buNone/>
            </a:pPr>
            <a:r>
              <a:rPr lang="en-US" sz="1150" b="1" dirty="0">
                <a:solidFill>
                  <a:srgbClr val="5B6B7F"/>
                </a:solidFill>
                <a:latin typeface="Courier New" pitchFamily="34" charset="0"/>
                <a:ea typeface="Courier New" pitchFamily="34" charset="-122"/>
                <a:cs typeface="Courier New" pitchFamily="34" charset="-120"/>
              </a:rPr>
              <a:t>0x000000</a:t>
            </a:r>
            <a:endParaRPr lang="en-US" sz="1150" dirty="0"/>
          </a:p>
        </p:txBody>
      </p:sp>
      <p:sp>
        <p:nvSpPr>
          <p:cNvPr id="9" name="Shape 6"/>
          <p:cNvSpPr/>
          <p:nvPr/>
        </p:nvSpPr>
        <p:spPr>
          <a:xfrm>
            <a:off x="1737360" y="2194560"/>
            <a:ext cx="2743200" cy="822960"/>
          </a:xfrm>
          <a:prstGeom prst="rect">
            <a:avLst/>
          </a:prstGeom>
          <a:solidFill>
            <a:srgbClr val="08A1D9"/>
          </a:solidFill>
          <a:ln w="19050">
            <a:solidFill>
              <a:srgbClr val="FFFFFF"/>
            </a:solidFill>
            <a:prstDash val="solid"/>
          </a:ln>
        </p:spPr>
      </p:sp>
      <p:sp>
        <p:nvSpPr>
          <p:cNvPr id="10" name="Text 7"/>
          <p:cNvSpPr txBox="1"/>
          <p:nvPr/>
        </p:nvSpPr>
        <p:spPr>
          <a:xfrm>
            <a:off x="1874520" y="2194560"/>
            <a:ext cx="2468880" cy="452628"/>
          </a:xfrm>
          <a:prstGeom prst="rect">
            <a:avLst/>
          </a:prstGeom>
          <a:noFill/>
          <a:ln/>
        </p:spPr>
        <p:txBody>
          <a:bodyPr wrap="square" lIns="0" tIns="0" rIns="0" bIns="0" rtlCol="0" anchor="b"/>
          <a:lstStyle/>
          <a:p>
            <a:pPr marL="0" indent="0" algn="ctr">
              <a:buNone/>
            </a:pPr>
            <a:r>
              <a:rPr lang="en-US" sz="1400" b="1" dirty="0">
                <a:solidFill>
                  <a:srgbClr val="FFFFFF"/>
                </a:solidFill>
                <a:latin typeface="Arial" pitchFamily="34" charset="0"/>
                <a:ea typeface="Arial" pitchFamily="34" charset="-122"/>
                <a:cs typeface="Arial" pitchFamily="34" charset="-120"/>
              </a:rPr>
              <a:t>Bank A</a:t>
            </a:r>
            <a:endParaRPr lang="en-US" sz="1400" dirty="0"/>
          </a:p>
        </p:txBody>
      </p:sp>
      <p:sp>
        <p:nvSpPr>
          <p:cNvPr id="11" name="Text 8"/>
          <p:cNvSpPr txBox="1"/>
          <p:nvPr/>
        </p:nvSpPr>
        <p:spPr>
          <a:xfrm>
            <a:off x="1874520" y="2647188"/>
            <a:ext cx="2468880" cy="329184"/>
          </a:xfrm>
          <a:prstGeom prst="rect">
            <a:avLst/>
          </a:prstGeom>
          <a:noFill/>
          <a:ln/>
        </p:spPr>
        <p:txBody>
          <a:bodyPr wrap="square" lIns="0" tIns="0" rIns="0" bIns="0" rtlCol="0" anchor="t"/>
          <a:lstStyle/>
          <a:p>
            <a:pPr marL="0" indent="0" algn="ctr">
              <a:buNone/>
            </a:pPr>
            <a:r>
              <a:rPr lang="en-US" sz="1100" dirty="0">
                <a:solidFill>
                  <a:srgbClr val="FFFFFF"/>
                </a:solidFill>
                <a:latin typeface="Arial" pitchFamily="34" charset="0"/>
                <a:ea typeface="Arial" pitchFamily="34" charset="-122"/>
                <a:cs typeface="Arial" pitchFamily="34" charset="-120"/>
              </a:rPr>
              <a:t>1 MB image slot</a:t>
            </a:r>
            <a:endParaRPr lang="en-US" sz="1100" dirty="0"/>
          </a:p>
        </p:txBody>
      </p:sp>
      <p:sp>
        <p:nvSpPr>
          <p:cNvPr id="12" name="Text 9"/>
          <p:cNvSpPr txBox="1"/>
          <p:nvPr/>
        </p:nvSpPr>
        <p:spPr>
          <a:xfrm>
            <a:off x="411480" y="2176272"/>
            <a:ext cx="1234440" cy="274320"/>
          </a:xfrm>
          <a:prstGeom prst="rect">
            <a:avLst/>
          </a:prstGeom>
          <a:noFill/>
          <a:ln/>
        </p:spPr>
        <p:txBody>
          <a:bodyPr wrap="square" lIns="0" tIns="0" rIns="0" bIns="0" rtlCol="0" anchor="t"/>
          <a:lstStyle/>
          <a:p>
            <a:pPr marL="0" indent="0" algn="r">
              <a:buNone/>
            </a:pPr>
            <a:r>
              <a:rPr lang="en-US" sz="1150" b="1" dirty="0">
                <a:solidFill>
                  <a:srgbClr val="5B6B7F"/>
                </a:solidFill>
                <a:latin typeface="Courier New" pitchFamily="34" charset="0"/>
                <a:ea typeface="Courier New" pitchFamily="34" charset="-122"/>
                <a:cs typeface="Courier New" pitchFamily="34" charset="-120"/>
              </a:rPr>
              <a:t>0x200000</a:t>
            </a:r>
            <a:endParaRPr lang="en-US" sz="1150" dirty="0"/>
          </a:p>
        </p:txBody>
      </p:sp>
      <p:sp>
        <p:nvSpPr>
          <p:cNvPr id="13" name="Shape 10"/>
          <p:cNvSpPr/>
          <p:nvPr/>
        </p:nvSpPr>
        <p:spPr>
          <a:xfrm>
            <a:off x="1737360" y="3017520"/>
            <a:ext cx="2743200" cy="822960"/>
          </a:xfrm>
          <a:prstGeom prst="rect">
            <a:avLst/>
          </a:prstGeom>
          <a:solidFill>
            <a:srgbClr val="1F6FB5"/>
          </a:solidFill>
          <a:ln w="19050">
            <a:solidFill>
              <a:srgbClr val="FFFFFF"/>
            </a:solidFill>
            <a:prstDash val="solid"/>
          </a:ln>
        </p:spPr>
      </p:sp>
      <p:sp>
        <p:nvSpPr>
          <p:cNvPr id="14" name="Text 11"/>
          <p:cNvSpPr txBox="1"/>
          <p:nvPr/>
        </p:nvSpPr>
        <p:spPr>
          <a:xfrm>
            <a:off x="1874520" y="3017520"/>
            <a:ext cx="2468880" cy="452628"/>
          </a:xfrm>
          <a:prstGeom prst="rect">
            <a:avLst/>
          </a:prstGeom>
          <a:noFill/>
          <a:ln/>
        </p:spPr>
        <p:txBody>
          <a:bodyPr wrap="square" lIns="0" tIns="0" rIns="0" bIns="0" rtlCol="0" anchor="b"/>
          <a:lstStyle/>
          <a:p>
            <a:pPr marL="0" indent="0" algn="ctr">
              <a:buNone/>
            </a:pPr>
            <a:r>
              <a:rPr lang="en-US" sz="1400" b="1" dirty="0">
                <a:solidFill>
                  <a:srgbClr val="FFFFFF"/>
                </a:solidFill>
                <a:latin typeface="Arial" pitchFamily="34" charset="0"/>
                <a:ea typeface="Arial" pitchFamily="34" charset="-122"/>
                <a:cs typeface="Arial" pitchFamily="34" charset="-120"/>
              </a:rPr>
              <a:t>Bank B</a:t>
            </a:r>
            <a:endParaRPr lang="en-US" sz="1400" dirty="0"/>
          </a:p>
        </p:txBody>
      </p:sp>
      <p:sp>
        <p:nvSpPr>
          <p:cNvPr id="15" name="Text 12"/>
          <p:cNvSpPr txBox="1"/>
          <p:nvPr/>
        </p:nvSpPr>
        <p:spPr>
          <a:xfrm>
            <a:off x="1874520" y="3470148"/>
            <a:ext cx="2468880" cy="329184"/>
          </a:xfrm>
          <a:prstGeom prst="rect">
            <a:avLst/>
          </a:prstGeom>
          <a:noFill/>
          <a:ln/>
        </p:spPr>
        <p:txBody>
          <a:bodyPr wrap="square" lIns="0" tIns="0" rIns="0" bIns="0" rtlCol="0" anchor="t"/>
          <a:lstStyle/>
          <a:p>
            <a:pPr marL="0" indent="0" algn="ctr">
              <a:buNone/>
            </a:pPr>
            <a:r>
              <a:rPr lang="en-US" sz="1100" dirty="0">
                <a:solidFill>
                  <a:srgbClr val="FFFFFF"/>
                </a:solidFill>
                <a:latin typeface="Arial" pitchFamily="34" charset="0"/>
                <a:ea typeface="Arial" pitchFamily="34" charset="-122"/>
                <a:cs typeface="Arial" pitchFamily="34" charset="-120"/>
              </a:rPr>
              <a:t>1 MB image slot</a:t>
            </a:r>
            <a:endParaRPr lang="en-US" sz="1100" dirty="0"/>
          </a:p>
        </p:txBody>
      </p:sp>
      <p:sp>
        <p:nvSpPr>
          <p:cNvPr id="16" name="Text 13"/>
          <p:cNvSpPr txBox="1"/>
          <p:nvPr/>
        </p:nvSpPr>
        <p:spPr>
          <a:xfrm>
            <a:off x="411480" y="2999232"/>
            <a:ext cx="1234440" cy="274320"/>
          </a:xfrm>
          <a:prstGeom prst="rect">
            <a:avLst/>
          </a:prstGeom>
          <a:noFill/>
          <a:ln/>
        </p:spPr>
        <p:txBody>
          <a:bodyPr wrap="square" lIns="0" tIns="0" rIns="0" bIns="0" rtlCol="0" anchor="t"/>
          <a:lstStyle/>
          <a:p>
            <a:pPr marL="0" indent="0" algn="r">
              <a:buNone/>
            </a:pPr>
            <a:r>
              <a:rPr lang="en-US" sz="1150" b="1" dirty="0">
                <a:solidFill>
                  <a:srgbClr val="5B6B7F"/>
                </a:solidFill>
                <a:latin typeface="Courier New" pitchFamily="34" charset="0"/>
                <a:ea typeface="Courier New" pitchFamily="34" charset="-122"/>
                <a:cs typeface="Courier New" pitchFamily="34" charset="-120"/>
              </a:rPr>
              <a:t>0x300000</a:t>
            </a:r>
            <a:endParaRPr lang="en-US" sz="1150" dirty="0"/>
          </a:p>
        </p:txBody>
      </p:sp>
      <p:sp>
        <p:nvSpPr>
          <p:cNvPr id="17" name="Shape 14"/>
          <p:cNvSpPr/>
          <p:nvPr/>
        </p:nvSpPr>
        <p:spPr>
          <a:xfrm>
            <a:off x="1737360" y="3840480"/>
            <a:ext cx="2743200" cy="868680"/>
          </a:xfrm>
          <a:prstGeom prst="rect">
            <a:avLst/>
          </a:prstGeom>
          <a:solidFill>
            <a:srgbClr val="E3E8EE"/>
          </a:solidFill>
          <a:ln w="19050">
            <a:solidFill>
              <a:srgbClr val="FFFFFF"/>
            </a:solidFill>
            <a:prstDash val="solid"/>
          </a:ln>
        </p:spPr>
      </p:sp>
      <p:sp>
        <p:nvSpPr>
          <p:cNvPr id="18" name="Text 15"/>
          <p:cNvSpPr txBox="1"/>
          <p:nvPr/>
        </p:nvSpPr>
        <p:spPr>
          <a:xfrm>
            <a:off x="1874520" y="3840480"/>
            <a:ext cx="2468880" cy="868680"/>
          </a:xfrm>
          <a:prstGeom prst="rect">
            <a:avLst/>
          </a:prstGeom>
          <a:noFill/>
          <a:ln/>
        </p:spPr>
        <p:txBody>
          <a:bodyPr wrap="square" lIns="0" tIns="0" rIns="0" bIns="0" rtlCol="0" anchor="ctr"/>
          <a:lstStyle/>
          <a:p>
            <a:pPr marL="0" indent="0" algn="ctr">
              <a:buNone/>
            </a:pPr>
            <a:r>
              <a:rPr lang="en-US" sz="1400" b="1" dirty="0">
                <a:solidFill>
                  <a:srgbClr val="5B6B7F"/>
                </a:solidFill>
                <a:latin typeface="Arial" pitchFamily="34" charset="0"/>
                <a:ea typeface="Arial" pitchFamily="34" charset="-122"/>
                <a:cs typeface="Arial" pitchFamily="34" charset="-120"/>
              </a:rPr>
              <a:t>Free</a:t>
            </a:r>
            <a:endParaRPr lang="en-US" sz="1400" dirty="0"/>
          </a:p>
        </p:txBody>
      </p:sp>
      <p:sp>
        <p:nvSpPr>
          <p:cNvPr id="19" name="Text 16"/>
          <p:cNvSpPr txBox="1"/>
          <p:nvPr/>
        </p:nvSpPr>
        <p:spPr>
          <a:xfrm>
            <a:off x="411480" y="3822192"/>
            <a:ext cx="1234440" cy="274320"/>
          </a:xfrm>
          <a:prstGeom prst="rect">
            <a:avLst/>
          </a:prstGeom>
          <a:noFill/>
          <a:ln/>
        </p:spPr>
        <p:txBody>
          <a:bodyPr wrap="square" lIns="0" tIns="0" rIns="0" bIns="0" rtlCol="0" anchor="t"/>
          <a:lstStyle/>
          <a:p>
            <a:pPr marL="0" indent="0" algn="r">
              <a:buNone/>
            </a:pPr>
            <a:r>
              <a:rPr lang="en-US" sz="1150" b="1" dirty="0">
                <a:solidFill>
                  <a:srgbClr val="5B6B7F"/>
                </a:solidFill>
                <a:latin typeface="Courier New" pitchFamily="34" charset="0"/>
                <a:ea typeface="Courier New" pitchFamily="34" charset="-122"/>
                <a:cs typeface="Courier New" pitchFamily="34" charset="-120"/>
              </a:rPr>
              <a:t>0x400000</a:t>
            </a:r>
            <a:endParaRPr lang="en-US" sz="1150" dirty="0"/>
          </a:p>
        </p:txBody>
      </p:sp>
      <p:sp>
        <p:nvSpPr>
          <p:cNvPr id="20" name="Shape 17"/>
          <p:cNvSpPr/>
          <p:nvPr/>
        </p:nvSpPr>
        <p:spPr>
          <a:xfrm>
            <a:off x="1737360" y="4709160"/>
            <a:ext cx="2743200" cy="411480"/>
          </a:xfrm>
          <a:prstGeom prst="rect">
            <a:avLst/>
          </a:prstGeom>
          <a:solidFill>
            <a:srgbClr val="1E8E5A"/>
          </a:solidFill>
          <a:ln w="19050">
            <a:solidFill>
              <a:srgbClr val="FFFFFF"/>
            </a:solidFill>
            <a:prstDash val="solid"/>
          </a:ln>
        </p:spPr>
      </p:sp>
      <p:sp>
        <p:nvSpPr>
          <p:cNvPr id="21" name="Text 18"/>
          <p:cNvSpPr txBox="1"/>
          <p:nvPr/>
        </p:nvSpPr>
        <p:spPr>
          <a:xfrm>
            <a:off x="1874520" y="4709160"/>
            <a:ext cx="2468880" cy="226314"/>
          </a:xfrm>
          <a:prstGeom prst="rect">
            <a:avLst/>
          </a:prstGeom>
          <a:noFill/>
          <a:ln/>
        </p:spPr>
        <p:txBody>
          <a:bodyPr wrap="square" lIns="0" tIns="0" rIns="0" bIns="0" rtlCol="0" anchor="b"/>
          <a:lstStyle/>
          <a:p>
            <a:pPr marL="0" indent="0" algn="ctr">
              <a:buNone/>
            </a:pPr>
            <a:r>
              <a:rPr lang="en-US" sz="1200" b="1" dirty="0">
                <a:solidFill>
                  <a:srgbClr val="FFFFFF"/>
                </a:solidFill>
                <a:latin typeface="Arial" pitchFamily="34" charset="0"/>
                <a:ea typeface="Arial" pitchFamily="34" charset="-122"/>
                <a:cs typeface="Arial" pitchFamily="34" charset="-120"/>
              </a:rPr>
              <a:t>Metadata · primary</a:t>
            </a:r>
            <a:endParaRPr lang="en-US" sz="1200" dirty="0"/>
          </a:p>
        </p:txBody>
      </p:sp>
      <p:sp>
        <p:nvSpPr>
          <p:cNvPr id="22" name="Text 19"/>
          <p:cNvSpPr txBox="1"/>
          <p:nvPr/>
        </p:nvSpPr>
        <p:spPr>
          <a:xfrm>
            <a:off x="411480" y="4690872"/>
            <a:ext cx="1234440" cy="274320"/>
          </a:xfrm>
          <a:prstGeom prst="rect">
            <a:avLst/>
          </a:prstGeom>
          <a:noFill/>
          <a:ln/>
        </p:spPr>
        <p:txBody>
          <a:bodyPr wrap="square" lIns="0" tIns="0" rIns="0" bIns="0" rtlCol="0" anchor="t"/>
          <a:lstStyle/>
          <a:p>
            <a:pPr marL="0" indent="0" algn="r">
              <a:buNone/>
            </a:pPr>
            <a:r>
              <a:rPr lang="en-US" sz="1150" b="1" dirty="0">
                <a:solidFill>
                  <a:srgbClr val="5B6B7F"/>
                </a:solidFill>
                <a:latin typeface="Courier New" pitchFamily="34" charset="0"/>
                <a:ea typeface="Courier New" pitchFamily="34" charset="-122"/>
                <a:cs typeface="Courier New" pitchFamily="34" charset="-120"/>
              </a:rPr>
              <a:t>0x600000</a:t>
            </a:r>
            <a:endParaRPr lang="en-US" sz="1150" dirty="0"/>
          </a:p>
        </p:txBody>
      </p:sp>
      <p:sp>
        <p:nvSpPr>
          <p:cNvPr id="23" name="Shape 20"/>
          <p:cNvSpPr/>
          <p:nvPr/>
        </p:nvSpPr>
        <p:spPr>
          <a:xfrm>
            <a:off x="1737360" y="5120640"/>
            <a:ext cx="2743200" cy="411480"/>
          </a:xfrm>
          <a:prstGeom prst="rect">
            <a:avLst/>
          </a:prstGeom>
          <a:solidFill>
            <a:srgbClr val="2FA36B"/>
          </a:solidFill>
          <a:ln w="19050">
            <a:solidFill>
              <a:srgbClr val="FFFFFF"/>
            </a:solidFill>
            <a:prstDash val="solid"/>
          </a:ln>
        </p:spPr>
      </p:sp>
      <p:sp>
        <p:nvSpPr>
          <p:cNvPr id="24" name="Text 21"/>
          <p:cNvSpPr txBox="1"/>
          <p:nvPr/>
        </p:nvSpPr>
        <p:spPr>
          <a:xfrm>
            <a:off x="1874520" y="5120640"/>
            <a:ext cx="2468880" cy="226314"/>
          </a:xfrm>
          <a:prstGeom prst="rect">
            <a:avLst/>
          </a:prstGeom>
          <a:noFill/>
          <a:ln/>
        </p:spPr>
        <p:txBody>
          <a:bodyPr wrap="square" lIns="0" tIns="0" rIns="0" bIns="0" rtlCol="0" anchor="b"/>
          <a:lstStyle/>
          <a:p>
            <a:pPr marL="0" indent="0" algn="ctr">
              <a:buNone/>
            </a:pPr>
            <a:r>
              <a:rPr lang="en-US" sz="1200" b="1" dirty="0">
                <a:solidFill>
                  <a:srgbClr val="FFFFFF"/>
                </a:solidFill>
                <a:latin typeface="Arial" pitchFamily="34" charset="0"/>
                <a:ea typeface="Arial" pitchFamily="34" charset="-122"/>
                <a:cs typeface="Arial" pitchFamily="34" charset="-120"/>
              </a:rPr>
              <a:t>Metadata · backup</a:t>
            </a:r>
            <a:endParaRPr lang="en-US" sz="1200" dirty="0"/>
          </a:p>
        </p:txBody>
      </p:sp>
      <p:sp>
        <p:nvSpPr>
          <p:cNvPr id="25" name="Text 22"/>
          <p:cNvSpPr txBox="1"/>
          <p:nvPr/>
        </p:nvSpPr>
        <p:spPr>
          <a:xfrm>
            <a:off x="411480" y="5102352"/>
            <a:ext cx="1234440" cy="274320"/>
          </a:xfrm>
          <a:prstGeom prst="rect">
            <a:avLst/>
          </a:prstGeom>
          <a:noFill/>
          <a:ln/>
        </p:spPr>
        <p:txBody>
          <a:bodyPr wrap="square" lIns="0" tIns="0" rIns="0" bIns="0" rtlCol="0" anchor="t"/>
          <a:lstStyle/>
          <a:p>
            <a:pPr marL="0" indent="0" algn="r">
              <a:buNone/>
            </a:pPr>
            <a:r>
              <a:rPr lang="en-US" sz="1150" b="1" dirty="0">
                <a:solidFill>
                  <a:srgbClr val="5B6B7F"/>
                </a:solidFill>
                <a:latin typeface="Courier New" pitchFamily="34" charset="0"/>
                <a:ea typeface="Courier New" pitchFamily="34" charset="-122"/>
                <a:cs typeface="Courier New" pitchFamily="34" charset="-120"/>
              </a:rPr>
              <a:t>0x610000</a:t>
            </a:r>
            <a:endParaRPr lang="en-US" sz="1150" dirty="0"/>
          </a:p>
        </p:txBody>
      </p:sp>
      <p:sp>
        <p:nvSpPr>
          <p:cNvPr id="26" name="Shape 23"/>
          <p:cNvSpPr/>
          <p:nvPr/>
        </p:nvSpPr>
        <p:spPr>
          <a:xfrm>
            <a:off x="1737360" y="5532120"/>
            <a:ext cx="2743200" cy="548640"/>
          </a:xfrm>
          <a:prstGeom prst="rect">
            <a:avLst/>
          </a:prstGeom>
          <a:solidFill>
            <a:srgbClr val="E3E8EE"/>
          </a:solidFill>
          <a:ln w="19050">
            <a:solidFill>
              <a:srgbClr val="FFFFFF"/>
            </a:solidFill>
            <a:prstDash val="solid"/>
          </a:ln>
        </p:spPr>
      </p:sp>
      <p:sp>
        <p:nvSpPr>
          <p:cNvPr id="27" name="Text 24"/>
          <p:cNvSpPr txBox="1"/>
          <p:nvPr/>
        </p:nvSpPr>
        <p:spPr>
          <a:xfrm>
            <a:off x="1874520" y="5532120"/>
            <a:ext cx="2468880" cy="548640"/>
          </a:xfrm>
          <a:prstGeom prst="rect">
            <a:avLst/>
          </a:prstGeom>
          <a:noFill/>
          <a:ln/>
        </p:spPr>
        <p:txBody>
          <a:bodyPr wrap="square" lIns="0" tIns="0" rIns="0" bIns="0" rtlCol="0" anchor="ctr"/>
          <a:lstStyle/>
          <a:p>
            <a:pPr marL="0" indent="0" algn="ctr">
              <a:buNone/>
            </a:pPr>
            <a:r>
              <a:rPr lang="en-US" sz="1400" b="1" dirty="0">
                <a:solidFill>
                  <a:srgbClr val="5B6B7F"/>
                </a:solidFill>
                <a:latin typeface="Arial" pitchFamily="34" charset="0"/>
                <a:ea typeface="Arial" pitchFamily="34" charset="-122"/>
                <a:cs typeface="Arial" pitchFamily="34" charset="-120"/>
              </a:rPr>
              <a:t>Free</a:t>
            </a:r>
            <a:endParaRPr lang="en-US" sz="1400" dirty="0"/>
          </a:p>
        </p:txBody>
      </p:sp>
      <p:sp>
        <p:nvSpPr>
          <p:cNvPr id="28" name="Text 25"/>
          <p:cNvSpPr txBox="1"/>
          <p:nvPr/>
        </p:nvSpPr>
        <p:spPr>
          <a:xfrm>
            <a:off x="411480" y="5824728"/>
            <a:ext cx="1234440" cy="274320"/>
          </a:xfrm>
          <a:prstGeom prst="rect">
            <a:avLst/>
          </a:prstGeom>
          <a:noFill/>
          <a:ln/>
        </p:spPr>
        <p:txBody>
          <a:bodyPr wrap="square" lIns="0" tIns="0" rIns="0" bIns="0" rtlCol="0" anchor="t"/>
          <a:lstStyle/>
          <a:p>
            <a:pPr marL="0" indent="0" algn="r">
              <a:buNone/>
            </a:pPr>
            <a:r>
              <a:rPr lang="en-US" sz="1150" b="1" dirty="0">
                <a:solidFill>
                  <a:srgbClr val="5B6B7F"/>
                </a:solidFill>
                <a:latin typeface="Courier New" pitchFamily="34" charset="0"/>
                <a:ea typeface="Courier New" pitchFamily="34" charset="-122"/>
                <a:cs typeface="Courier New" pitchFamily="34" charset="-120"/>
              </a:rPr>
              <a:t>0x7FFFFF</a:t>
            </a:r>
            <a:endParaRPr lang="en-US" sz="1150" dirty="0"/>
          </a:p>
        </p:txBody>
      </p:sp>
      <p:sp>
        <p:nvSpPr>
          <p:cNvPr id="29" name="Text 26"/>
          <p:cNvSpPr txBox="1"/>
          <p:nvPr/>
        </p:nvSpPr>
        <p:spPr>
          <a:xfrm>
            <a:off x="1737360" y="6153912"/>
            <a:ext cx="2743200" cy="256032"/>
          </a:xfrm>
          <a:prstGeom prst="rect">
            <a:avLst/>
          </a:prstGeom>
          <a:noFill/>
          <a:ln/>
        </p:spPr>
        <p:txBody>
          <a:bodyPr wrap="square" lIns="0" tIns="0" rIns="0" bIns="0" rtlCol="0" anchor="t"/>
          <a:lstStyle/>
          <a:p>
            <a:pPr marL="0" indent="0" algn="ctr">
              <a:buNone/>
            </a:pPr>
            <a:r>
              <a:rPr lang="en-US" sz="1000" i="1" dirty="0">
                <a:solidFill>
                  <a:srgbClr val="5B6B7F"/>
                </a:solidFill>
                <a:latin typeface="Arial" pitchFamily="34" charset="0"/>
                <a:ea typeface="Arial" pitchFamily="34" charset="-122"/>
                <a:cs typeface="Arial" pitchFamily="34" charset="-120"/>
              </a:rPr>
              <a:t>Not to scale</a:t>
            </a:r>
            <a:endParaRPr lang="en-US" sz="1000" dirty="0"/>
          </a:p>
        </p:txBody>
      </p:sp>
      <p:sp>
        <p:nvSpPr>
          <p:cNvPr id="30" name="Shape 27"/>
          <p:cNvSpPr/>
          <p:nvPr/>
        </p:nvSpPr>
        <p:spPr>
          <a:xfrm>
            <a:off x="4937760" y="960120"/>
            <a:ext cx="6793992" cy="384048"/>
          </a:xfrm>
          <a:prstGeom prst="roundRect">
            <a:avLst>
              <a:gd name="adj" fmla="val 14286"/>
            </a:avLst>
          </a:prstGeom>
          <a:solidFill>
            <a:srgbClr val="08A1D9"/>
          </a:solidFill>
          <a:ln/>
        </p:spPr>
      </p:sp>
      <p:sp>
        <p:nvSpPr>
          <p:cNvPr id="31" name="Text 28"/>
          <p:cNvSpPr txBox="1"/>
          <p:nvPr/>
        </p:nvSpPr>
        <p:spPr>
          <a:xfrm>
            <a:off x="5029200" y="960120"/>
            <a:ext cx="6611112"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How the two banks work</a:t>
            </a:r>
            <a:endParaRPr lang="en-US" sz="1500" dirty="0"/>
          </a:p>
        </p:txBody>
      </p:sp>
      <p:sp>
        <p:nvSpPr>
          <p:cNvPr id="32" name="Shape 29"/>
          <p:cNvSpPr/>
          <p:nvPr/>
        </p:nvSpPr>
        <p:spPr>
          <a:xfrm>
            <a:off x="4937760" y="1399032"/>
            <a:ext cx="6793992" cy="1938528"/>
          </a:xfrm>
          <a:prstGeom prst="roundRect">
            <a:avLst>
              <a:gd name="adj" fmla="val 4717"/>
            </a:avLst>
          </a:prstGeom>
          <a:solidFill>
            <a:srgbClr val="E8F6FD"/>
          </a:solidFill>
          <a:ln/>
        </p:spPr>
      </p:sp>
      <p:sp>
        <p:nvSpPr>
          <p:cNvPr id="33" name="Text 30"/>
          <p:cNvSpPr txBox="1"/>
          <p:nvPr/>
        </p:nvSpPr>
        <p:spPr>
          <a:xfrm>
            <a:off x="5166360" y="1481328"/>
            <a:ext cx="6400800" cy="1828800"/>
          </a:xfrm>
          <a:prstGeom prst="rect">
            <a:avLst/>
          </a:prstGeom>
          <a:noFill/>
          <a:ln/>
        </p:spPr>
        <p:txBody>
          <a:bodyPr wrap="square" lIns="0" tIns="0" rIns="0" bIns="0" rtlCol="0" anchor="ctr"/>
          <a:lstStyle/>
          <a:p>
            <a:pPr marL="177800" indent="-177800">
              <a:spcAft>
                <a:spcPts val="600"/>
              </a:spcAft>
              <a:buSzPct val="100000"/>
              <a:buChar char="•"/>
            </a:pPr>
            <a:r>
              <a:rPr lang="en-US" sz="1500" dirty="0">
                <a:solidFill>
                  <a:srgbClr val="1E2A3A"/>
                </a:solidFill>
                <a:latin typeface="Arial" pitchFamily="34" charset="0"/>
                <a:ea typeface="Arial" pitchFamily="34" charset="-122"/>
                <a:cs typeface="Arial" pitchFamily="34" charset="-120"/>
              </a:rPr>
              <a:t>One bank is active and runs the application.</a:t>
            </a:r>
            <a:endParaRPr lang="en-US" sz="1500" dirty="0"/>
          </a:p>
          <a:p>
            <a:pPr marL="177800" indent="-177800">
              <a:spcAft>
                <a:spcPts val="600"/>
              </a:spcAft>
              <a:buSzPct val="100000"/>
              <a:buChar char="•"/>
            </a:pPr>
            <a:r>
              <a:rPr lang="en-US" sz="1500" dirty="0">
                <a:solidFill>
                  <a:srgbClr val="1E2A3A"/>
                </a:solidFill>
                <a:latin typeface="Arial" pitchFamily="34" charset="0"/>
                <a:ea typeface="Arial" pitchFamily="34" charset="-122"/>
                <a:cs typeface="Arial" pitchFamily="34" charset="-120"/>
              </a:rPr>
              <a:t>Every new image goes to the inactive bank.</a:t>
            </a:r>
            <a:endParaRPr lang="en-US" sz="1500" dirty="0"/>
          </a:p>
          <a:p>
            <a:pPr marL="177800" indent="-177800">
              <a:spcAft>
                <a:spcPts val="600"/>
              </a:spcAft>
              <a:buSzPct val="100000"/>
              <a:buChar char="•"/>
            </a:pPr>
            <a:r>
              <a:rPr lang="en-US" sz="1500" dirty="0">
                <a:solidFill>
                  <a:srgbClr val="1E2A3A"/>
                </a:solidFill>
                <a:latin typeface="Arial" pitchFamily="34" charset="0"/>
                <a:ea typeface="Arial" pitchFamily="34" charset="-122"/>
                <a:cs typeface="Arial" pitchFamily="34" charset="-120"/>
              </a:rPr>
              <a:t>The running image is never overwritten, so rollback always has a target.</a:t>
            </a:r>
            <a:endParaRPr lang="en-US" sz="1500" dirty="0"/>
          </a:p>
          <a:p>
            <a:pPr marL="177800" indent="-177800">
              <a:spcAft>
                <a:spcPts val="600"/>
              </a:spcAft>
              <a:buSzPct val="100000"/>
              <a:buChar char="•"/>
            </a:pPr>
            <a:r>
              <a:rPr lang="en-US" sz="1500" dirty="0">
                <a:solidFill>
                  <a:srgbClr val="1E2A3A"/>
                </a:solidFill>
                <a:latin typeface="Arial" pitchFamily="34" charset="0"/>
                <a:ea typeface="Arial" pitchFamily="34" charset="-122"/>
                <a:cs typeface="Arial" pitchFamily="34" charset="-120"/>
              </a:rPr>
              <a:t>A new image with the same CRC as the current one is dropped as a duplicate.</a:t>
            </a:r>
            <a:endParaRPr lang="en-US" sz="1500" dirty="0"/>
          </a:p>
        </p:txBody>
      </p:sp>
      <p:sp>
        <p:nvSpPr>
          <p:cNvPr id="34" name="Shape 31"/>
          <p:cNvSpPr/>
          <p:nvPr/>
        </p:nvSpPr>
        <p:spPr>
          <a:xfrm>
            <a:off x="4937760" y="3520440"/>
            <a:ext cx="6793992" cy="384048"/>
          </a:xfrm>
          <a:prstGeom prst="roundRect">
            <a:avLst>
              <a:gd name="adj" fmla="val 14286"/>
            </a:avLst>
          </a:prstGeom>
          <a:solidFill>
            <a:srgbClr val="1E8E5A"/>
          </a:solidFill>
          <a:ln/>
        </p:spPr>
      </p:sp>
      <p:sp>
        <p:nvSpPr>
          <p:cNvPr id="35" name="Text 32"/>
          <p:cNvSpPr txBox="1"/>
          <p:nvPr/>
        </p:nvSpPr>
        <p:spPr>
          <a:xfrm>
            <a:off x="5029200" y="3520440"/>
            <a:ext cx="6611112"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What the metadata record holds</a:t>
            </a:r>
            <a:endParaRPr lang="en-US" sz="1500" dirty="0"/>
          </a:p>
        </p:txBody>
      </p:sp>
      <p:sp>
        <p:nvSpPr>
          <p:cNvPr id="36" name="Shape 33"/>
          <p:cNvSpPr/>
          <p:nvPr/>
        </p:nvSpPr>
        <p:spPr>
          <a:xfrm>
            <a:off x="4937760" y="3959352"/>
            <a:ext cx="6793992" cy="2304288"/>
          </a:xfrm>
          <a:prstGeom prst="roundRect">
            <a:avLst>
              <a:gd name="adj" fmla="val 3968"/>
            </a:avLst>
          </a:prstGeom>
          <a:solidFill>
            <a:srgbClr val="E8F6FD"/>
          </a:solidFill>
          <a:ln/>
        </p:spPr>
      </p:sp>
      <p:sp>
        <p:nvSpPr>
          <p:cNvPr id="37" name="Text 34"/>
          <p:cNvSpPr txBox="1"/>
          <p:nvPr/>
        </p:nvSpPr>
        <p:spPr>
          <a:xfrm>
            <a:off x="5120640" y="4069080"/>
            <a:ext cx="3200400" cy="658368"/>
          </a:xfrm>
          <a:prstGeom prst="rect">
            <a:avLst/>
          </a:prstGeom>
          <a:noFill/>
          <a:ln/>
        </p:spPr>
        <p:txBody>
          <a:bodyPr wrap="square" lIns="0" tIns="0" rIns="0" bIns="0" rtlCol="0" anchor="t"/>
          <a:lstStyle/>
          <a:p>
            <a:pPr marL="0" indent="0">
              <a:buNone/>
            </a:pPr>
            <a:r>
              <a:rPr lang="en-US" sz="1300" b="1" dirty="0">
                <a:solidFill>
                  <a:srgbClr val="17365D"/>
                </a:solidFill>
                <a:latin typeface="Arial" pitchFamily="34" charset="0"/>
                <a:ea typeface="Arial" pitchFamily="34" charset="-122"/>
                <a:cs typeface="Arial" pitchFamily="34" charset="-120"/>
              </a:rPr>
              <a:t>Magic 0xA55AB00B</a:t>
            </a:r>
            <a:endParaRPr lang="en-US" sz="1300" dirty="0"/>
          </a:p>
          <a:p>
            <a:pPr marL="0" indent="0">
              <a:buNone/>
            </a:pPr>
            <a:r>
              <a:rPr lang="en-US" sz="1150" dirty="0">
                <a:solidFill>
                  <a:srgbClr val="1E2A3A"/>
                </a:solidFill>
                <a:latin typeface="Arial" pitchFamily="34" charset="0"/>
                <a:ea typeface="Arial" pitchFamily="34" charset="-122"/>
                <a:cs typeface="Arial" pitchFamily="34" charset="-120"/>
              </a:rPr>
              <a:t>rejects erased (0xFF) or zeroed flash</a:t>
            </a:r>
            <a:endParaRPr lang="en-US" sz="1300" dirty="0"/>
          </a:p>
        </p:txBody>
      </p:sp>
      <p:sp>
        <p:nvSpPr>
          <p:cNvPr id="38" name="Text 35"/>
          <p:cNvSpPr txBox="1"/>
          <p:nvPr/>
        </p:nvSpPr>
        <p:spPr>
          <a:xfrm>
            <a:off x="8430768" y="4069080"/>
            <a:ext cx="3200400" cy="658368"/>
          </a:xfrm>
          <a:prstGeom prst="rect">
            <a:avLst/>
          </a:prstGeom>
          <a:noFill/>
          <a:ln/>
        </p:spPr>
        <p:txBody>
          <a:bodyPr wrap="square" lIns="0" tIns="0" rIns="0" bIns="0" rtlCol="0" anchor="t"/>
          <a:lstStyle/>
          <a:p>
            <a:pPr marL="0" indent="0">
              <a:buNone/>
            </a:pPr>
            <a:r>
              <a:rPr lang="en-US" sz="1300" b="1" dirty="0">
                <a:solidFill>
                  <a:srgbClr val="17365D"/>
                </a:solidFill>
                <a:latin typeface="Arial" pitchFamily="34" charset="0"/>
                <a:ea typeface="Arial" pitchFamily="34" charset="-122"/>
                <a:cs typeface="Arial" pitchFamily="34" charset="-120"/>
              </a:rPr>
              <a:t>Active bank</a:t>
            </a:r>
            <a:endParaRPr lang="en-US" sz="1300" dirty="0"/>
          </a:p>
          <a:p>
            <a:pPr marL="0" indent="0">
              <a:buNone/>
            </a:pPr>
            <a:r>
              <a:rPr lang="en-US" sz="1150" dirty="0">
                <a:solidFill>
                  <a:srgbClr val="1E2A3A"/>
                </a:solidFill>
                <a:latin typeface="Arial" pitchFamily="34" charset="0"/>
                <a:ea typeface="Arial" pitchFamily="34" charset="-122"/>
                <a:cs typeface="Arial" pitchFamily="34" charset="-120"/>
              </a:rPr>
              <a:t>A or B</a:t>
            </a:r>
            <a:endParaRPr lang="en-US" sz="1300" dirty="0"/>
          </a:p>
        </p:txBody>
      </p:sp>
      <p:sp>
        <p:nvSpPr>
          <p:cNvPr id="39" name="Text 36"/>
          <p:cNvSpPr txBox="1"/>
          <p:nvPr/>
        </p:nvSpPr>
        <p:spPr>
          <a:xfrm>
            <a:off x="5120640" y="4782312"/>
            <a:ext cx="3200400" cy="658368"/>
          </a:xfrm>
          <a:prstGeom prst="rect">
            <a:avLst/>
          </a:prstGeom>
          <a:noFill/>
          <a:ln/>
        </p:spPr>
        <p:txBody>
          <a:bodyPr wrap="square" lIns="0" tIns="0" rIns="0" bIns="0" rtlCol="0" anchor="t"/>
          <a:lstStyle/>
          <a:p>
            <a:pPr marL="0" indent="0">
              <a:buNone/>
            </a:pPr>
            <a:r>
              <a:rPr lang="en-US" sz="1300" b="1" dirty="0">
                <a:solidFill>
                  <a:srgbClr val="17365D"/>
                </a:solidFill>
                <a:latin typeface="Arial" pitchFamily="34" charset="0"/>
                <a:ea typeface="Arial" pitchFamily="34" charset="-122"/>
                <a:cs typeface="Arial" pitchFamily="34" charset="-120"/>
              </a:rPr>
              <a:t>Per bank</a:t>
            </a:r>
            <a:endParaRPr lang="en-US" sz="1300" dirty="0"/>
          </a:p>
          <a:p>
            <a:pPr marL="0" indent="0">
              <a:buNone/>
            </a:pPr>
            <a:r>
              <a:rPr lang="en-US" sz="1150" dirty="0">
                <a:solidFill>
                  <a:srgbClr val="1E2A3A"/>
                </a:solidFill>
                <a:latin typeface="Arial" pitchFamily="34" charset="0"/>
                <a:ea typeface="Arial" pitchFamily="34" charset="-122"/>
                <a:cs typeface="Arial" pitchFamily="34" charset="-120"/>
              </a:rPr>
              <a:t>offset, size, image CRC-32</a:t>
            </a:r>
            <a:endParaRPr lang="en-US" sz="1300" dirty="0"/>
          </a:p>
        </p:txBody>
      </p:sp>
      <p:sp>
        <p:nvSpPr>
          <p:cNvPr id="40" name="Text 37"/>
          <p:cNvSpPr txBox="1"/>
          <p:nvPr/>
        </p:nvSpPr>
        <p:spPr>
          <a:xfrm>
            <a:off x="8430768" y="4782312"/>
            <a:ext cx="3200400" cy="658368"/>
          </a:xfrm>
          <a:prstGeom prst="rect">
            <a:avLst/>
          </a:prstGeom>
          <a:noFill/>
          <a:ln/>
        </p:spPr>
        <p:txBody>
          <a:bodyPr wrap="square" lIns="0" tIns="0" rIns="0" bIns="0" rtlCol="0" anchor="t"/>
          <a:lstStyle/>
          <a:p>
            <a:pPr marL="0" indent="0">
              <a:buNone/>
            </a:pPr>
            <a:r>
              <a:rPr lang="en-US" sz="1300" b="1" dirty="0">
                <a:solidFill>
                  <a:srgbClr val="17365D"/>
                </a:solidFill>
                <a:latin typeface="Arial" pitchFamily="34" charset="0"/>
                <a:ea typeface="Arial" pitchFamily="34" charset="-122"/>
                <a:cs typeface="Arial" pitchFamily="34" charset="-120"/>
              </a:rPr>
              <a:t>Confirmed flag</a:t>
            </a:r>
            <a:endParaRPr lang="en-US" sz="1300" dirty="0"/>
          </a:p>
          <a:p>
            <a:pPr marL="0" indent="0">
              <a:buNone/>
            </a:pPr>
            <a:r>
              <a:rPr lang="en-US" sz="1150" dirty="0">
                <a:solidFill>
                  <a:srgbClr val="1E2A3A"/>
                </a:solidFill>
                <a:latin typeface="Arial" pitchFamily="34" charset="0"/>
                <a:ea typeface="Arial" pitchFamily="34" charset="-122"/>
                <a:cs typeface="Arial" pitchFamily="34" charset="-120"/>
              </a:rPr>
              <a:t>set by the app once it works</a:t>
            </a:r>
            <a:endParaRPr lang="en-US" sz="1300" dirty="0"/>
          </a:p>
        </p:txBody>
      </p:sp>
      <p:sp>
        <p:nvSpPr>
          <p:cNvPr id="41" name="Text 38"/>
          <p:cNvSpPr txBox="1"/>
          <p:nvPr/>
        </p:nvSpPr>
        <p:spPr>
          <a:xfrm>
            <a:off x="5120640" y="5495544"/>
            <a:ext cx="3200400" cy="658368"/>
          </a:xfrm>
          <a:prstGeom prst="rect">
            <a:avLst/>
          </a:prstGeom>
          <a:noFill/>
          <a:ln/>
        </p:spPr>
        <p:txBody>
          <a:bodyPr wrap="square" lIns="0" tIns="0" rIns="0" bIns="0" rtlCol="0" anchor="t"/>
          <a:lstStyle/>
          <a:p>
            <a:pPr marL="0" indent="0">
              <a:buNone/>
            </a:pPr>
            <a:r>
              <a:rPr lang="en-US" sz="1300" b="1" dirty="0">
                <a:solidFill>
                  <a:srgbClr val="17365D"/>
                </a:solidFill>
                <a:latin typeface="Arial" pitchFamily="34" charset="0"/>
                <a:ea typeface="Arial" pitchFamily="34" charset="-122"/>
                <a:cs typeface="Arial" pitchFamily="34" charset="-120"/>
              </a:rPr>
              <a:t>Boot-attempt count</a:t>
            </a:r>
            <a:endParaRPr lang="en-US" sz="1300" dirty="0"/>
          </a:p>
          <a:p>
            <a:pPr marL="0" indent="0">
              <a:buNone/>
            </a:pPr>
            <a:r>
              <a:rPr lang="en-US" sz="1150" dirty="0">
                <a:solidFill>
                  <a:srgbClr val="1E2A3A"/>
                </a:solidFill>
                <a:latin typeface="Arial" pitchFamily="34" charset="0"/>
                <a:ea typeface="Arial" pitchFamily="34" charset="-122"/>
                <a:cs typeface="Arial" pitchFamily="34" charset="-120"/>
              </a:rPr>
              <a:t>trial boots without confirmation</a:t>
            </a:r>
            <a:endParaRPr lang="en-US" sz="1300" dirty="0"/>
          </a:p>
        </p:txBody>
      </p:sp>
      <p:sp>
        <p:nvSpPr>
          <p:cNvPr id="42" name="Text 39"/>
          <p:cNvSpPr txBox="1"/>
          <p:nvPr/>
        </p:nvSpPr>
        <p:spPr>
          <a:xfrm>
            <a:off x="8430768" y="5495544"/>
            <a:ext cx="3200400" cy="658368"/>
          </a:xfrm>
          <a:prstGeom prst="rect">
            <a:avLst/>
          </a:prstGeom>
          <a:noFill/>
          <a:ln/>
        </p:spPr>
        <p:txBody>
          <a:bodyPr wrap="square" lIns="0" tIns="0" rIns="0" bIns="0" rtlCol="0" anchor="t"/>
          <a:lstStyle/>
          <a:p>
            <a:pPr marL="0" indent="0">
              <a:buNone/>
            </a:pPr>
            <a:r>
              <a:rPr lang="en-US" sz="1300" b="1" dirty="0">
                <a:solidFill>
                  <a:srgbClr val="17365D"/>
                </a:solidFill>
                <a:latin typeface="Arial" pitchFamily="34" charset="0"/>
                <a:ea typeface="Arial" pitchFamily="34" charset="-122"/>
                <a:cs typeface="Arial" pitchFamily="34" charset="-120"/>
              </a:rPr>
              <a:t>Record CRC</a:t>
            </a:r>
            <a:endParaRPr lang="en-US" sz="1300" dirty="0"/>
          </a:p>
          <a:p>
            <a:pPr marL="0" indent="0">
              <a:buNone/>
            </a:pPr>
            <a:r>
              <a:rPr lang="en-US" sz="1150" dirty="0">
                <a:solidFill>
                  <a:srgbClr val="1E2A3A"/>
                </a:solidFill>
                <a:latin typeface="Arial" pitchFamily="34" charset="0"/>
                <a:ea typeface="Arial" pitchFamily="34" charset="-122"/>
                <a:cs typeface="Arial" pitchFamily="34" charset="-120"/>
              </a:rPr>
              <a:t>detects a torn metadata write</a:t>
            </a:r>
            <a:endParaRPr lang="en-US" sz="1300" dirty="0"/>
          </a:p>
        </p:txBody>
      </p:sp>
      <p:sp>
        <p:nvSpPr>
          <p:cNvPr id="3" name="Slide Number Placeholder 0"/>
          <p:cNvSpPr>
            <a:spLocks noGrp="1"/>
          </p:cNvSpPr>
          <p:nvPr>
            <p:ph type="sldNum" sz="quarter" idx="4294967295"/>
          </p:nvPr>
        </p:nvSpPr>
        <p:spPr>
          <a:xfrm>
            <a:off x="1138428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A"/>
                </a:solidFill>
                <a:latin typeface="Arial"/>
                <a:ea typeface="Arial"/>
                <a:cs typeface="Aria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36576"/>
            <a:ext cx="8686800" cy="420624"/>
          </a:xfrm>
          <a:prstGeom prst="rect">
            <a:avLst/>
          </a:prstGeom>
          <a:noFill/>
          <a:ln/>
        </p:spPr>
        <p:txBody>
          <a:bodyPr wrap="square" lIns="0" tIns="0" rIns="0" bIns="0" rtlCol="0" anchor="ctr"/>
          <a:lstStyle/>
          <a:p>
            <a:pPr marL="0" indent="0">
              <a:buNone/>
            </a:pPr>
            <a:r>
              <a:rPr lang="en-US" sz="2400" b="1" dirty="0">
                <a:solidFill>
                  <a:srgbClr val="1F5A9E"/>
                </a:solidFill>
                <a:latin typeface="Arial" pitchFamily="34" charset="0"/>
                <a:ea typeface="Arial" pitchFamily="34" charset="-122"/>
                <a:cs typeface="Arial" pitchFamily="34" charset="-120"/>
              </a:rPr>
              <a:t>Power-Interruption-Safe Commit</a:t>
            </a:r>
            <a:endParaRPr lang="en-US" sz="2400" dirty="0"/>
          </a:p>
        </p:txBody>
      </p:sp>
      <p:sp>
        <p:nvSpPr>
          <p:cNvPr id="4" name="Shape 1"/>
          <p:cNvSpPr/>
          <p:nvPr/>
        </p:nvSpPr>
        <p:spPr>
          <a:xfrm>
            <a:off x="457200" y="960120"/>
            <a:ext cx="2057400" cy="1143000"/>
          </a:xfrm>
          <a:prstGeom prst="roundRect">
            <a:avLst>
              <a:gd name="adj" fmla="val 8000"/>
            </a:avLst>
          </a:prstGeom>
          <a:solidFill>
            <a:srgbClr val="17365D"/>
          </a:solidFill>
          <a:ln/>
        </p:spPr>
      </p:sp>
      <p:sp>
        <p:nvSpPr>
          <p:cNvPr id="5" name="Text 2"/>
          <p:cNvSpPr txBox="1"/>
          <p:nvPr/>
        </p:nvSpPr>
        <p:spPr>
          <a:xfrm>
            <a:off x="457200" y="1051560"/>
            <a:ext cx="20574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Write image</a:t>
            </a:r>
            <a:endParaRPr lang="en-US" sz="1600" dirty="0"/>
          </a:p>
        </p:txBody>
      </p:sp>
      <p:sp>
        <p:nvSpPr>
          <p:cNvPr id="6" name="Text 3"/>
          <p:cNvSpPr txBox="1"/>
          <p:nvPr/>
        </p:nvSpPr>
        <p:spPr>
          <a:xfrm>
            <a:off x="457200" y="1508760"/>
            <a:ext cx="2057400" cy="457200"/>
          </a:xfrm>
          <a:prstGeom prst="rect">
            <a:avLst/>
          </a:prstGeom>
          <a:noFill/>
          <a:ln/>
        </p:spPr>
        <p:txBody>
          <a:bodyPr wrap="square" lIns="0" tIns="0" rIns="0" bIns="0" rtlCol="0" anchor="ctr"/>
          <a:lstStyle/>
          <a:p>
            <a:pPr marL="0" indent="0" algn="ctr">
              <a:buNone/>
            </a:pPr>
            <a:r>
              <a:rPr lang="en-US" sz="1250" dirty="0">
                <a:solidFill>
                  <a:srgbClr val="DCEBFA"/>
                </a:solidFill>
                <a:latin typeface="Arial" pitchFamily="34" charset="0"/>
                <a:ea typeface="Arial" pitchFamily="34" charset="-122"/>
                <a:cs typeface="Arial" pitchFamily="34" charset="-120"/>
              </a:rPr>
              <a:t>to the inactive bank</a:t>
            </a:r>
            <a:endParaRPr lang="en-US" sz="1250" dirty="0"/>
          </a:p>
        </p:txBody>
      </p:sp>
      <p:sp>
        <p:nvSpPr>
          <p:cNvPr id="7" name="Shape 4"/>
          <p:cNvSpPr/>
          <p:nvPr/>
        </p:nvSpPr>
        <p:spPr>
          <a:xfrm>
            <a:off x="2532888" y="1536192"/>
            <a:ext cx="210312" cy="0"/>
          </a:xfrm>
          <a:prstGeom prst="line">
            <a:avLst/>
          </a:prstGeom>
          <a:noFill/>
          <a:ln w="25400">
            <a:solidFill>
              <a:srgbClr val="17365D"/>
            </a:solidFill>
            <a:prstDash val="solid"/>
            <a:tailEnd type="triangle"/>
          </a:ln>
        </p:spPr>
      </p:sp>
      <p:sp>
        <p:nvSpPr>
          <p:cNvPr id="8" name="Shape 5"/>
          <p:cNvSpPr/>
          <p:nvPr/>
        </p:nvSpPr>
        <p:spPr>
          <a:xfrm>
            <a:off x="2761488" y="960120"/>
            <a:ext cx="2057400" cy="1143000"/>
          </a:xfrm>
          <a:prstGeom prst="roundRect">
            <a:avLst>
              <a:gd name="adj" fmla="val 8000"/>
            </a:avLst>
          </a:prstGeom>
          <a:solidFill>
            <a:srgbClr val="17365D"/>
          </a:solidFill>
          <a:ln/>
        </p:spPr>
      </p:sp>
      <p:sp>
        <p:nvSpPr>
          <p:cNvPr id="9" name="Text 6"/>
          <p:cNvSpPr txBox="1"/>
          <p:nvPr/>
        </p:nvSpPr>
        <p:spPr>
          <a:xfrm>
            <a:off x="2761488" y="1051560"/>
            <a:ext cx="20574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Verify</a:t>
            </a:r>
            <a:endParaRPr lang="en-US" sz="1600" dirty="0"/>
          </a:p>
        </p:txBody>
      </p:sp>
      <p:sp>
        <p:nvSpPr>
          <p:cNvPr id="10" name="Text 7"/>
          <p:cNvSpPr txBox="1"/>
          <p:nvPr/>
        </p:nvSpPr>
        <p:spPr>
          <a:xfrm>
            <a:off x="2761488" y="1508760"/>
            <a:ext cx="2057400" cy="457200"/>
          </a:xfrm>
          <a:prstGeom prst="rect">
            <a:avLst/>
          </a:prstGeom>
          <a:noFill/>
          <a:ln/>
        </p:spPr>
        <p:txBody>
          <a:bodyPr wrap="square" lIns="0" tIns="0" rIns="0" bIns="0" rtlCol="0" anchor="ctr"/>
          <a:lstStyle/>
          <a:p>
            <a:pPr marL="0" indent="0" algn="ctr">
              <a:buNone/>
            </a:pPr>
            <a:r>
              <a:rPr lang="en-US" sz="1250" dirty="0">
                <a:solidFill>
                  <a:srgbClr val="DCEBFA"/>
                </a:solidFill>
                <a:latin typeface="Arial" pitchFamily="34" charset="0"/>
                <a:ea typeface="Arial" pitchFamily="34" charset="-122"/>
                <a:cs typeface="Arial" pitchFamily="34" charset="-120"/>
              </a:rPr>
              <a:t>bank CRC-32</a:t>
            </a:r>
            <a:endParaRPr lang="en-US" sz="1250" dirty="0"/>
          </a:p>
        </p:txBody>
      </p:sp>
      <p:sp>
        <p:nvSpPr>
          <p:cNvPr id="11" name="Shape 8"/>
          <p:cNvSpPr/>
          <p:nvPr/>
        </p:nvSpPr>
        <p:spPr>
          <a:xfrm>
            <a:off x="4837176" y="1536192"/>
            <a:ext cx="210312" cy="0"/>
          </a:xfrm>
          <a:prstGeom prst="line">
            <a:avLst/>
          </a:prstGeom>
          <a:noFill/>
          <a:ln w="25400">
            <a:solidFill>
              <a:srgbClr val="17365D"/>
            </a:solidFill>
            <a:prstDash val="solid"/>
            <a:tailEnd type="triangle"/>
          </a:ln>
        </p:spPr>
      </p:sp>
      <p:sp>
        <p:nvSpPr>
          <p:cNvPr id="12" name="Shape 9"/>
          <p:cNvSpPr/>
          <p:nvPr/>
        </p:nvSpPr>
        <p:spPr>
          <a:xfrm>
            <a:off x="5065776" y="960120"/>
            <a:ext cx="2057400" cy="1143000"/>
          </a:xfrm>
          <a:prstGeom prst="roundRect">
            <a:avLst>
              <a:gd name="adj" fmla="val 8000"/>
            </a:avLst>
          </a:prstGeom>
          <a:solidFill>
            <a:srgbClr val="1F6FB5"/>
          </a:solidFill>
          <a:ln/>
        </p:spPr>
      </p:sp>
      <p:sp>
        <p:nvSpPr>
          <p:cNvPr id="13" name="Text 10"/>
          <p:cNvSpPr txBox="1"/>
          <p:nvPr/>
        </p:nvSpPr>
        <p:spPr>
          <a:xfrm>
            <a:off x="5065776" y="1051560"/>
            <a:ext cx="20574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Write backup</a:t>
            </a:r>
            <a:endParaRPr lang="en-US" sz="1600" dirty="0"/>
          </a:p>
        </p:txBody>
      </p:sp>
      <p:sp>
        <p:nvSpPr>
          <p:cNvPr id="14" name="Text 11"/>
          <p:cNvSpPr txBox="1"/>
          <p:nvPr/>
        </p:nvSpPr>
        <p:spPr>
          <a:xfrm>
            <a:off x="5065776" y="1508760"/>
            <a:ext cx="2057400" cy="457200"/>
          </a:xfrm>
          <a:prstGeom prst="rect">
            <a:avLst/>
          </a:prstGeom>
          <a:noFill/>
          <a:ln/>
        </p:spPr>
        <p:txBody>
          <a:bodyPr wrap="square" lIns="0" tIns="0" rIns="0" bIns="0" rtlCol="0" anchor="ctr"/>
          <a:lstStyle/>
          <a:p>
            <a:pPr marL="0" indent="0" algn="ctr">
              <a:buNone/>
            </a:pPr>
            <a:r>
              <a:rPr lang="en-US" sz="1250" dirty="0">
                <a:solidFill>
                  <a:srgbClr val="DCEBFA"/>
                </a:solidFill>
                <a:latin typeface="Arial" pitchFamily="34" charset="0"/>
                <a:ea typeface="Arial" pitchFamily="34" charset="-122"/>
                <a:cs typeface="Arial" pitchFamily="34" charset="-120"/>
              </a:rPr>
              <a:t>metadata copy</a:t>
            </a:r>
            <a:endParaRPr lang="en-US" sz="1250" dirty="0"/>
          </a:p>
        </p:txBody>
      </p:sp>
      <p:sp>
        <p:nvSpPr>
          <p:cNvPr id="15" name="Shape 12"/>
          <p:cNvSpPr/>
          <p:nvPr/>
        </p:nvSpPr>
        <p:spPr>
          <a:xfrm>
            <a:off x="7141464" y="1536192"/>
            <a:ext cx="210312" cy="0"/>
          </a:xfrm>
          <a:prstGeom prst="line">
            <a:avLst/>
          </a:prstGeom>
          <a:noFill/>
          <a:ln w="25400">
            <a:solidFill>
              <a:srgbClr val="17365D"/>
            </a:solidFill>
            <a:prstDash val="solid"/>
            <a:tailEnd type="triangle"/>
          </a:ln>
        </p:spPr>
      </p:sp>
      <p:sp>
        <p:nvSpPr>
          <p:cNvPr id="16" name="Shape 13"/>
          <p:cNvSpPr/>
          <p:nvPr/>
        </p:nvSpPr>
        <p:spPr>
          <a:xfrm>
            <a:off x="7370064" y="960120"/>
            <a:ext cx="2057400" cy="1143000"/>
          </a:xfrm>
          <a:prstGeom prst="roundRect">
            <a:avLst>
              <a:gd name="adj" fmla="val 8000"/>
            </a:avLst>
          </a:prstGeom>
          <a:solidFill>
            <a:srgbClr val="1F6FB5"/>
          </a:solidFill>
          <a:ln/>
        </p:spPr>
      </p:sp>
      <p:sp>
        <p:nvSpPr>
          <p:cNvPr id="17" name="Text 14"/>
          <p:cNvSpPr txBox="1"/>
          <p:nvPr/>
        </p:nvSpPr>
        <p:spPr>
          <a:xfrm>
            <a:off x="7370064" y="1051560"/>
            <a:ext cx="20574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Write primary</a:t>
            </a:r>
            <a:endParaRPr lang="en-US" sz="1600" dirty="0"/>
          </a:p>
        </p:txBody>
      </p:sp>
      <p:sp>
        <p:nvSpPr>
          <p:cNvPr id="18" name="Text 15"/>
          <p:cNvSpPr txBox="1"/>
          <p:nvPr/>
        </p:nvSpPr>
        <p:spPr>
          <a:xfrm>
            <a:off x="7370064" y="1508760"/>
            <a:ext cx="2057400" cy="457200"/>
          </a:xfrm>
          <a:prstGeom prst="rect">
            <a:avLst/>
          </a:prstGeom>
          <a:noFill/>
          <a:ln/>
        </p:spPr>
        <p:txBody>
          <a:bodyPr wrap="square" lIns="0" tIns="0" rIns="0" bIns="0" rtlCol="0" anchor="ctr"/>
          <a:lstStyle/>
          <a:p>
            <a:pPr marL="0" indent="0" algn="ctr">
              <a:buNone/>
            </a:pPr>
            <a:r>
              <a:rPr lang="en-US" sz="1250" dirty="0">
                <a:solidFill>
                  <a:srgbClr val="DCEBFA"/>
                </a:solidFill>
                <a:latin typeface="Arial" pitchFamily="34" charset="0"/>
                <a:ea typeface="Arial" pitchFamily="34" charset="-122"/>
                <a:cs typeface="Arial" pitchFamily="34" charset="-120"/>
              </a:rPr>
              <a:t>metadata copy</a:t>
            </a:r>
            <a:endParaRPr lang="en-US" sz="1250" dirty="0"/>
          </a:p>
        </p:txBody>
      </p:sp>
      <p:sp>
        <p:nvSpPr>
          <p:cNvPr id="19" name="Shape 16"/>
          <p:cNvSpPr/>
          <p:nvPr/>
        </p:nvSpPr>
        <p:spPr>
          <a:xfrm>
            <a:off x="9445752" y="1536192"/>
            <a:ext cx="210312" cy="0"/>
          </a:xfrm>
          <a:prstGeom prst="line">
            <a:avLst/>
          </a:prstGeom>
          <a:noFill/>
          <a:ln w="25400">
            <a:solidFill>
              <a:srgbClr val="17365D"/>
            </a:solidFill>
            <a:prstDash val="solid"/>
            <a:tailEnd type="triangle"/>
          </a:ln>
        </p:spPr>
      </p:sp>
      <p:sp>
        <p:nvSpPr>
          <p:cNvPr id="20" name="Shape 17"/>
          <p:cNvSpPr/>
          <p:nvPr/>
        </p:nvSpPr>
        <p:spPr>
          <a:xfrm>
            <a:off x="9674352" y="960120"/>
            <a:ext cx="2057400" cy="1143000"/>
          </a:xfrm>
          <a:prstGeom prst="roundRect">
            <a:avLst>
              <a:gd name="adj" fmla="val 8000"/>
            </a:avLst>
          </a:prstGeom>
          <a:solidFill>
            <a:srgbClr val="1E8E5A"/>
          </a:solidFill>
          <a:ln/>
        </p:spPr>
      </p:sp>
      <p:sp>
        <p:nvSpPr>
          <p:cNvPr id="21" name="Text 18"/>
          <p:cNvSpPr txBox="1"/>
          <p:nvPr/>
        </p:nvSpPr>
        <p:spPr>
          <a:xfrm>
            <a:off x="9674352" y="1051560"/>
            <a:ext cx="20574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Reboot</a:t>
            </a:r>
            <a:endParaRPr lang="en-US" sz="1600" dirty="0"/>
          </a:p>
        </p:txBody>
      </p:sp>
      <p:sp>
        <p:nvSpPr>
          <p:cNvPr id="22" name="Text 19"/>
          <p:cNvSpPr txBox="1"/>
          <p:nvPr/>
        </p:nvSpPr>
        <p:spPr>
          <a:xfrm>
            <a:off x="9674352" y="1508760"/>
            <a:ext cx="2057400" cy="457200"/>
          </a:xfrm>
          <a:prstGeom prst="rect">
            <a:avLst/>
          </a:prstGeom>
          <a:noFill/>
          <a:ln/>
        </p:spPr>
        <p:txBody>
          <a:bodyPr wrap="square" lIns="0" tIns="0" rIns="0" bIns="0" rtlCol="0" anchor="ctr"/>
          <a:lstStyle/>
          <a:p>
            <a:pPr marL="0" indent="0" algn="ctr">
              <a:buNone/>
            </a:pPr>
            <a:r>
              <a:rPr lang="en-US" sz="1250" dirty="0">
                <a:solidFill>
                  <a:srgbClr val="DCEBFA"/>
                </a:solidFill>
                <a:latin typeface="Arial" pitchFamily="34" charset="0"/>
                <a:ea typeface="Arial" pitchFamily="34" charset="-122"/>
                <a:cs typeface="Arial" pitchFamily="34" charset="-120"/>
              </a:rPr>
              <a:t>into trial boot</a:t>
            </a:r>
            <a:endParaRPr lang="en-US" sz="1250" dirty="0"/>
          </a:p>
        </p:txBody>
      </p:sp>
      <p:sp>
        <p:nvSpPr>
          <p:cNvPr id="23" name="Text 20"/>
          <p:cNvSpPr txBox="1"/>
          <p:nvPr/>
        </p:nvSpPr>
        <p:spPr>
          <a:xfrm>
            <a:off x="457200" y="2377440"/>
            <a:ext cx="6675120" cy="365760"/>
          </a:xfrm>
          <a:prstGeom prst="rect">
            <a:avLst/>
          </a:prstGeom>
          <a:noFill/>
          <a:ln/>
        </p:spPr>
        <p:txBody>
          <a:bodyPr wrap="square" lIns="0" tIns="0" rIns="0" bIns="0" rtlCol="0" anchor="t"/>
          <a:lstStyle/>
          <a:p>
            <a:pPr marL="0" indent="0">
              <a:buNone/>
            </a:pPr>
            <a:r>
              <a:rPr lang="en-US" sz="1600" b="1" dirty="0">
                <a:solidFill>
                  <a:srgbClr val="17365D"/>
                </a:solidFill>
                <a:latin typeface="Arial" pitchFamily="34" charset="0"/>
                <a:ea typeface="Arial" pitchFamily="34" charset="-122"/>
                <a:cs typeface="Arial" pitchFamily="34" charset="-120"/>
              </a:rPr>
              <a:t>What if power fails here?</a:t>
            </a:r>
            <a:endParaRPr lang="en-US" sz="1600" dirty="0"/>
          </a:p>
        </p:txBody>
      </p:sp>
      <p:pic>
        <p:nvPicPr>
          <p:cNvPr id="24" name="Image 0" descr="preencoded.png"/>
          <p:cNvPicPr>
            <a:picLocks noChangeAspect="1"/>
          </p:cNvPicPr>
          <p:nvPr/>
        </p:nvPicPr>
        <p:blipFill>
          <a:blip r:embed="rId3"/>
          <a:stretch>
            <a:fillRect/>
          </a:stretch>
        </p:blipFill>
        <p:spPr>
          <a:xfrm>
            <a:off x="502920" y="3017520"/>
            <a:ext cx="347472" cy="347472"/>
          </a:xfrm>
          <a:prstGeom prst="rect">
            <a:avLst/>
          </a:prstGeom>
        </p:spPr>
      </p:pic>
      <p:sp>
        <p:nvSpPr>
          <p:cNvPr id="25" name="Shape 21"/>
          <p:cNvSpPr/>
          <p:nvPr/>
        </p:nvSpPr>
        <p:spPr>
          <a:xfrm>
            <a:off x="1005840" y="2834640"/>
            <a:ext cx="2514600" cy="749808"/>
          </a:xfrm>
          <a:prstGeom prst="roundRect">
            <a:avLst>
              <a:gd name="adj" fmla="val 9756"/>
            </a:avLst>
          </a:prstGeom>
          <a:solidFill>
            <a:srgbClr val="C9EDFB"/>
          </a:solidFill>
          <a:ln/>
        </p:spPr>
      </p:sp>
      <p:sp>
        <p:nvSpPr>
          <p:cNvPr id="26" name="Text 22"/>
          <p:cNvSpPr txBox="1"/>
          <p:nvPr/>
        </p:nvSpPr>
        <p:spPr>
          <a:xfrm>
            <a:off x="1097280" y="2834640"/>
            <a:ext cx="2331720" cy="749808"/>
          </a:xfrm>
          <a:prstGeom prst="rect">
            <a:avLst/>
          </a:prstGeom>
          <a:noFill/>
          <a:ln/>
        </p:spPr>
        <p:txBody>
          <a:bodyPr wrap="square" lIns="0" tIns="0" rIns="0" bIns="0" rtlCol="0" anchor="ctr"/>
          <a:lstStyle/>
          <a:p>
            <a:pPr marL="0" indent="0">
              <a:buNone/>
            </a:pPr>
            <a:r>
              <a:rPr lang="en-US" sz="1250" b="1" dirty="0">
                <a:solidFill>
                  <a:srgbClr val="17365D"/>
                </a:solidFill>
                <a:latin typeface="Arial" pitchFamily="34" charset="0"/>
                <a:ea typeface="Arial" pitchFamily="34" charset="-122"/>
                <a:cs typeface="Arial" pitchFamily="34" charset="-120"/>
              </a:rPr>
              <a:t>During image write or verify</a:t>
            </a:r>
            <a:endParaRPr lang="en-US" sz="1250" dirty="0"/>
          </a:p>
        </p:txBody>
      </p:sp>
      <p:sp>
        <p:nvSpPr>
          <p:cNvPr id="27" name="Shape 23"/>
          <p:cNvSpPr/>
          <p:nvPr/>
        </p:nvSpPr>
        <p:spPr>
          <a:xfrm>
            <a:off x="3611880" y="2834640"/>
            <a:ext cx="3520440" cy="749808"/>
          </a:xfrm>
          <a:prstGeom prst="roundRect">
            <a:avLst>
              <a:gd name="adj" fmla="val 9756"/>
            </a:avLst>
          </a:prstGeom>
          <a:solidFill>
            <a:srgbClr val="E8F6FD"/>
          </a:solidFill>
          <a:ln/>
        </p:spPr>
      </p:sp>
      <p:sp>
        <p:nvSpPr>
          <p:cNvPr id="28" name="Text 24"/>
          <p:cNvSpPr txBox="1"/>
          <p:nvPr/>
        </p:nvSpPr>
        <p:spPr>
          <a:xfrm>
            <a:off x="3749040" y="2834640"/>
            <a:ext cx="3291840" cy="749808"/>
          </a:xfrm>
          <a:prstGeom prst="rect">
            <a:avLst/>
          </a:prstGeom>
          <a:noFill/>
          <a:ln/>
        </p:spPr>
        <p:txBody>
          <a:bodyPr wrap="square" lIns="0" tIns="0" rIns="0" bIns="0" rtlCol="0" anchor="ctr"/>
          <a:lstStyle/>
          <a:p>
            <a:pPr marL="0" indent="0">
              <a:buNone/>
            </a:pPr>
            <a:r>
              <a:rPr lang="en-US" sz="1250" dirty="0">
                <a:solidFill>
                  <a:srgbClr val="1E2A3A"/>
                </a:solidFill>
                <a:latin typeface="Arial" pitchFamily="34" charset="0"/>
                <a:ea typeface="Arial" pitchFamily="34" charset="-122"/>
                <a:cs typeface="Arial" pitchFamily="34" charset="-120"/>
              </a:rPr>
              <a:t>Metadata still points at the old bank. The old image boots.</a:t>
            </a:r>
            <a:endParaRPr lang="en-US" sz="1250" dirty="0"/>
          </a:p>
        </p:txBody>
      </p:sp>
      <p:pic>
        <p:nvPicPr>
          <p:cNvPr id="29" name="Image 1" descr="preencoded.png"/>
          <p:cNvPicPr>
            <a:picLocks noChangeAspect="1"/>
          </p:cNvPicPr>
          <p:nvPr/>
        </p:nvPicPr>
        <p:blipFill>
          <a:blip r:embed="rId3"/>
          <a:stretch>
            <a:fillRect/>
          </a:stretch>
        </p:blipFill>
        <p:spPr>
          <a:xfrm>
            <a:off x="502920" y="3877056"/>
            <a:ext cx="347472" cy="347472"/>
          </a:xfrm>
          <a:prstGeom prst="rect">
            <a:avLst/>
          </a:prstGeom>
        </p:spPr>
      </p:pic>
      <p:sp>
        <p:nvSpPr>
          <p:cNvPr id="30" name="Shape 25"/>
          <p:cNvSpPr/>
          <p:nvPr/>
        </p:nvSpPr>
        <p:spPr>
          <a:xfrm>
            <a:off x="1005840" y="3694176"/>
            <a:ext cx="2514600" cy="749808"/>
          </a:xfrm>
          <a:prstGeom prst="roundRect">
            <a:avLst>
              <a:gd name="adj" fmla="val 9756"/>
            </a:avLst>
          </a:prstGeom>
          <a:solidFill>
            <a:srgbClr val="C9EDFB"/>
          </a:solidFill>
          <a:ln/>
        </p:spPr>
      </p:sp>
      <p:sp>
        <p:nvSpPr>
          <p:cNvPr id="31" name="Text 26"/>
          <p:cNvSpPr txBox="1"/>
          <p:nvPr/>
        </p:nvSpPr>
        <p:spPr>
          <a:xfrm>
            <a:off x="1097280" y="3694176"/>
            <a:ext cx="2331720" cy="749808"/>
          </a:xfrm>
          <a:prstGeom prst="rect">
            <a:avLst/>
          </a:prstGeom>
          <a:noFill/>
          <a:ln/>
        </p:spPr>
        <p:txBody>
          <a:bodyPr wrap="square" lIns="0" tIns="0" rIns="0" bIns="0" rtlCol="0" anchor="ctr"/>
          <a:lstStyle/>
          <a:p>
            <a:pPr marL="0" indent="0">
              <a:buNone/>
            </a:pPr>
            <a:r>
              <a:rPr lang="en-US" sz="1250" b="1" dirty="0">
                <a:solidFill>
                  <a:srgbClr val="17365D"/>
                </a:solidFill>
                <a:latin typeface="Arial" pitchFamily="34" charset="0"/>
                <a:ea typeface="Arial" pitchFamily="34" charset="-122"/>
                <a:cs typeface="Arial" pitchFamily="34" charset="-120"/>
              </a:rPr>
              <a:t>During backup metadata write</a:t>
            </a:r>
            <a:endParaRPr lang="en-US" sz="1250" dirty="0"/>
          </a:p>
        </p:txBody>
      </p:sp>
      <p:sp>
        <p:nvSpPr>
          <p:cNvPr id="32" name="Shape 27"/>
          <p:cNvSpPr/>
          <p:nvPr/>
        </p:nvSpPr>
        <p:spPr>
          <a:xfrm>
            <a:off x="3611880" y="3694176"/>
            <a:ext cx="3520440" cy="749808"/>
          </a:xfrm>
          <a:prstGeom prst="roundRect">
            <a:avLst>
              <a:gd name="adj" fmla="val 9756"/>
            </a:avLst>
          </a:prstGeom>
          <a:solidFill>
            <a:srgbClr val="E8F6FD"/>
          </a:solidFill>
          <a:ln/>
        </p:spPr>
      </p:sp>
      <p:sp>
        <p:nvSpPr>
          <p:cNvPr id="33" name="Text 28"/>
          <p:cNvSpPr txBox="1"/>
          <p:nvPr/>
        </p:nvSpPr>
        <p:spPr>
          <a:xfrm>
            <a:off x="3749040" y="3694176"/>
            <a:ext cx="3291840" cy="749808"/>
          </a:xfrm>
          <a:prstGeom prst="rect">
            <a:avLst/>
          </a:prstGeom>
          <a:noFill/>
          <a:ln/>
        </p:spPr>
        <p:txBody>
          <a:bodyPr wrap="square" lIns="0" tIns="0" rIns="0" bIns="0" rtlCol="0" anchor="ctr"/>
          <a:lstStyle/>
          <a:p>
            <a:pPr marL="0" indent="0">
              <a:buNone/>
            </a:pPr>
            <a:r>
              <a:rPr lang="en-US" sz="1250" dirty="0">
                <a:solidFill>
                  <a:srgbClr val="1E2A3A"/>
                </a:solidFill>
                <a:latin typeface="Arial" pitchFamily="34" charset="0"/>
                <a:ea typeface="Arial" pitchFamily="34" charset="-122"/>
                <a:cs typeface="Arial" pitchFamily="34" charset="-120"/>
              </a:rPr>
              <a:t>Primary copy is intact and still old. The old image boots.</a:t>
            </a:r>
            <a:endParaRPr lang="en-US" sz="1250" dirty="0"/>
          </a:p>
        </p:txBody>
      </p:sp>
      <p:pic>
        <p:nvPicPr>
          <p:cNvPr id="34" name="Image 2" descr="preencoded.png"/>
          <p:cNvPicPr>
            <a:picLocks noChangeAspect="1"/>
          </p:cNvPicPr>
          <p:nvPr/>
        </p:nvPicPr>
        <p:blipFill>
          <a:blip r:embed="rId3"/>
          <a:stretch>
            <a:fillRect/>
          </a:stretch>
        </p:blipFill>
        <p:spPr>
          <a:xfrm>
            <a:off x="502920" y="4736592"/>
            <a:ext cx="347472" cy="347472"/>
          </a:xfrm>
          <a:prstGeom prst="rect">
            <a:avLst/>
          </a:prstGeom>
        </p:spPr>
      </p:pic>
      <p:sp>
        <p:nvSpPr>
          <p:cNvPr id="35" name="Shape 29"/>
          <p:cNvSpPr/>
          <p:nvPr/>
        </p:nvSpPr>
        <p:spPr>
          <a:xfrm>
            <a:off x="1005840" y="4553712"/>
            <a:ext cx="2514600" cy="749808"/>
          </a:xfrm>
          <a:prstGeom prst="roundRect">
            <a:avLst>
              <a:gd name="adj" fmla="val 9756"/>
            </a:avLst>
          </a:prstGeom>
          <a:solidFill>
            <a:srgbClr val="C9EDFB"/>
          </a:solidFill>
          <a:ln/>
        </p:spPr>
      </p:sp>
      <p:sp>
        <p:nvSpPr>
          <p:cNvPr id="36" name="Text 30"/>
          <p:cNvSpPr txBox="1"/>
          <p:nvPr/>
        </p:nvSpPr>
        <p:spPr>
          <a:xfrm>
            <a:off x="1097280" y="4553712"/>
            <a:ext cx="2331720" cy="749808"/>
          </a:xfrm>
          <a:prstGeom prst="rect">
            <a:avLst/>
          </a:prstGeom>
          <a:noFill/>
          <a:ln/>
        </p:spPr>
        <p:txBody>
          <a:bodyPr wrap="square" lIns="0" tIns="0" rIns="0" bIns="0" rtlCol="0" anchor="ctr"/>
          <a:lstStyle/>
          <a:p>
            <a:pPr marL="0" indent="0">
              <a:buNone/>
            </a:pPr>
            <a:r>
              <a:rPr lang="en-US" sz="1250" b="1" dirty="0">
                <a:solidFill>
                  <a:srgbClr val="17365D"/>
                </a:solidFill>
                <a:latin typeface="Arial" pitchFamily="34" charset="0"/>
                <a:ea typeface="Arial" pitchFamily="34" charset="-122"/>
                <a:cs typeface="Arial" pitchFamily="34" charset="-120"/>
              </a:rPr>
              <a:t>During primary metadata write</a:t>
            </a:r>
            <a:endParaRPr lang="en-US" sz="1250" dirty="0"/>
          </a:p>
        </p:txBody>
      </p:sp>
      <p:sp>
        <p:nvSpPr>
          <p:cNvPr id="37" name="Shape 31"/>
          <p:cNvSpPr/>
          <p:nvPr/>
        </p:nvSpPr>
        <p:spPr>
          <a:xfrm>
            <a:off x="3611880" y="4553712"/>
            <a:ext cx="3520440" cy="749808"/>
          </a:xfrm>
          <a:prstGeom prst="roundRect">
            <a:avLst>
              <a:gd name="adj" fmla="val 9756"/>
            </a:avLst>
          </a:prstGeom>
          <a:solidFill>
            <a:srgbClr val="E8F6FD"/>
          </a:solidFill>
          <a:ln/>
        </p:spPr>
      </p:sp>
      <p:sp>
        <p:nvSpPr>
          <p:cNvPr id="38" name="Text 32"/>
          <p:cNvSpPr txBox="1"/>
          <p:nvPr/>
        </p:nvSpPr>
        <p:spPr>
          <a:xfrm>
            <a:off x="3749040" y="4553712"/>
            <a:ext cx="3291840" cy="749808"/>
          </a:xfrm>
          <a:prstGeom prst="rect">
            <a:avLst/>
          </a:prstGeom>
          <a:noFill/>
          <a:ln/>
        </p:spPr>
        <p:txBody>
          <a:bodyPr wrap="square" lIns="0" tIns="0" rIns="0" bIns="0" rtlCol="0" anchor="ctr"/>
          <a:lstStyle/>
          <a:p>
            <a:pPr marL="0" indent="0">
              <a:buNone/>
            </a:pPr>
            <a:r>
              <a:rPr lang="en-US" sz="1250" dirty="0">
                <a:solidFill>
                  <a:srgbClr val="1E2A3A"/>
                </a:solidFill>
                <a:latin typeface="Arial" pitchFamily="34" charset="0"/>
                <a:ea typeface="Arial" pitchFamily="34" charset="-122"/>
                <a:cs typeface="Arial" pitchFamily="34" charset="-120"/>
              </a:rPr>
              <a:t>Primary fails its record CRC. We read the backup and start the trial boot.</a:t>
            </a:r>
            <a:endParaRPr lang="en-US" sz="1250" dirty="0"/>
          </a:p>
        </p:txBody>
      </p:sp>
      <p:pic>
        <p:nvPicPr>
          <p:cNvPr id="39" name="Image 3" descr="preencoded.png"/>
          <p:cNvPicPr>
            <a:picLocks noChangeAspect="1"/>
          </p:cNvPicPr>
          <p:nvPr/>
        </p:nvPicPr>
        <p:blipFill>
          <a:blip r:embed="rId3"/>
          <a:stretch>
            <a:fillRect/>
          </a:stretch>
        </p:blipFill>
        <p:spPr>
          <a:xfrm>
            <a:off x="502920" y="5596128"/>
            <a:ext cx="347472" cy="347472"/>
          </a:xfrm>
          <a:prstGeom prst="rect">
            <a:avLst/>
          </a:prstGeom>
        </p:spPr>
      </p:pic>
      <p:sp>
        <p:nvSpPr>
          <p:cNvPr id="40" name="Shape 33"/>
          <p:cNvSpPr/>
          <p:nvPr/>
        </p:nvSpPr>
        <p:spPr>
          <a:xfrm>
            <a:off x="1005840" y="5413248"/>
            <a:ext cx="2514600" cy="749808"/>
          </a:xfrm>
          <a:prstGeom prst="roundRect">
            <a:avLst>
              <a:gd name="adj" fmla="val 9756"/>
            </a:avLst>
          </a:prstGeom>
          <a:solidFill>
            <a:srgbClr val="C9EDFB"/>
          </a:solidFill>
          <a:ln/>
        </p:spPr>
      </p:sp>
      <p:sp>
        <p:nvSpPr>
          <p:cNvPr id="41" name="Text 34"/>
          <p:cNvSpPr txBox="1"/>
          <p:nvPr/>
        </p:nvSpPr>
        <p:spPr>
          <a:xfrm>
            <a:off x="1097280" y="5413248"/>
            <a:ext cx="2331720" cy="749808"/>
          </a:xfrm>
          <a:prstGeom prst="rect">
            <a:avLst/>
          </a:prstGeom>
          <a:noFill/>
          <a:ln/>
        </p:spPr>
        <p:txBody>
          <a:bodyPr wrap="square" lIns="0" tIns="0" rIns="0" bIns="0" rtlCol="0" anchor="ctr"/>
          <a:lstStyle/>
          <a:p>
            <a:pPr marL="0" indent="0">
              <a:buNone/>
            </a:pPr>
            <a:r>
              <a:rPr lang="en-US" sz="1250" b="1" dirty="0">
                <a:solidFill>
                  <a:srgbClr val="17365D"/>
                </a:solidFill>
                <a:latin typeface="Arial" pitchFamily="34" charset="0"/>
                <a:ea typeface="Arial" pitchFamily="34" charset="-122"/>
                <a:cs typeface="Arial" pitchFamily="34" charset="-120"/>
              </a:rPr>
              <a:t>After both copies are written</a:t>
            </a:r>
            <a:endParaRPr lang="en-US" sz="1250" dirty="0"/>
          </a:p>
        </p:txBody>
      </p:sp>
      <p:sp>
        <p:nvSpPr>
          <p:cNvPr id="42" name="Shape 35"/>
          <p:cNvSpPr/>
          <p:nvPr/>
        </p:nvSpPr>
        <p:spPr>
          <a:xfrm>
            <a:off x="3611880" y="5413248"/>
            <a:ext cx="3520440" cy="749808"/>
          </a:xfrm>
          <a:prstGeom prst="roundRect">
            <a:avLst>
              <a:gd name="adj" fmla="val 9756"/>
            </a:avLst>
          </a:prstGeom>
          <a:solidFill>
            <a:srgbClr val="E8F6FD"/>
          </a:solidFill>
          <a:ln/>
        </p:spPr>
      </p:sp>
      <p:sp>
        <p:nvSpPr>
          <p:cNvPr id="43" name="Text 36"/>
          <p:cNvSpPr txBox="1"/>
          <p:nvPr/>
        </p:nvSpPr>
        <p:spPr>
          <a:xfrm>
            <a:off x="3749040" y="5413248"/>
            <a:ext cx="3291840" cy="749808"/>
          </a:xfrm>
          <a:prstGeom prst="rect">
            <a:avLst/>
          </a:prstGeom>
          <a:noFill/>
          <a:ln/>
        </p:spPr>
        <p:txBody>
          <a:bodyPr wrap="square" lIns="0" tIns="0" rIns="0" bIns="0" rtlCol="0" anchor="ctr"/>
          <a:lstStyle/>
          <a:p>
            <a:pPr marL="0" indent="0">
              <a:buNone/>
            </a:pPr>
            <a:r>
              <a:rPr lang="en-US" sz="1250" dirty="0">
                <a:solidFill>
                  <a:srgbClr val="1E2A3A"/>
                </a:solidFill>
                <a:latin typeface="Arial" pitchFamily="34" charset="0"/>
                <a:ea typeface="Arial" pitchFamily="34" charset="-122"/>
                <a:cs typeface="Arial" pitchFamily="34" charset="-120"/>
              </a:rPr>
              <a:t>Normal trial boot of the new image.</a:t>
            </a:r>
            <a:endParaRPr lang="en-US" sz="1250" dirty="0"/>
          </a:p>
        </p:txBody>
      </p:sp>
      <p:sp>
        <p:nvSpPr>
          <p:cNvPr id="44" name="Shape 37"/>
          <p:cNvSpPr/>
          <p:nvPr/>
        </p:nvSpPr>
        <p:spPr>
          <a:xfrm>
            <a:off x="7498080" y="2377440"/>
            <a:ext cx="4233672" cy="3886200"/>
          </a:xfrm>
          <a:prstGeom prst="roundRect">
            <a:avLst>
              <a:gd name="adj" fmla="val 2824"/>
            </a:avLst>
          </a:prstGeom>
          <a:solidFill>
            <a:srgbClr val="17365D"/>
          </a:solidFill>
          <a:ln/>
          <a:effectLst>
            <a:outerShdw blurRad="76200" dist="25400" dir="5400000" algn="bl" rotWithShape="0">
              <a:srgbClr val="7A8CA3">
                <a:alpha val="25000"/>
              </a:srgbClr>
            </a:outerShdw>
          </a:effectLst>
        </p:spPr>
      </p:sp>
      <p:sp>
        <p:nvSpPr>
          <p:cNvPr id="45" name="Text 38"/>
          <p:cNvSpPr txBox="1"/>
          <p:nvPr/>
        </p:nvSpPr>
        <p:spPr>
          <a:xfrm>
            <a:off x="7680960" y="2487168"/>
            <a:ext cx="3840480" cy="411480"/>
          </a:xfrm>
          <a:prstGeom prst="rect">
            <a:avLst/>
          </a:prstGeom>
          <a:noFill/>
          <a:ln/>
        </p:spPr>
        <p:txBody>
          <a:bodyPr wrap="square" lIns="0" tIns="0" rIns="0" bIns="0" rtlCol="0" anchor="t"/>
          <a:lstStyle/>
          <a:p>
            <a:pPr marL="0" indent="0" algn="ctr">
              <a:buNone/>
            </a:pPr>
            <a:r>
              <a:rPr lang="en-US" sz="1700" b="1" dirty="0">
                <a:solidFill>
                  <a:srgbClr val="FFFFFF"/>
                </a:solidFill>
                <a:latin typeface="Arial" pitchFamily="34" charset="0"/>
                <a:ea typeface="Arial" pitchFamily="34" charset="-122"/>
                <a:cs typeface="Arial" pitchFamily="34" charset="-120"/>
              </a:rPr>
              <a:t>Two of everything</a:t>
            </a:r>
            <a:endParaRPr lang="en-US" sz="1700" dirty="0"/>
          </a:p>
        </p:txBody>
      </p:sp>
      <p:sp>
        <p:nvSpPr>
          <p:cNvPr id="46" name="Shape 39"/>
          <p:cNvSpPr/>
          <p:nvPr/>
        </p:nvSpPr>
        <p:spPr>
          <a:xfrm>
            <a:off x="7726680" y="3017520"/>
            <a:ext cx="1810512" cy="1097280"/>
          </a:xfrm>
          <a:prstGeom prst="roundRect">
            <a:avLst>
              <a:gd name="adj" fmla="val 6667"/>
            </a:avLst>
          </a:prstGeom>
          <a:solidFill>
            <a:srgbClr val="08A1D9"/>
          </a:solidFill>
          <a:ln/>
        </p:spPr>
      </p:sp>
      <p:pic>
        <p:nvPicPr>
          <p:cNvPr id="47" name="Image 4" descr="preencoded.png"/>
          <p:cNvPicPr>
            <a:picLocks noChangeAspect="1"/>
          </p:cNvPicPr>
          <p:nvPr/>
        </p:nvPicPr>
        <p:blipFill>
          <a:blip r:embed="rId4"/>
          <a:stretch>
            <a:fillRect/>
          </a:stretch>
        </p:blipFill>
        <p:spPr>
          <a:xfrm>
            <a:off x="7863840" y="3383280"/>
            <a:ext cx="365760" cy="365760"/>
          </a:xfrm>
          <a:prstGeom prst="rect">
            <a:avLst/>
          </a:prstGeom>
        </p:spPr>
      </p:pic>
      <p:sp>
        <p:nvSpPr>
          <p:cNvPr id="48" name="Text 40"/>
          <p:cNvSpPr txBox="1"/>
          <p:nvPr/>
        </p:nvSpPr>
        <p:spPr>
          <a:xfrm>
            <a:off x="8321040" y="3017520"/>
            <a:ext cx="1188720" cy="109728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Bank A</a:t>
            </a:r>
            <a:endParaRPr lang="en-US" sz="1400" dirty="0"/>
          </a:p>
          <a:p>
            <a:pPr marL="0" indent="0">
              <a:buNone/>
            </a:pPr>
            <a:r>
              <a:rPr lang="en-US" sz="1100" dirty="0">
                <a:solidFill>
                  <a:srgbClr val="FFFFFF"/>
                </a:solidFill>
                <a:latin typeface="Arial" pitchFamily="34" charset="0"/>
                <a:ea typeface="Arial" pitchFamily="34" charset="-122"/>
                <a:cs typeface="Arial" pitchFamily="34" charset="-120"/>
              </a:rPr>
              <a:t>image slot</a:t>
            </a:r>
            <a:endParaRPr lang="en-US" sz="1400" dirty="0"/>
          </a:p>
        </p:txBody>
      </p:sp>
      <p:sp>
        <p:nvSpPr>
          <p:cNvPr id="49" name="Shape 41"/>
          <p:cNvSpPr/>
          <p:nvPr/>
        </p:nvSpPr>
        <p:spPr>
          <a:xfrm>
            <a:off x="9665208" y="3017520"/>
            <a:ext cx="1810512" cy="1097280"/>
          </a:xfrm>
          <a:prstGeom prst="roundRect">
            <a:avLst>
              <a:gd name="adj" fmla="val 6667"/>
            </a:avLst>
          </a:prstGeom>
          <a:solidFill>
            <a:srgbClr val="1F6FB5"/>
          </a:solidFill>
          <a:ln/>
        </p:spPr>
      </p:sp>
      <p:pic>
        <p:nvPicPr>
          <p:cNvPr id="50" name="Image 5" descr="preencoded.png"/>
          <p:cNvPicPr>
            <a:picLocks noChangeAspect="1"/>
          </p:cNvPicPr>
          <p:nvPr/>
        </p:nvPicPr>
        <p:blipFill>
          <a:blip r:embed="rId4"/>
          <a:stretch>
            <a:fillRect/>
          </a:stretch>
        </p:blipFill>
        <p:spPr>
          <a:xfrm>
            <a:off x="9802368" y="3383280"/>
            <a:ext cx="365760" cy="365760"/>
          </a:xfrm>
          <a:prstGeom prst="rect">
            <a:avLst/>
          </a:prstGeom>
        </p:spPr>
      </p:pic>
      <p:sp>
        <p:nvSpPr>
          <p:cNvPr id="51" name="Text 42"/>
          <p:cNvSpPr txBox="1"/>
          <p:nvPr/>
        </p:nvSpPr>
        <p:spPr>
          <a:xfrm>
            <a:off x="10259568" y="3017520"/>
            <a:ext cx="1188720" cy="109728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Bank B</a:t>
            </a:r>
            <a:endParaRPr lang="en-US" sz="1400" dirty="0"/>
          </a:p>
          <a:p>
            <a:pPr marL="0" indent="0">
              <a:buNone/>
            </a:pPr>
            <a:r>
              <a:rPr lang="en-US" sz="1100" dirty="0">
                <a:solidFill>
                  <a:srgbClr val="FFFFFF"/>
                </a:solidFill>
                <a:latin typeface="Arial" pitchFamily="34" charset="0"/>
                <a:ea typeface="Arial" pitchFamily="34" charset="-122"/>
                <a:cs typeface="Arial" pitchFamily="34" charset="-120"/>
              </a:rPr>
              <a:t>image slot</a:t>
            </a:r>
            <a:endParaRPr lang="en-US" sz="1400" dirty="0"/>
          </a:p>
        </p:txBody>
      </p:sp>
      <p:sp>
        <p:nvSpPr>
          <p:cNvPr id="52" name="Shape 43"/>
          <p:cNvSpPr/>
          <p:nvPr/>
        </p:nvSpPr>
        <p:spPr>
          <a:xfrm>
            <a:off x="7726680" y="4251960"/>
            <a:ext cx="1810512" cy="1097280"/>
          </a:xfrm>
          <a:prstGeom prst="roundRect">
            <a:avLst>
              <a:gd name="adj" fmla="val 6667"/>
            </a:avLst>
          </a:prstGeom>
          <a:solidFill>
            <a:srgbClr val="1E8E5A"/>
          </a:solidFill>
          <a:ln/>
        </p:spPr>
      </p:sp>
      <p:pic>
        <p:nvPicPr>
          <p:cNvPr id="53" name="Image 6" descr="preencoded.png"/>
          <p:cNvPicPr>
            <a:picLocks noChangeAspect="1"/>
          </p:cNvPicPr>
          <p:nvPr/>
        </p:nvPicPr>
        <p:blipFill>
          <a:blip r:embed="rId5"/>
          <a:stretch>
            <a:fillRect/>
          </a:stretch>
        </p:blipFill>
        <p:spPr>
          <a:xfrm>
            <a:off x="7863840" y="4617720"/>
            <a:ext cx="365760" cy="365760"/>
          </a:xfrm>
          <a:prstGeom prst="rect">
            <a:avLst/>
          </a:prstGeom>
        </p:spPr>
      </p:pic>
      <p:sp>
        <p:nvSpPr>
          <p:cNvPr id="54" name="Text 44"/>
          <p:cNvSpPr txBox="1"/>
          <p:nvPr/>
        </p:nvSpPr>
        <p:spPr>
          <a:xfrm>
            <a:off x="8321040" y="4251960"/>
            <a:ext cx="1188720" cy="109728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Primary</a:t>
            </a:r>
            <a:endParaRPr lang="en-US" sz="1400" dirty="0"/>
          </a:p>
          <a:p>
            <a:pPr marL="0" indent="0">
              <a:buNone/>
            </a:pPr>
            <a:r>
              <a:rPr lang="en-US" sz="1100" dirty="0">
                <a:solidFill>
                  <a:srgbClr val="FFFFFF"/>
                </a:solidFill>
                <a:latin typeface="Arial" pitchFamily="34" charset="0"/>
                <a:ea typeface="Arial" pitchFamily="34" charset="-122"/>
                <a:cs typeface="Arial" pitchFamily="34" charset="-120"/>
              </a:rPr>
              <a:t>metadata</a:t>
            </a:r>
            <a:endParaRPr lang="en-US" sz="1400" dirty="0"/>
          </a:p>
        </p:txBody>
      </p:sp>
      <p:sp>
        <p:nvSpPr>
          <p:cNvPr id="55" name="Shape 45"/>
          <p:cNvSpPr/>
          <p:nvPr/>
        </p:nvSpPr>
        <p:spPr>
          <a:xfrm>
            <a:off x="9665208" y="4251960"/>
            <a:ext cx="1810512" cy="1097280"/>
          </a:xfrm>
          <a:prstGeom prst="roundRect">
            <a:avLst>
              <a:gd name="adj" fmla="val 6667"/>
            </a:avLst>
          </a:prstGeom>
          <a:solidFill>
            <a:srgbClr val="2FA36B"/>
          </a:solidFill>
          <a:ln/>
        </p:spPr>
      </p:sp>
      <p:pic>
        <p:nvPicPr>
          <p:cNvPr id="56" name="Image 7" descr="preencoded.png"/>
          <p:cNvPicPr>
            <a:picLocks noChangeAspect="1"/>
          </p:cNvPicPr>
          <p:nvPr/>
        </p:nvPicPr>
        <p:blipFill>
          <a:blip r:embed="rId5"/>
          <a:stretch>
            <a:fillRect/>
          </a:stretch>
        </p:blipFill>
        <p:spPr>
          <a:xfrm>
            <a:off x="9802368" y="4617720"/>
            <a:ext cx="365760" cy="365760"/>
          </a:xfrm>
          <a:prstGeom prst="rect">
            <a:avLst/>
          </a:prstGeom>
        </p:spPr>
      </p:pic>
      <p:sp>
        <p:nvSpPr>
          <p:cNvPr id="57" name="Text 46"/>
          <p:cNvSpPr txBox="1"/>
          <p:nvPr/>
        </p:nvSpPr>
        <p:spPr>
          <a:xfrm>
            <a:off x="10259568" y="4251960"/>
            <a:ext cx="1188720" cy="109728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Backup</a:t>
            </a:r>
            <a:endParaRPr lang="en-US" sz="1400" dirty="0"/>
          </a:p>
          <a:p>
            <a:pPr marL="0" indent="0">
              <a:buNone/>
            </a:pPr>
            <a:r>
              <a:rPr lang="en-US" sz="1100" dirty="0">
                <a:solidFill>
                  <a:srgbClr val="FFFFFF"/>
                </a:solidFill>
                <a:latin typeface="Arial" pitchFamily="34" charset="0"/>
                <a:ea typeface="Arial" pitchFamily="34" charset="-122"/>
                <a:cs typeface="Arial" pitchFamily="34" charset="-120"/>
              </a:rPr>
              <a:t>metadata</a:t>
            </a:r>
            <a:endParaRPr lang="en-US" sz="1400" dirty="0"/>
          </a:p>
        </p:txBody>
      </p:sp>
      <p:sp>
        <p:nvSpPr>
          <p:cNvPr id="58" name="Text 47"/>
          <p:cNvSpPr txBox="1"/>
          <p:nvPr/>
        </p:nvSpPr>
        <p:spPr>
          <a:xfrm>
            <a:off x="7726680" y="5486400"/>
            <a:ext cx="3794760" cy="685800"/>
          </a:xfrm>
          <a:prstGeom prst="rect">
            <a:avLst/>
          </a:prstGeom>
          <a:noFill/>
          <a:ln/>
        </p:spPr>
        <p:txBody>
          <a:bodyPr wrap="square" lIns="0" tIns="0" rIns="0" bIns="0" rtlCol="0" anchor="ctr"/>
          <a:lstStyle/>
          <a:p>
            <a:pPr marL="0" indent="0" algn="ctr">
              <a:buNone/>
            </a:pPr>
            <a:r>
              <a:rPr lang="en-US" sz="1300" i="1" dirty="0">
                <a:solidFill>
                  <a:srgbClr val="CFE6FA"/>
                </a:solidFill>
                <a:latin typeface="Arial" pitchFamily="34" charset="0"/>
                <a:ea typeface="Arial" pitchFamily="34" charset="-122"/>
                <a:cs typeface="Arial" pitchFamily="34" charset="-120"/>
              </a:rPr>
              <a:t>At every instant, at least one image and one metadata copy are valid.</a:t>
            </a:r>
            <a:endParaRPr lang="en-US" sz="1300" dirty="0"/>
          </a:p>
        </p:txBody>
      </p:sp>
      <p:sp>
        <p:nvSpPr>
          <p:cNvPr id="3" name="Slide Number Placeholder 0"/>
          <p:cNvSpPr>
            <a:spLocks noGrp="1"/>
          </p:cNvSpPr>
          <p:nvPr>
            <p:ph type="sldNum" sz="quarter" idx="4294967295"/>
          </p:nvPr>
        </p:nvSpPr>
        <p:spPr>
          <a:xfrm>
            <a:off x="1138428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A"/>
                </a:solidFill>
                <a:latin typeface="Arial"/>
                <a:ea typeface="Arial"/>
                <a:cs typeface="Aria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36576"/>
            <a:ext cx="8686800" cy="420624"/>
          </a:xfrm>
          <a:prstGeom prst="rect">
            <a:avLst/>
          </a:prstGeom>
          <a:noFill/>
          <a:ln/>
        </p:spPr>
        <p:txBody>
          <a:bodyPr wrap="square" lIns="0" tIns="0" rIns="0" bIns="0" rtlCol="0" anchor="ctr"/>
          <a:lstStyle/>
          <a:p>
            <a:pPr marL="0" indent="0">
              <a:buNone/>
            </a:pPr>
            <a:r>
              <a:rPr lang="en-US" sz="2400" b="1" dirty="0">
                <a:solidFill>
                  <a:srgbClr val="1F5A9E"/>
                </a:solidFill>
                <a:latin typeface="Arial" pitchFamily="34" charset="0"/>
                <a:ea typeface="Arial" pitchFamily="34" charset="-122"/>
                <a:cs typeface="Arial" pitchFamily="34" charset="-120"/>
              </a:rPr>
              <a:t>Boot-Attempt Watchdog &amp; Rollback</a:t>
            </a:r>
            <a:endParaRPr lang="en-US" sz="2400" dirty="0"/>
          </a:p>
        </p:txBody>
      </p:sp>
      <p:sp>
        <p:nvSpPr>
          <p:cNvPr id="4" name="Shape 1"/>
          <p:cNvSpPr/>
          <p:nvPr/>
        </p:nvSpPr>
        <p:spPr>
          <a:xfrm>
            <a:off x="1097280" y="868680"/>
            <a:ext cx="1371600" cy="411480"/>
          </a:xfrm>
          <a:prstGeom prst="roundRect">
            <a:avLst>
              <a:gd name="adj" fmla="val 44444"/>
            </a:avLst>
          </a:prstGeom>
          <a:solidFill>
            <a:srgbClr val="17365D"/>
          </a:solidFill>
          <a:ln/>
        </p:spPr>
      </p:sp>
      <p:sp>
        <p:nvSpPr>
          <p:cNvPr id="5" name="Text 2"/>
          <p:cNvSpPr txBox="1"/>
          <p:nvPr/>
        </p:nvSpPr>
        <p:spPr>
          <a:xfrm>
            <a:off x="1097280" y="868680"/>
            <a:ext cx="137160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Reset</a:t>
            </a:r>
            <a:endParaRPr lang="en-US" sz="1300" dirty="0"/>
          </a:p>
        </p:txBody>
      </p:sp>
      <p:sp>
        <p:nvSpPr>
          <p:cNvPr id="6" name="Shape 3"/>
          <p:cNvSpPr/>
          <p:nvPr/>
        </p:nvSpPr>
        <p:spPr>
          <a:xfrm>
            <a:off x="1783080" y="1280160"/>
            <a:ext cx="0" cy="182880"/>
          </a:xfrm>
          <a:prstGeom prst="line">
            <a:avLst/>
          </a:prstGeom>
          <a:noFill/>
          <a:ln w="25400">
            <a:solidFill>
              <a:srgbClr val="17365D"/>
            </a:solidFill>
            <a:prstDash val="solid"/>
            <a:tailEnd type="triangle"/>
          </a:ln>
        </p:spPr>
      </p:sp>
      <p:sp>
        <p:nvSpPr>
          <p:cNvPr id="7" name="Shape 4"/>
          <p:cNvSpPr/>
          <p:nvPr/>
        </p:nvSpPr>
        <p:spPr>
          <a:xfrm>
            <a:off x="731520" y="1481328"/>
            <a:ext cx="2103120" cy="914400"/>
          </a:xfrm>
          <a:prstGeom prst="diamond">
            <a:avLst/>
          </a:prstGeom>
          <a:solidFill>
            <a:srgbClr val="C9EDFB"/>
          </a:solidFill>
          <a:ln w="19050">
            <a:solidFill>
              <a:srgbClr val="08A1D9"/>
            </a:solidFill>
            <a:prstDash val="solid"/>
          </a:ln>
        </p:spPr>
      </p:sp>
      <p:sp>
        <p:nvSpPr>
          <p:cNvPr id="8" name="Text 5"/>
          <p:cNvSpPr txBox="1"/>
          <p:nvPr/>
        </p:nvSpPr>
        <p:spPr>
          <a:xfrm>
            <a:off x="1005840" y="1481328"/>
            <a:ext cx="1554480" cy="914400"/>
          </a:xfrm>
          <a:prstGeom prst="rect">
            <a:avLst/>
          </a:prstGeom>
          <a:noFill/>
          <a:ln/>
        </p:spPr>
        <p:txBody>
          <a:bodyPr wrap="square" lIns="0" tIns="0" rIns="0" bIns="0" rtlCol="0" anchor="ctr"/>
          <a:lstStyle/>
          <a:p>
            <a:pPr marL="0" indent="0" algn="ctr">
              <a:buNone/>
            </a:pPr>
            <a:r>
              <a:rPr lang="en-US" sz="1200" b="1" dirty="0">
                <a:solidFill>
                  <a:srgbClr val="17365D"/>
                </a:solidFill>
                <a:latin typeface="Arial" pitchFamily="34" charset="0"/>
                <a:ea typeface="Arial" pitchFamily="34" charset="-122"/>
                <a:cs typeface="Arial" pitchFamily="34" charset="-120"/>
              </a:rPr>
              <a:t>Active bank CRC OK?</a:t>
            </a:r>
            <a:endParaRPr lang="en-US" sz="1200" dirty="0"/>
          </a:p>
        </p:txBody>
      </p:sp>
      <p:sp>
        <p:nvSpPr>
          <p:cNvPr id="9" name="Shape 6"/>
          <p:cNvSpPr/>
          <p:nvPr/>
        </p:nvSpPr>
        <p:spPr>
          <a:xfrm>
            <a:off x="1783080" y="2395728"/>
            <a:ext cx="0" cy="228600"/>
          </a:xfrm>
          <a:prstGeom prst="line">
            <a:avLst/>
          </a:prstGeom>
          <a:noFill/>
          <a:ln w="25400">
            <a:solidFill>
              <a:srgbClr val="17365D"/>
            </a:solidFill>
            <a:prstDash val="solid"/>
            <a:tailEnd type="triangle"/>
          </a:ln>
        </p:spPr>
      </p:sp>
      <p:sp>
        <p:nvSpPr>
          <p:cNvPr id="10" name="Text 7"/>
          <p:cNvSpPr txBox="1"/>
          <p:nvPr/>
        </p:nvSpPr>
        <p:spPr>
          <a:xfrm>
            <a:off x="1856232" y="2377440"/>
            <a:ext cx="548640" cy="228600"/>
          </a:xfrm>
          <a:prstGeom prst="rect">
            <a:avLst/>
          </a:prstGeom>
          <a:noFill/>
          <a:ln/>
        </p:spPr>
        <p:txBody>
          <a:bodyPr wrap="square" lIns="0" tIns="0" rIns="0" bIns="0" rtlCol="0" anchor="t"/>
          <a:lstStyle/>
          <a:p>
            <a:pPr marL="0" indent="0">
              <a:buNone/>
            </a:pPr>
            <a:r>
              <a:rPr lang="en-US" sz="1100" b="1" dirty="0">
                <a:solidFill>
                  <a:srgbClr val="1E8E5A"/>
                </a:solidFill>
                <a:latin typeface="Arial" pitchFamily="34" charset="0"/>
                <a:ea typeface="Arial" pitchFamily="34" charset="-122"/>
                <a:cs typeface="Arial" pitchFamily="34" charset="-120"/>
              </a:rPr>
              <a:t>yes</a:t>
            </a:r>
            <a:endParaRPr lang="en-US" sz="1100" dirty="0"/>
          </a:p>
        </p:txBody>
      </p:sp>
      <p:sp>
        <p:nvSpPr>
          <p:cNvPr id="11" name="Shape 8"/>
          <p:cNvSpPr/>
          <p:nvPr/>
        </p:nvSpPr>
        <p:spPr>
          <a:xfrm>
            <a:off x="731520" y="2651760"/>
            <a:ext cx="2103120" cy="914400"/>
          </a:xfrm>
          <a:prstGeom prst="diamond">
            <a:avLst/>
          </a:prstGeom>
          <a:solidFill>
            <a:srgbClr val="C9EDFB"/>
          </a:solidFill>
          <a:ln w="19050">
            <a:solidFill>
              <a:srgbClr val="08A1D9"/>
            </a:solidFill>
            <a:prstDash val="solid"/>
          </a:ln>
        </p:spPr>
      </p:sp>
      <p:sp>
        <p:nvSpPr>
          <p:cNvPr id="12" name="Text 9"/>
          <p:cNvSpPr txBox="1"/>
          <p:nvPr/>
        </p:nvSpPr>
        <p:spPr>
          <a:xfrm>
            <a:off x="1005840" y="2651760"/>
            <a:ext cx="1554480" cy="914400"/>
          </a:xfrm>
          <a:prstGeom prst="rect">
            <a:avLst/>
          </a:prstGeom>
          <a:noFill/>
          <a:ln/>
        </p:spPr>
        <p:txBody>
          <a:bodyPr wrap="square" lIns="0" tIns="0" rIns="0" bIns="0" rtlCol="0" anchor="ctr"/>
          <a:lstStyle/>
          <a:p>
            <a:pPr marL="0" indent="0" algn="ctr">
              <a:buNone/>
            </a:pPr>
            <a:r>
              <a:rPr lang="en-US" sz="1200" b="1" dirty="0">
                <a:solidFill>
                  <a:srgbClr val="17365D"/>
                </a:solidFill>
                <a:latin typeface="Arial" pitchFamily="34" charset="0"/>
                <a:ea typeface="Arial" pitchFamily="34" charset="-122"/>
                <a:cs typeface="Arial" pitchFamily="34" charset="-120"/>
              </a:rPr>
              <a:t>Confirmed?</a:t>
            </a:r>
            <a:endParaRPr lang="en-US" sz="1200" dirty="0"/>
          </a:p>
        </p:txBody>
      </p:sp>
      <p:sp>
        <p:nvSpPr>
          <p:cNvPr id="13" name="Shape 10"/>
          <p:cNvSpPr/>
          <p:nvPr/>
        </p:nvSpPr>
        <p:spPr>
          <a:xfrm>
            <a:off x="1783080" y="3566160"/>
            <a:ext cx="0" cy="228600"/>
          </a:xfrm>
          <a:prstGeom prst="line">
            <a:avLst/>
          </a:prstGeom>
          <a:noFill/>
          <a:ln w="25400">
            <a:solidFill>
              <a:srgbClr val="17365D"/>
            </a:solidFill>
            <a:prstDash val="solid"/>
            <a:tailEnd type="triangle"/>
          </a:ln>
        </p:spPr>
      </p:sp>
      <p:sp>
        <p:nvSpPr>
          <p:cNvPr id="14" name="Text 11"/>
          <p:cNvSpPr txBox="1"/>
          <p:nvPr/>
        </p:nvSpPr>
        <p:spPr>
          <a:xfrm>
            <a:off x="1856232" y="3547872"/>
            <a:ext cx="548640" cy="228600"/>
          </a:xfrm>
          <a:prstGeom prst="rect">
            <a:avLst/>
          </a:prstGeom>
          <a:noFill/>
          <a:ln/>
        </p:spPr>
        <p:txBody>
          <a:bodyPr wrap="square" lIns="0" tIns="0" rIns="0" bIns="0" rtlCol="0" anchor="t"/>
          <a:lstStyle/>
          <a:p>
            <a:pPr marL="0" indent="0">
              <a:buNone/>
            </a:pPr>
            <a:r>
              <a:rPr lang="en-US" sz="1100" b="1" dirty="0">
                <a:solidFill>
                  <a:srgbClr val="C8102E"/>
                </a:solidFill>
                <a:latin typeface="Arial" pitchFamily="34" charset="0"/>
                <a:ea typeface="Arial" pitchFamily="34" charset="-122"/>
                <a:cs typeface="Arial" pitchFamily="34" charset="-120"/>
              </a:rPr>
              <a:t>no</a:t>
            </a:r>
            <a:endParaRPr lang="en-US" sz="1100" dirty="0"/>
          </a:p>
        </p:txBody>
      </p:sp>
      <p:sp>
        <p:nvSpPr>
          <p:cNvPr id="15" name="Shape 12"/>
          <p:cNvSpPr/>
          <p:nvPr/>
        </p:nvSpPr>
        <p:spPr>
          <a:xfrm>
            <a:off x="731520" y="3822192"/>
            <a:ext cx="2103120" cy="914400"/>
          </a:xfrm>
          <a:prstGeom prst="diamond">
            <a:avLst/>
          </a:prstGeom>
          <a:solidFill>
            <a:srgbClr val="C9EDFB"/>
          </a:solidFill>
          <a:ln w="19050">
            <a:solidFill>
              <a:srgbClr val="08A1D9"/>
            </a:solidFill>
            <a:prstDash val="solid"/>
          </a:ln>
        </p:spPr>
      </p:sp>
      <p:sp>
        <p:nvSpPr>
          <p:cNvPr id="16" name="Text 13"/>
          <p:cNvSpPr txBox="1"/>
          <p:nvPr/>
        </p:nvSpPr>
        <p:spPr>
          <a:xfrm>
            <a:off x="1005840" y="3822192"/>
            <a:ext cx="1554480" cy="914400"/>
          </a:xfrm>
          <a:prstGeom prst="rect">
            <a:avLst/>
          </a:prstGeom>
          <a:noFill/>
          <a:ln/>
        </p:spPr>
        <p:txBody>
          <a:bodyPr wrap="square" lIns="0" tIns="0" rIns="0" bIns="0" rtlCol="0" anchor="ctr"/>
          <a:lstStyle/>
          <a:p>
            <a:pPr marL="0" indent="0" algn="ctr">
              <a:buNone/>
            </a:pPr>
            <a:r>
              <a:rPr lang="en-US" sz="1200" b="1" dirty="0">
                <a:solidFill>
                  <a:srgbClr val="17365D"/>
                </a:solidFill>
                <a:latin typeface="Arial" pitchFamily="34" charset="0"/>
                <a:ea typeface="Arial" pitchFamily="34" charset="-122"/>
                <a:cs typeface="Arial" pitchFamily="34" charset="-120"/>
              </a:rPr>
              <a:t>Attempts &lt; 3?</a:t>
            </a:r>
            <a:endParaRPr lang="en-US" sz="1200" dirty="0"/>
          </a:p>
        </p:txBody>
      </p:sp>
      <p:sp>
        <p:nvSpPr>
          <p:cNvPr id="17" name="Shape 14"/>
          <p:cNvSpPr/>
          <p:nvPr/>
        </p:nvSpPr>
        <p:spPr>
          <a:xfrm>
            <a:off x="1783080" y="4736592"/>
            <a:ext cx="0" cy="228600"/>
          </a:xfrm>
          <a:prstGeom prst="line">
            <a:avLst/>
          </a:prstGeom>
          <a:noFill/>
          <a:ln w="25400">
            <a:solidFill>
              <a:srgbClr val="17365D"/>
            </a:solidFill>
            <a:prstDash val="solid"/>
            <a:tailEnd type="triangle"/>
          </a:ln>
        </p:spPr>
      </p:sp>
      <p:sp>
        <p:nvSpPr>
          <p:cNvPr id="18" name="Text 15"/>
          <p:cNvSpPr txBox="1"/>
          <p:nvPr/>
        </p:nvSpPr>
        <p:spPr>
          <a:xfrm>
            <a:off x="1856232" y="4718304"/>
            <a:ext cx="548640" cy="228600"/>
          </a:xfrm>
          <a:prstGeom prst="rect">
            <a:avLst/>
          </a:prstGeom>
          <a:noFill/>
          <a:ln/>
        </p:spPr>
        <p:txBody>
          <a:bodyPr wrap="square" lIns="0" tIns="0" rIns="0" bIns="0" rtlCol="0" anchor="t"/>
          <a:lstStyle/>
          <a:p>
            <a:pPr marL="0" indent="0">
              <a:buNone/>
            </a:pPr>
            <a:r>
              <a:rPr lang="en-US" sz="1100" b="1" dirty="0">
                <a:solidFill>
                  <a:srgbClr val="C8102E"/>
                </a:solidFill>
                <a:latin typeface="Arial" pitchFamily="34" charset="0"/>
                <a:ea typeface="Arial" pitchFamily="34" charset="-122"/>
                <a:cs typeface="Arial" pitchFamily="34" charset="-120"/>
              </a:rPr>
              <a:t>no</a:t>
            </a:r>
            <a:endParaRPr lang="en-US" sz="1100" dirty="0"/>
          </a:p>
        </p:txBody>
      </p:sp>
      <p:sp>
        <p:nvSpPr>
          <p:cNvPr id="21" name="Shape 18"/>
          <p:cNvSpPr/>
          <p:nvPr/>
        </p:nvSpPr>
        <p:spPr>
          <a:xfrm>
            <a:off x="2834640" y="1938528"/>
            <a:ext cx="822960" cy="0"/>
          </a:xfrm>
          <a:prstGeom prst="line">
            <a:avLst/>
          </a:prstGeom>
          <a:noFill/>
          <a:ln w="25400">
            <a:solidFill>
              <a:srgbClr val="17365D"/>
            </a:solidFill>
            <a:prstDash val="solid"/>
            <a:tailEnd type="triangle"/>
          </a:ln>
        </p:spPr>
      </p:sp>
      <p:sp>
        <p:nvSpPr>
          <p:cNvPr id="22" name="Text 19"/>
          <p:cNvSpPr txBox="1"/>
          <p:nvPr/>
        </p:nvSpPr>
        <p:spPr>
          <a:xfrm>
            <a:off x="2971800" y="1691640"/>
            <a:ext cx="548640" cy="228600"/>
          </a:xfrm>
          <a:prstGeom prst="rect">
            <a:avLst/>
          </a:prstGeom>
          <a:noFill/>
          <a:ln/>
        </p:spPr>
        <p:txBody>
          <a:bodyPr wrap="square" lIns="0" tIns="0" rIns="0" bIns="0" rtlCol="0" anchor="t"/>
          <a:lstStyle/>
          <a:p>
            <a:pPr marL="0" indent="0">
              <a:buNone/>
            </a:pPr>
            <a:r>
              <a:rPr lang="en-US" sz="1100" b="1" dirty="0">
                <a:solidFill>
                  <a:srgbClr val="C8102E"/>
                </a:solidFill>
                <a:latin typeface="Arial" pitchFamily="34" charset="0"/>
                <a:ea typeface="Arial" pitchFamily="34" charset="-122"/>
                <a:cs typeface="Arial" pitchFamily="34" charset="-120"/>
              </a:rPr>
              <a:t>no</a:t>
            </a:r>
            <a:endParaRPr lang="en-US" sz="1100" dirty="0"/>
          </a:p>
        </p:txBody>
      </p:sp>
      <p:sp>
        <p:nvSpPr>
          <p:cNvPr id="23" name="Shape 20"/>
          <p:cNvSpPr/>
          <p:nvPr/>
        </p:nvSpPr>
        <p:spPr>
          <a:xfrm>
            <a:off x="3703320" y="1572768"/>
            <a:ext cx="3291840" cy="731520"/>
          </a:xfrm>
          <a:prstGeom prst="roundRect">
            <a:avLst>
              <a:gd name="adj" fmla="val 10000"/>
            </a:avLst>
          </a:prstGeom>
          <a:solidFill>
            <a:srgbClr val="D98A00"/>
          </a:solidFill>
          <a:ln/>
        </p:spPr>
      </p:sp>
      <p:sp>
        <p:nvSpPr>
          <p:cNvPr id="24" name="Text 21"/>
          <p:cNvSpPr txBox="1"/>
          <p:nvPr/>
        </p:nvSpPr>
        <p:spPr>
          <a:xfrm>
            <a:off x="3794760" y="1572768"/>
            <a:ext cx="3108960" cy="7315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Boot the other bank</a:t>
            </a:r>
            <a:endParaRPr lang="en-US" sz="1200" dirty="0"/>
          </a:p>
        </p:txBody>
      </p:sp>
      <p:sp>
        <p:nvSpPr>
          <p:cNvPr id="25" name="Shape 22"/>
          <p:cNvSpPr/>
          <p:nvPr/>
        </p:nvSpPr>
        <p:spPr>
          <a:xfrm>
            <a:off x="2834640" y="3108960"/>
            <a:ext cx="822960" cy="0"/>
          </a:xfrm>
          <a:prstGeom prst="line">
            <a:avLst/>
          </a:prstGeom>
          <a:noFill/>
          <a:ln w="25400">
            <a:solidFill>
              <a:srgbClr val="17365D"/>
            </a:solidFill>
            <a:prstDash val="solid"/>
            <a:tailEnd type="triangle"/>
          </a:ln>
        </p:spPr>
      </p:sp>
      <p:sp>
        <p:nvSpPr>
          <p:cNvPr id="26" name="Text 23"/>
          <p:cNvSpPr txBox="1"/>
          <p:nvPr/>
        </p:nvSpPr>
        <p:spPr>
          <a:xfrm>
            <a:off x="2971800" y="2862072"/>
            <a:ext cx="548640" cy="228600"/>
          </a:xfrm>
          <a:prstGeom prst="rect">
            <a:avLst/>
          </a:prstGeom>
          <a:noFill/>
          <a:ln/>
        </p:spPr>
        <p:txBody>
          <a:bodyPr wrap="square" lIns="0" tIns="0" rIns="0" bIns="0" rtlCol="0" anchor="t"/>
          <a:lstStyle/>
          <a:p>
            <a:pPr marL="0" indent="0">
              <a:buNone/>
            </a:pPr>
            <a:r>
              <a:rPr lang="en-US" sz="1100" b="1" dirty="0">
                <a:solidFill>
                  <a:srgbClr val="1E8E5A"/>
                </a:solidFill>
                <a:latin typeface="Arial" pitchFamily="34" charset="0"/>
                <a:ea typeface="Arial" pitchFamily="34" charset="-122"/>
                <a:cs typeface="Arial" pitchFamily="34" charset="-120"/>
              </a:rPr>
              <a:t>yes</a:t>
            </a:r>
            <a:endParaRPr lang="en-US" sz="1100" dirty="0"/>
          </a:p>
        </p:txBody>
      </p:sp>
      <p:sp>
        <p:nvSpPr>
          <p:cNvPr id="27" name="Shape 24"/>
          <p:cNvSpPr/>
          <p:nvPr/>
        </p:nvSpPr>
        <p:spPr>
          <a:xfrm>
            <a:off x="3703320" y="2743200"/>
            <a:ext cx="3291840" cy="731520"/>
          </a:xfrm>
          <a:prstGeom prst="roundRect">
            <a:avLst>
              <a:gd name="adj" fmla="val 10000"/>
            </a:avLst>
          </a:prstGeom>
          <a:solidFill>
            <a:srgbClr val="1E8E5A"/>
          </a:solidFill>
          <a:ln/>
        </p:spPr>
      </p:sp>
      <p:sp>
        <p:nvSpPr>
          <p:cNvPr id="28" name="Text 25"/>
          <p:cNvSpPr txBox="1"/>
          <p:nvPr/>
        </p:nvSpPr>
        <p:spPr>
          <a:xfrm>
            <a:off x="3794760" y="2743200"/>
            <a:ext cx="3108960" cy="7315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Boot the app. No flash write.</a:t>
            </a:r>
            <a:endParaRPr lang="en-US" sz="1200" dirty="0"/>
          </a:p>
        </p:txBody>
      </p:sp>
      <p:sp>
        <p:nvSpPr>
          <p:cNvPr id="29" name="Shape 26"/>
          <p:cNvSpPr/>
          <p:nvPr/>
        </p:nvSpPr>
        <p:spPr>
          <a:xfrm>
            <a:off x="2834640" y="4279392"/>
            <a:ext cx="822960" cy="0"/>
          </a:xfrm>
          <a:prstGeom prst="line">
            <a:avLst/>
          </a:prstGeom>
          <a:noFill/>
          <a:ln w="25400">
            <a:solidFill>
              <a:srgbClr val="17365D"/>
            </a:solidFill>
            <a:prstDash val="solid"/>
            <a:tailEnd type="triangle"/>
          </a:ln>
        </p:spPr>
      </p:sp>
      <p:sp>
        <p:nvSpPr>
          <p:cNvPr id="30" name="Text 27"/>
          <p:cNvSpPr txBox="1"/>
          <p:nvPr/>
        </p:nvSpPr>
        <p:spPr>
          <a:xfrm>
            <a:off x="2971800" y="4032504"/>
            <a:ext cx="548640" cy="228600"/>
          </a:xfrm>
          <a:prstGeom prst="rect">
            <a:avLst/>
          </a:prstGeom>
          <a:noFill/>
          <a:ln/>
        </p:spPr>
        <p:txBody>
          <a:bodyPr wrap="square" lIns="0" tIns="0" rIns="0" bIns="0" rtlCol="0" anchor="t"/>
          <a:lstStyle/>
          <a:p>
            <a:pPr marL="0" indent="0">
              <a:buNone/>
            </a:pPr>
            <a:r>
              <a:rPr lang="en-US" sz="1100" b="1" dirty="0">
                <a:solidFill>
                  <a:srgbClr val="1E8E5A"/>
                </a:solidFill>
                <a:latin typeface="Arial" pitchFamily="34" charset="0"/>
                <a:ea typeface="Arial" pitchFamily="34" charset="-122"/>
                <a:cs typeface="Arial" pitchFamily="34" charset="-120"/>
              </a:rPr>
              <a:t>yes</a:t>
            </a:r>
            <a:endParaRPr lang="en-US" sz="1100" dirty="0"/>
          </a:p>
        </p:txBody>
      </p:sp>
      <p:sp>
        <p:nvSpPr>
          <p:cNvPr id="31" name="Shape 28"/>
          <p:cNvSpPr/>
          <p:nvPr/>
        </p:nvSpPr>
        <p:spPr>
          <a:xfrm>
            <a:off x="3703320" y="3913632"/>
            <a:ext cx="3291840" cy="731520"/>
          </a:xfrm>
          <a:prstGeom prst="roundRect">
            <a:avLst>
              <a:gd name="adj" fmla="val 10000"/>
            </a:avLst>
          </a:prstGeom>
          <a:solidFill>
            <a:srgbClr val="1F6FB5"/>
          </a:solidFill>
          <a:ln/>
        </p:spPr>
      </p:sp>
      <p:sp>
        <p:nvSpPr>
          <p:cNvPr id="32" name="Text 29"/>
          <p:cNvSpPr txBox="1"/>
          <p:nvPr/>
        </p:nvSpPr>
        <p:spPr>
          <a:xfrm>
            <a:off x="3794760" y="3913632"/>
            <a:ext cx="3108960" cy="7315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Count one attempt, then trial boot</a:t>
            </a:r>
            <a:endParaRPr lang="en-US" sz="1200" dirty="0"/>
          </a:p>
        </p:txBody>
      </p:sp>
      <p:sp>
        <p:nvSpPr>
          <p:cNvPr id="35" name="Shape 32"/>
          <p:cNvSpPr/>
          <p:nvPr/>
        </p:nvSpPr>
        <p:spPr>
          <a:xfrm>
            <a:off x="548640" y="4983480"/>
            <a:ext cx="2468880" cy="731520"/>
          </a:xfrm>
          <a:prstGeom prst="roundRect">
            <a:avLst>
              <a:gd name="adj" fmla="val 10000"/>
            </a:avLst>
          </a:prstGeom>
          <a:solidFill>
            <a:srgbClr val="C8102E"/>
          </a:solidFill>
          <a:ln/>
        </p:spPr>
      </p:sp>
      <p:sp>
        <p:nvSpPr>
          <p:cNvPr id="36" name="Text 33"/>
          <p:cNvSpPr txBox="1"/>
          <p:nvPr/>
        </p:nvSpPr>
        <p:spPr>
          <a:xfrm>
            <a:off x="640080" y="4983480"/>
            <a:ext cx="2286000" cy="7315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Roll back to the other bank</a:t>
            </a:r>
            <a:endParaRPr lang="en-US" sz="1200" dirty="0"/>
          </a:p>
        </p:txBody>
      </p:sp>
      <p:sp>
        <p:nvSpPr>
          <p:cNvPr id="41" name="Shape 38"/>
          <p:cNvSpPr/>
          <p:nvPr/>
        </p:nvSpPr>
        <p:spPr>
          <a:xfrm>
            <a:off x="7315200" y="868680"/>
            <a:ext cx="4416552" cy="1261872"/>
          </a:xfrm>
          <a:prstGeom prst="roundRect">
            <a:avLst>
              <a:gd name="adj" fmla="val 7246"/>
            </a:avLst>
          </a:prstGeom>
          <a:solidFill>
            <a:srgbClr val="E8F6FD"/>
          </a:solidFill>
          <a:ln/>
        </p:spPr>
      </p:sp>
      <p:sp>
        <p:nvSpPr>
          <p:cNvPr id="42" name="Shape 39"/>
          <p:cNvSpPr/>
          <p:nvPr/>
        </p:nvSpPr>
        <p:spPr>
          <a:xfrm>
            <a:off x="7452360" y="1143000"/>
            <a:ext cx="658368" cy="658368"/>
          </a:xfrm>
          <a:prstGeom prst="ellipse">
            <a:avLst/>
          </a:prstGeom>
          <a:solidFill>
            <a:srgbClr val="1E8E5A"/>
          </a:solidFill>
          <a:ln/>
        </p:spPr>
      </p:sp>
      <p:pic>
        <p:nvPicPr>
          <p:cNvPr id="43" name="Image 0" descr="preencoded.png"/>
          <p:cNvPicPr>
            <a:picLocks noChangeAspect="1"/>
          </p:cNvPicPr>
          <p:nvPr/>
        </p:nvPicPr>
        <p:blipFill>
          <a:blip r:embed="rId3"/>
          <a:stretch>
            <a:fillRect/>
          </a:stretch>
        </p:blipFill>
        <p:spPr>
          <a:xfrm>
            <a:off x="7623536" y="1314176"/>
            <a:ext cx="316017" cy="316017"/>
          </a:xfrm>
          <a:prstGeom prst="rect">
            <a:avLst/>
          </a:prstGeom>
        </p:spPr>
      </p:pic>
      <p:sp>
        <p:nvSpPr>
          <p:cNvPr id="44" name="Text 40"/>
          <p:cNvSpPr txBox="1"/>
          <p:nvPr/>
        </p:nvSpPr>
        <p:spPr>
          <a:xfrm>
            <a:off x="8275320" y="960120"/>
            <a:ext cx="3383280" cy="347472"/>
          </a:xfrm>
          <a:prstGeom prst="rect">
            <a:avLst/>
          </a:prstGeom>
          <a:noFill/>
          <a:ln/>
        </p:spPr>
        <p:txBody>
          <a:bodyPr wrap="square" lIns="0" tIns="0" rIns="0" bIns="0" rtlCol="0" anchor="t"/>
          <a:lstStyle/>
          <a:p>
            <a:pPr marL="0" indent="0">
              <a:buNone/>
            </a:pPr>
            <a:r>
              <a:rPr lang="en-US" sz="1400" b="1" dirty="0">
                <a:solidFill>
                  <a:srgbClr val="17365D"/>
                </a:solidFill>
                <a:latin typeface="Arial" pitchFamily="34" charset="0"/>
                <a:ea typeface="Arial" pitchFamily="34" charset="-122"/>
                <a:cs typeface="Arial" pitchFamily="34" charset="-120"/>
              </a:rPr>
              <a:t>App confirms itself</a:t>
            </a:r>
            <a:endParaRPr lang="en-US" sz="1400" dirty="0"/>
          </a:p>
        </p:txBody>
      </p:sp>
      <p:sp>
        <p:nvSpPr>
          <p:cNvPr id="45" name="Text 41"/>
          <p:cNvSpPr txBox="1"/>
          <p:nvPr/>
        </p:nvSpPr>
        <p:spPr>
          <a:xfrm>
            <a:off x="8275320" y="1307592"/>
            <a:ext cx="3383280" cy="777240"/>
          </a:xfrm>
          <a:prstGeom prst="rect">
            <a:avLst/>
          </a:prstGeom>
          <a:noFill/>
          <a:ln/>
        </p:spPr>
        <p:txBody>
          <a:bodyPr wrap="square" lIns="0" tIns="0" rIns="0" bIns="0" rtlCol="0" anchor="t"/>
          <a:lstStyle/>
          <a:p>
            <a:pPr marL="0" indent="0">
              <a:buNone/>
            </a:pPr>
            <a:r>
              <a:rPr lang="en-US" sz="1150" dirty="0">
                <a:solidFill>
                  <a:srgbClr val="1E2A3A"/>
                </a:solidFill>
                <a:latin typeface="Arial" pitchFamily="34" charset="0"/>
                <a:ea typeface="Arial" pitchFamily="34" charset="-122"/>
                <a:cs typeface="Arial" pitchFamily="34" charset="-120"/>
              </a:rPr>
              <a:t>The new app marks itself confirmed once it runs correctly.</a:t>
            </a:r>
            <a:endParaRPr lang="en-US" sz="1150" dirty="0"/>
          </a:p>
        </p:txBody>
      </p:sp>
      <p:sp>
        <p:nvSpPr>
          <p:cNvPr id="46" name="Shape 42"/>
          <p:cNvSpPr/>
          <p:nvPr/>
        </p:nvSpPr>
        <p:spPr>
          <a:xfrm>
            <a:off x="7315200" y="2240280"/>
            <a:ext cx="4416552" cy="1261872"/>
          </a:xfrm>
          <a:prstGeom prst="roundRect">
            <a:avLst>
              <a:gd name="adj" fmla="val 7246"/>
            </a:avLst>
          </a:prstGeom>
          <a:solidFill>
            <a:srgbClr val="E8F6FD"/>
          </a:solidFill>
          <a:ln/>
        </p:spPr>
      </p:sp>
      <p:sp>
        <p:nvSpPr>
          <p:cNvPr id="47" name="Shape 43"/>
          <p:cNvSpPr/>
          <p:nvPr/>
        </p:nvSpPr>
        <p:spPr>
          <a:xfrm>
            <a:off x="7452360" y="2514600"/>
            <a:ext cx="658368" cy="658368"/>
          </a:xfrm>
          <a:prstGeom prst="ellipse">
            <a:avLst/>
          </a:prstGeom>
          <a:solidFill>
            <a:srgbClr val="C8102E"/>
          </a:solidFill>
          <a:ln/>
        </p:spPr>
      </p:sp>
      <p:pic>
        <p:nvPicPr>
          <p:cNvPr id="48" name="Image 1" descr="preencoded.png"/>
          <p:cNvPicPr>
            <a:picLocks noChangeAspect="1"/>
          </p:cNvPicPr>
          <p:nvPr/>
        </p:nvPicPr>
        <p:blipFill>
          <a:blip r:embed="rId4"/>
          <a:stretch>
            <a:fillRect/>
          </a:stretch>
        </p:blipFill>
        <p:spPr>
          <a:xfrm>
            <a:off x="7623536" y="2685776"/>
            <a:ext cx="316017" cy="316017"/>
          </a:xfrm>
          <a:prstGeom prst="rect">
            <a:avLst/>
          </a:prstGeom>
        </p:spPr>
      </p:pic>
      <p:sp>
        <p:nvSpPr>
          <p:cNvPr id="49" name="Text 44"/>
          <p:cNvSpPr txBox="1"/>
          <p:nvPr/>
        </p:nvSpPr>
        <p:spPr>
          <a:xfrm>
            <a:off x="8275320" y="2331720"/>
            <a:ext cx="3383280" cy="347472"/>
          </a:xfrm>
          <a:prstGeom prst="rect">
            <a:avLst/>
          </a:prstGeom>
          <a:noFill/>
          <a:ln/>
        </p:spPr>
        <p:txBody>
          <a:bodyPr wrap="square" lIns="0" tIns="0" rIns="0" bIns="0" rtlCol="0" anchor="t"/>
          <a:lstStyle/>
          <a:p>
            <a:pPr marL="0" indent="0">
              <a:buNone/>
            </a:pPr>
            <a:r>
              <a:rPr lang="en-US" sz="1400" b="1" dirty="0">
                <a:solidFill>
                  <a:srgbClr val="17365D"/>
                </a:solidFill>
                <a:latin typeface="Arial" pitchFamily="34" charset="0"/>
                <a:ea typeface="Arial" pitchFamily="34" charset="-122"/>
                <a:cs typeface="Arial" pitchFamily="34" charset="-120"/>
              </a:rPr>
              <a:t>Three strikes, then rollback</a:t>
            </a:r>
            <a:endParaRPr lang="en-US" sz="1400" dirty="0"/>
          </a:p>
        </p:txBody>
      </p:sp>
      <p:sp>
        <p:nvSpPr>
          <p:cNvPr id="50" name="Text 45"/>
          <p:cNvSpPr txBox="1"/>
          <p:nvPr/>
        </p:nvSpPr>
        <p:spPr>
          <a:xfrm>
            <a:off x="8275320" y="2679192"/>
            <a:ext cx="3383280" cy="777240"/>
          </a:xfrm>
          <a:prstGeom prst="rect">
            <a:avLst/>
          </a:prstGeom>
          <a:noFill/>
          <a:ln/>
        </p:spPr>
        <p:txBody>
          <a:bodyPr wrap="square" lIns="0" tIns="0" rIns="0" bIns="0" rtlCol="0" anchor="t"/>
          <a:lstStyle/>
          <a:p>
            <a:pPr marL="0" indent="0">
              <a:buNone/>
            </a:pPr>
            <a:r>
              <a:rPr lang="en-US" sz="1150" dirty="0">
                <a:solidFill>
                  <a:srgbClr val="1E2A3A"/>
                </a:solidFill>
                <a:latin typeface="Arial" pitchFamily="34" charset="0"/>
                <a:ea typeface="Arial" pitchFamily="34" charset="-122"/>
                <a:cs typeface="Arial" pitchFamily="34" charset="-120"/>
              </a:rPr>
              <a:t>Each reset before that uses one attempt. After 3, we switch banks.</a:t>
            </a:r>
            <a:endParaRPr lang="en-US" sz="1150" dirty="0"/>
          </a:p>
        </p:txBody>
      </p:sp>
      <p:sp>
        <p:nvSpPr>
          <p:cNvPr id="51" name="Shape 46"/>
          <p:cNvSpPr/>
          <p:nvPr/>
        </p:nvSpPr>
        <p:spPr>
          <a:xfrm>
            <a:off x="7315200" y="3611880"/>
            <a:ext cx="4416552" cy="1261872"/>
          </a:xfrm>
          <a:prstGeom prst="roundRect">
            <a:avLst>
              <a:gd name="adj" fmla="val 7246"/>
            </a:avLst>
          </a:prstGeom>
          <a:solidFill>
            <a:srgbClr val="E8F6FD"/>
          </a:solidFill>
          <a:ln/>
        </p:spPr>
      </p:sp>
      <p:sp>
        <p:nvSpPr>
          <p:cNvPr id="52" name="Shape 47"/>
          <p:cNvSpPr/>
          <p:nvPr/>
        </p:nvSpPr>
        <p:spPr>
          <a:xfrm>
            <a:off x="7452360" y="3886200"/>
            <a:ext cx="658368" cy="658368"/>
          </a:xfrm>
          <a:prstGeom prst="ellipse">
            <a:avLst/>
          </a:prstGeom>
          <a:solidFill>
            <a:srgbClr val="1F6FB5"/>
          </a:solidFill>
          <a:ln/>
        </p:spPr>
      </p:sp>
      <p:pic>
        <p:nvPicPr>
          <p:cNvPr id="53" name="Image 2" descr="preencoded.png"/>
          <p:cNvPicPr>
            <a:picLocks noChangeAspect="1"/>
          </p:cNvPicPr>
          <p:nvPr/>
        </p:nvPicPr>
        <p:blipFill>
          <a:blip r:embed="rId5"/>
          <a:stretch>
            <a:fillRect/>
          </a:stretch>
        </p:blipFill>
        <p:spPr>
          <a:xfrm>
            <a:off x="7623536" y="4057376"/>
            <a:ext cx="316017" cy="316017"/>
          </a:xfrm>
          <a:prstGeom prst="rect">
            <a:avLst/>
          </a:prstGeom>
        </p:spPr>
      </p:pic>
      <p:sp>
        <p:nvSpPr>
          <p:cNvPr id="54" name="Text 48"/>
          <p:cNvSpPr txBox="1"/>
          <p:nvPr/>
        </p:nvSpPr>
        <p:spPr>
          <a:xfrm>
            <a:off x="8275320" y="3703320"/>
            <a:ext cx="3383280" cy="347472"/>
          </a:xfrm>
          <a:prstGeom prst="rect">
            <a:avLst/>
          </a:prstGeom>
          <a:noFill/>
          <a:ln/>
        </p:spPr>
        <p:txBody>
          <a:bodyPr wrap="square" lIns="0" tIns="0" rIns="0" bIns="0" rtlCol="0" anchor="t"/>
          <a:lstStyle/>
          <a:p>
            <a:pPr marL="0" indent="0">
              <a:buNone/>
            </a:pPr>
            <a:r>
              <a:rPr lang="en-US" sz="1400" b="1" dirty="0">
                <a:solidFill>
                  <a:srgbClr val="17365D"/>
                </a:solidFill>
                <a:latin typeface="Arial" pitchFamily="34" charset="0"/>
                <a:ea typeface="Arial" pitchFamily="34" charset="-122"/>
                <a:cs typeface="Arial" pitchFamily="34" charset="-120"/>
              </a:rPr>
              <a:t>One bank is always confirmed</a:t>
            </a:r>
            <a:endParaRPr lang="en-US" sz="1400" dirty="0"/>
          </a:p>
        </p:txBody>
      </p:sp>
      <p:sp>
        <p:nvSpPr>
          <p:cNvPr id="55" name="Text 49"/>
          <p:cNvSpPr txBox="1"/>
          <p:nvPr/>
        </p:nvSpPr>
        <p:spPr>
          <a:xfrm>
            <a:off x="8275320" y="4050792"/>
            <a:ext cx="3383280" cy="777240"/>
          </a:xfrm>
          <a:prstGeom prst="rect">
            <a:avLst/>
          </a:prstGeom>
          <a:noFill/>
          <a:ln/>
        </p:spPr>
        <p:txBody>
          <a:bodyPr wrap="square" lIns="0" tIns="0" rIns="0" bIns="0" rtlCol="0" anchor="t"/>
          <a:lstStyle/>
          <a:p>
            <a:pPr marL="0" indent="0">
              <a:buNone/>
            </a:pPr>
            <a:r>
              <a:rPr lang="en-US" sz="1150" dirty="0">
                <a:solidFill>
                  <a:srgbClr val="1E2A3A"/>
                </a:solidFill>
                <a:latin typeface="Arial" pitchFamily="34" charset="0"/>
                <a:ea typeface="Arial" pitchFamily="34" charset="-122"/>
                <a:cs typeface="Arial" pitchFamily="34" charset="-120"/>
              </a:rPr>
              <a:t>The first image is confirmed by default, so rollback always has a safe target.</a:t>
            </a:r>
            <a:endParaRPr lang="en-US" sz="1150" dirty="0"/>
          </a:p>
        </p:txBody>
      </p:sp>
      <p:sp>
        <p:nvSpPr>
          <p:cNvPr id="56" name="Shape 50"/>
          <p:cNvSpPr/>
          <p:nvPr/>
        </p:nvSpPr>
        <p:spPr>
          <a:xfrm>
            <a:off x="7315200" y="4983480"/>
            <a:ext cx="4416552" cy="1261872"/>
          </a:xfrm>
          <a:prstGeom prst="roundRect">
            <a:avLst>
              <a:gd name="adj" fmla="val 7246"/>
            </a:avLst>
          </a:prstGeom>
          <a:solidFill>
            <a:srgbClr val="E8F6FD"/>
          </a:solidFill>
          <a:ln/>
        </p:spPr>
      </p:sp>
      <p:sp>
        <p:nvSpPr>
          <p:cNvPr id="57" name="Shape 51"/>
          <p:cNvSpPr/>
          <p:nvPr/>
        </p:nvSpPr>
        <p:spPr>
          <a:xfrm>
            <a:off x="7452360" y="5257800"/>
            <a:ext cx="658368" cy="658368"/>
          </a:xfrm>
          <a:prstGeom prst="ellipse">
            <a:avLst/>
          </a:prstGeom>
          <a:solidFill>
            <a:srgbClr val="D98A00"/>
          </a:solidFill>
          <a:ln/>
        </p:spPr>
      </p:sp>
      <p:pic>
        <p:nvPicPr>
          <p:cNvPr id="58" name="Image 3" descr="preencoded.png"/>
          <p:cNvPicPr>
            <a:picLocks noChangeAspect="1"/>
          </p:cNvPicPr>
          <p:nvPr/>
        </p:nvPicPr>
        <p:blipFill>
          <a:blip r:embed="rId6"/>
          <a:stretch>
            <a:fillRect/>
          </a:stretch>
        </p:blipFill>
        <p:spPr>
          <a:xfrm>
            <a:off x="7623536" y="5428976"/>
            <a:ext cx="316017" cy="316017"/>
          </a:xfrm>
          <a:prstGeom prst="rect">
            <a:avLst/>
          </a:prstGeom>
        </p:spPr>
      </p:pic>
      <p:sp>
        <p:nvSpPr>
          <p:cNvPr id="59" name="Text 52"/>
          <p:cNvSpPr txBox="1"/>
          <p:nvPr/>
        </p:nvSpPr>
        <p:spPr>
          <a:xfrm>
            <a:off x="8275320" y="5074920"/>
            <a:ext cx="3383280" cy="347472"/>
          </a:xfrm>
          <a:prstGeom prst="rect">
            <a:avLst/>
          </a:prstGeom>
          <a:noFill/>
          <a:ln/>
        </p:spPr>
        <p:txBody>
          <a:bodyPr wrap="square" lIns="0" tIns="0" rIns="0" bIns="0" rtlCol="0" anchor="t"/>
          <a:lstStyle/>
          <a:p>
            <a:pPr marL="0" indent="0">
              <a:buNone/>
            </a:pPr>
            <a:r>
              <a:rPr lang="en-US" sz="1400" b="1" dirty="0">
                <a:solidFill>
                  <a:srgbClr val="17365D"/>
                </a:solidFill>
                <a:latin typeface="Arial" pitchFamily="34" charset="0"/>
                <a:ea typeface="Arial" pitchFamily="34" charset="-122"/>
                <a:cs typeface="Arial" pitchFamily="34" charset="-120"/>
              </a:rPr>
              <a:t>Idle watchdog</a:t>
            </a:r>
            <a:endParaRPr lang="en-US" sz="1400" dirty="0"/>
          </a:p>
        </p:txBody>
      </p:sp>
      <p:sp>
        <p:nvSpPr>
          <p:cNvPr id="60" name="Text 53"/>
          <p:cNvSpPr txBox="1"/>
          <p:nvPr/>
        </p:nvSpPr>
        <p:spPr>
          <a:xfrm>
            <a:off x="8275320" y="5422392"/>
            <a:ext cx="3383280" cy="777240"/>
          </a:xfrm>
          <a:prstGeom prst="rect">
            <a:avLst/>
          </a:prstGeom>
          <a:noFill/>
          <a:ln/>
        </p:spPr>
        <p:txBody>
          <a:bodyPr wrap="square" lIns="0" tIns="0" rIns="0" bIns="0" rtlCol="0" anchor="t"/>
          <a:lstStyle/>
          <a:p>
            <a:pPr marL="0" indent="0">
              <a:buNone/>
            </a:pPr>
            <a:r>
              <a:rPr lang="en-US" sz="1150" dirty="0">
                <a:solidFill>
                  <a:srgbClr val="1E2A3A"/>
                </a:solidFill>
                <a:latin typeface="Arial" pitchFamily="34" charset="0"/>
                <a:ea typeface="Arial" pitchFamily="34" charset="-122"/>
                <a:cs typeface="Arial" pitchFamily="34" charset="-120"/>
              </a:rPr>
              <a:t>No traffic for 5 s: boot the app. 60 s after an update is announced.</a:t>
            </a:r>
            <a:endParaRPr lang="en-US" sz="1150" dirty="0"/>
          </a:p>
        </p:txBody>
      </p:sp>
      <p:sp>
        <p:nvSpPr>
          <p:cNvPr id="3" name="Slide Number Placeholder 0"/>
          <p:cNvSpPr>
            <a:spLocks noGrp="1"/>
          </p:cNvSpPr>
          <p:nvPr>
            <p:ph type="sldNum" sz="quarter" idx="4294967295"/>
          </p:nvPr>
        </p:nvSpPr>
        <p:spPr>
          <a:xfrm>
            <a:off x="1138428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A"/>
                </a:solidFill>
                <a:latin typeface="Arial"/>
                <a:ea typeface="Arial"/>
                <a:cs typeface="Aria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36576"/>
            <a:ext cx="8686800" cy="420624"/>
          </a:xfrm>
          <a:prstGeom prst="rect">
            <a:avLst/>
          </a:prstGeom>
          <a:noFill/>
          <a:ln/>
        </p:spPr>
        <p:txBody>
          <a:bodyPr wrap="square" lIns="0" tIns="0" rIns="0" bIns="0" rtlCol="0" anchor="ctr"/>
          <a:lstStyle/>
          <a:p>
            <a:pPr marL="0" indent="0">
              <a:buNone/>
            </a:pPr>
            <a:r>
              <a:rPr lang="en-US" sz="2400" b="1" dirty="0">
                <a:solidFill>
                  <a:srgbClr val="1F5A9E"/>
                </a:solidFill>
                <a:latin typeface="Arial" pitchFamily="34" charset="0"/>
                <a:ea typeface="Arial" pitchFamily="34" charset="-122"/>
                <a:cs typeface="Arial" pitchFamily="34" charset="-120"/>
              </a:rPr>
              <a:t>Image Authentication</a:t>
            </a:r>
            <a:endParaRPr lang="en-US" sz="2400" dirty="0"/>
          </a:p>
        </p:txBody>
      </p:sp>
      <p:sp>
        <p:nvSpPr>
          <p:cNvPr id="4" name="Shape 1"/>
          <p:cNvSpPr/>
          <p:nvPr/>
        </p:nvSpPr>
        <p:spPr>
          <a:xfrm>
            <a:off x="457200" y="914400"/>
            <a:ext cx="11274552" cy="1874520"/>
          </a:xfrm>
          <a:prstGeom prst="roundRect">
            <a:avLst>
              <a:gd name="adj" fmla="val 5854"/>
            </a:avLst>
          </a:prstGeom>
          <a:solidFill>
            <a:srgbClr val="E8F6FD"/>
          </a:solidFill>
          <a:ln/>
        </p:spPr>
      </p:sp>
      <p:sp>
        <p:nvSpPr>
          <p:cNvPr id="5" name="Shape 2"/>
          <p:cNvSpPr/>
          <p:nvPr/>
        </p:nvSpPr>
        <p:spPr>
          <a:xfrm>
            <a:off x="594360" y="1051560"/>
            <a:ext cx="1417320" cy="1600200"/>
          </a:xfrm>
          <a:prstGeom prst="roundRect">
            <a:avLst>
              <a:gd name="adj" fmla="val 6452"/>
            </a:avLst>
          </a:prstGeom>
          <a:solidFill>
            <a:srgbClr val="17365D"/>
          </a:solidFill>
          <a:ln/>
        </p:spPr>
      </p:sp>
      <p:sp>
        <p:nvSpPr>
          <p:cNvPr id="6" name="Text 3"/>
          <p:cNvSpPr txBox="1"/>
          <p:nvPr/>
        </p:nvSpPr>
        <p:spPr>
          <a:xfrm>
            <a:off x="594360" y="1051560"/>
            <a:ext cx="1417320" cy="1600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Host (PC)</a:t>
            </a:r>
            <a:endParaRPr lang="en-US" sz="1400" dirty="0"/>
          </a:p>
        </p:txBody>
      </p:sp>
      <p:sp>
        <p:nvSpPr>
          <p:cNvPr id="12" name="Shape 8"/>
          <p:cNvSpPr/>
          <p:nvPr/>
        </p:nvSpPr>
        <p:spPr>
          <a:xfrm>
            <a:off x="2240280" y="1143000"/>
            <a:ext cx="2788920" cy="1417320"/>
          </a:xfrm>
          <a:prstGeom prst="roundRect">
            <a:avLst>
              <a:gd name="adj" fmla="val 6452"/>
            </a:avLst>
          </a:prstGeom>
          <a:solidFill>
            <a:srgbClr val="FFFFFF"/>
          </a:solidFill>
          <a:ln w="19050">
            <a:solidFill>
              <a:srgbClr val="17365D"/>
            </a:solidFill>
            <a:prstDash val="solid"/>
          </a:ln>
          <a:effectLst>
            <a:outerShdw blurRad="76200" dist="25400" dir="5400000" algn="bl" rotWithShape="0">
              <a:srgbClr val="7A8CA3">
                <a:alpha val="25000"/>
              </a:srgbClr>
            </a:outerShdw>
          </a:effectLst>
        </p:spPr>
      </p:sp>
      <p:sp>
        <p:nvSpPr>
          <p:cNvPr id="13" name="Shape 9"/>
          <p:cNvSpPr/>
          <p:nvPr/>
        </p:nvSpPr>
        <p:spPr>
          <a:xfrm>
            <a:off x="2377440" y="1307592"/>
            <a:ext cx="502920" cy="502920"/>
          </a:xfrm>
          <a:prstGeom prst="ellipse">
            <a:avLst/>
          </a:prstGeom>
          <a:solidFill>
            <a:srgbClr val="17365D"/>
          </a:solidFill>
          <a:ln/>
        </p:spPr>
      </p:sp>
      <p:pic>
        <p:nvPicPr>
          <p:cNvPr id="14" name="Image 1" descr="preencoded.png"/>
          <p:cNvPicPr>
            <a:picLocks noChangeAspect="1"/>
          </p:cNvPicPr>
          <p:nvPr/>
        </p:nvPicPr>
        <p:blipFill>
          <a:blip r:embed="rId3"/>
          <a:stretch>
            <a:fillRect/>
          </a:stretch>
        </p:blipFill>
        <p:spPr>
          <a:xfrm>
            <a:off x="2505456" y="1438351"/>
            <a:ext cx="241402" cy="241402"/>
          </a:xfrm>
          <a:prstGeom prst="rect">
            <a:avLst/>
          </a:prstGeom>
        </p:spPr>
      </p:pic>
      <p:sp>
        <p:nvSpPr>
          <p:cNvPr id="15" name="Text 10"/>
          <p:cNvSpPr txBox="1"/>
          <p:nvPr/>
        </p:nvSpPr>
        <p:spPr>
          <a:xfrm>
            <a:off x="2971800" y="1280160"/>
            <a:ext cx="1965960" cy="548640"/>
          </a:xfrm>
          <a:prstGeom prst="rect">
            <a:avLst/>
          </a:prstGeom>
          <a:noFill/>
          <a:ln/>
        </p:spPr>
        <p:txBody>
          <a:bodyPr wrap="square" lIns="0" tIns="0" rIns="0" bIns="0" rtlCol="0" anchor="ctr"/>
          <a:lstStyle/>
          <a:p>
            <a:pPr marL="0" indent="0">
              <a:buNone/>
            </a:pPr>
            <a:r>
              <a:rPr lang="en-US" sz="1300" b="1" dirty="0">
                <a:solidFill>
                  <a:srgbClr val="17365D"/>
                </a:solidFill>
                <a:latin typeface="Arial" pitchFamily="34" charset="0"/>
                <a:ea typeface="Arial" pitchFamily="34" charset="-122"/>
                <a:cs typeface="Arial" pitchFamily="34" charset="-120"/>
              </a:rPr>
              <a:t>Hash the image</a:t>
            </a:r>
            <a:endParaRPr lang="en-US" sz="1300" dirty="0"/>
          </a:p>
        </p:txBody>
      </p:sp>
      <p:sp>
        <p:nvSpPr>
          <p:cNvPr id="16" name="Text 11"/>
          <p:cNvSpPr txBox="1"/>
          <p:nvPr/>
        </p:nvSpPr>
        <p:spPr>
          <a:xfrm>
            <a:off x="2377440" y="1874520"/>
            <a:ext cx="2514600" cy="640080"/>
          </a:xfrm>
          <a:prstGeom prst="rect">
            <a:avLst/>
          </a:prstGeom>
          <a:noFill/>
          <a:ln/>
        </p:spPr>
        <p:txBody>
          <a:bodyPr wrap="square" lIns="0" tIns="0" rIns="0" bIns="0" rtlCol="0" anchor="t"/>
          <a:lstStyle/>
          <a:p>
            <a:pPr marL="0" indent="0">
              <a:buNone/>
            </a:pPr>
            <a:r>
              <a:rPr lang="en-US" sz="1150" dirty="0">
                <a:solidFill>
                  <a:srgbClr val="1E2A3A"/>
                </a:solidFill>
                <a:latin typeface="Arial" pitchFamily="34" charset="0"/>
                <a:ea typeface="Arial" pitchFamily="34" charset="-122"/>
                <a:cs typeface="Arial" pitchFamily="34" charset="-120"/>
              </a:rPr>
              <a:t>SHA-256 over the whole firmware image.</a:t>
            </a:r>
            <a:endParaRPr lang="en-US" sz="1150" dirty="0"/>
          </a:p>
        </p:txBody>
      </p:sp>
      <p:sp>
        <p:nvSpPr>
          <p:cNvPr id="17" name="Shape 12"/>
          <p:cNvSpPr/>
          <p:nvPr/>
        </p:nvSpPr>
        <p:spPr>
          <a:xfrm>
            <a:off x="5532120" y="1143000"/>
            <a:ext cx="2788920" cy="1417320"/>
          </a:xfrm>
          <a:prstGeom prst="roundRect">
            <a:avLst>
              <a:gd name="adj" fmla="val 6452"/>
            </a:avLst>
          </a:prstGeom>
          <a:solidFill>
            <a:srgbClr val="FFFFFF"/>
          </a:solidFill>
          <a:ln w="19050">
            <a:solidFill>
              <a:srgbClr val="17365D"/>
            </a:solidFill>
            <a:prstDash val="solid"/>
          </a:ln>
          <a:effectLst>
            <a:outerShdw blurRad="76200" dist="25400" dir="5400000" algn="bl" rotWithShape="0">
              <a:srgbClr val="7A8CA3">
                <a:alpha val="25000"/>
              </a:srgbClr>
            </a:outerShdw>
          </a:effectLst>
        </p:spPr>
      </p:sp>
      <p:sp>
        <p:nvSpPr>
          <p:cNvPr id="18" name="Shape 13"/>
          <p:cNvSpPr/>
          <p:nvPr/>
        </p:nvSpPr>
        <p:spPr>
          <a:xfrm>
            <a:off x="5669280" y="1307592"/>
            <a:ext cx="502920" cy="502920"/>
          </a:xfrm>
          <a:prstGeom prst="ellipse">
            <a:avLst/>
          </a:prstGeom>
          <a:solidFill>
            <a:srgbClr val="17365D"/>
          </a:solidFill>
          <a:ln/>
        </p:spPr>
      </p:sp>
      <p:pic>
        <p:nvPicPr>
          <p:cNvPr id="19" name="Image 2" descr="preencoded.png"/>
          <p:cNvPicPr>
            <a:picLocks noChangeAspect="1"/>
          </p:cNvPicPr>
          <p:nvPr/>
        </p:nvPicPr>
        <p:blipFill>
          <a:blip r:embed="rId4"/>
          <a:stretch>
            <a:fillRect/>
          </a:stretch>
        </p:blipFill>
        <p:spPr>
          <a:xfrm>
            <a:off x="5797296" y="1438351"/>
            <a:ext cx="241402" cy="241402"/>
          </a:xfrm>
          <a:prstGeom prst="rect">
            <a:avLst/>
          </a:prstGeom>
        </p:spPr>
      </p:pic>
      <p:sp>
        <p:nvSpPr>
          <p:cNvPr id="20" name="Text 14"/>
          <p:cNvSpPr txBox="1"/>
          <p:nvPr/>
        </p:nvSpPr>
        <p:spPr>
          <a:xfrm>
            <a:off x="6263640" y="1280160"/>
            <a:ext cx="1965960" cy="548640"/>
          </a:xfrm>
          <a:prstGeom prst="rect">
            <a:avLst/>
          </a:prstGeom>
          <a:noFill/>
          <a:ln/>
        </p:spPr>
        <p:txBody>
          <a:bodyPr wrap="square" lIns="0" tIns="0" rIns="0" bIns="0" rtlCol="0" anchor="ctr"/>
          <a:lstStyle/>
          <a:p>
            <a:pPr marL="0" indent="0">
              <a:buNone/>
            </a:pPr>
            <a:r>
              <a:rPr lang="en-US" sz="1300" b="1" dirty="0">
                <a:solidFill>
                  <a:srgbClr val="17365D"/>
                </a:solidFill>
                <a:latin typeface="Arial" pitchFamily="34" charset="0"/>
                <a:ea typeface="Arial" pitchFamily="34" charset="-122"/>
                <a:cs typeface="Arial" pitchFamily="34" charset="-120"/>
              </a:rPr>
              <a:t>Sign with private key</a:t>
            </a:r>
            <a:endParaRPr lang="en-US" sz="1300" dirty="0"/>
          </a:p>
        </p:txBody>
      </p:sp>
      <p:sp>
        <p:nvSpPr>
          <p:cNvPr id="21" name="Text 15"/>
          <p:cNvSpPr txBox="1"/>
          <p:nvPr/>
        </p:nvSpPr>
        <p:spPr>
          <a:xfrm>
            <a:off x="5669280" y="1874520"/>
            <a:ext cx="2514600" cy="640080"/>
          </a:xfrm>
          <a:prstGeom prst="rect">
            <a:avLst/>
          </a:prstGeom>
          <a:noFill/>
          <a:ln/>
        </p:spPr>
        <p:txBody>
          <a:bodyPr wrap="square" lIns="0" tIns="0" rIns="0" bIns="0" rtlCol="0" anchor="t"/>
          <a:lstStyle/>
          <a:p>
            <a:pPr marL="0" indent="0">
              <a:buNone/>
            </a:pPr>
            <a:r>
              <a:rPr lang="en-US" sz="1150" dirty="0">
                <a:solidFill>
                  <a:srgbClr val="1E2A3A"/>
                </a:solidFill>
                <a:latin typeface="Arial" pitchFamily="34" charset="0"/>
                <a:ea typeface="Arial" pitchFamily="34" charset="-122"/>
                <a:cs typeface="Arial" pitchFamily="34" charset="-120"/>
              </a:rPr>
              <a:t>Signs the digest. The private key never leaves the host.</a:t>
            </a:r>
            <a:endParaRPr lang="en-US" sz="1150" dirty="0"/>
          </a:p>
        </p:txBody>
      </p:sp>
      <p:sp>
        <p:nvSpPr>
          <p:cNvPr id="22" name="Shape 16"/>
          <p:cNvSpPr/>
          <p:nvPr/>
        </p:nvSpPr>
        <p:spPr>
          <a:xfrm>
            <a:off x="8823960" y="1143000"/>
            <a:ext cx="2788920" cy="1417320"/>
          </a:xfrm>
          <a:prstGeom prst="roundRect">
            <a:avLst>
              <a:gd name="adj" fmla="val 6452"/>
            </a:avLst>
          </a:prstGeom>
          <a:solidFill>
            <a:srgbClr val="FFFFFF"/>
          </a:solidFill>
          <a:ln w="19050">
            <a:solidFill>
              <a:srgbClr val="17365D"/>
            </a:solidFill>
            <a:prstDash val="solid"/>
          </a:ln>
          <a:effectLst>
            <a:outerShdw blurRad="76200" dist="25400" dir="5400000" algn="bl" rotWithShape="0">
              <a:srgbClr val="7A8CA3">
                <a:alpha val="25000"/>
              </a:srgbClr>
            </a:outerShdw>
          </a:effectLst>
        </p:spPr>
      </p:sp>
      <p:sp>
        <p:nvSpPr>
          <p:cNvPr id="23" name="Shape 17"/>
          <p:cNvSpPr/>
          <p:nvPr/>
        </p:nvSpPr>
        <p:spPr>
          <a:xfrm>
            <a:off x="8961120" y="1307592"/>
            <a:ext cx="502920" cy="502920"/>
          </a:xfrm>
          <a:prstGeom prst="ellipse">
            <a:avLst/>
          </a:prstGeom>
          <a:solidFill>
            <a:srgbClr val="17365D"/>
          </a:solidFill>
          <a:ln/>
        </p:spPr>
      </p:sp>
      <p:pic>
        <p:nvPicPr>
          <p:cNvPr id="24" name="Image 3" descr="preencoded.png"/>
          <p:cNvPicPr>
            <a:picLocks noChangeAspect="1"/>
          </p:cNvPicPr>
          <p:nvPr/>
        </p:nvPicPr>
        <p:blipFill>
          <a:blip r:embed="rId5"/>
          <a:stretch>
            <a:fillRect/>
          </a:stretch>
        </p:blipFill>
        <p:spPr>
          <a:xfrm>
            <a:off x="9089136" y="1438351"/>
            <a:ext cx="241402" cy="241402"/>
          </a:xfrm>
          <a:prstGeom prst="rect">
            <a:avLst/>
          </a:prstGeom>
        </p:spPr>
      </p:pic>
      <p:sp>
        <p:nvSpPr>
          <p:cNvPr id="25" name="Text 18"/>
          <p:cNvSpPr txBox="1"/>
          <p:nvPr/>
        </p:nvSpPr>
        <p:spPr>
          <a:xfrm>
            <a:off x="9555480" y="1280160"/>
            <a:ext cx="1965960" cy="548640"/>
          </a:xfrm>
          <a:prstGeom prst="rect">
            <a:avLst/>
          </a:prstGeom>
          <a:noFill/>
          <a:ln/>
        </p:spPr>
        <p:txBody>
          <a:bodyPr wrap="square" lIns="0" tIns="0" rIns="0" bIns="0" rtlCol="0" anchor="ctr"/>
          <a:lstStyle/>
          <a:p>
            <a:pPr marL="0" indent="0">
              <a:buNone/>
            </a:pPr>
            <a:r>
              <a:rPr lang="en-US" sz="1300" b="1" dirty="0">
                <a:solidFill>
                  <a:srgbClr val="17365D"/>
                </a:solidFill>
                <a:latin typeface="Arial" pitchFamily="34" charset="0"/>
                <a:ea typeface="Arial" pitchFamily="34" charset="-122"/>
                <a:cs typeface="Arial" pitchFamily="34" charset="-120"/>
              </a:rPr>
              <a:t>Send in META</a:t>
            </a:r>
            <a:endParaRPr lang="en-US" sz="1300" dirty="0"/>
          </a:p>
        </p:txBody>
      </p:sp>
      <p:sp>
        <p:nvSpPr>
          <p:cNvPr id="26" name="Text 19"/>
          <p:cNvSpPr txBox="1"/>
          <p:nvPr/>
        </p:nvSpPr>
        <p:spPr>
          <a:xfrm>
            <a:off x="8961120" y="1874520"/>
            <a:ext cx="2514600" cy="640080"/>
          </a:xfrm>
          <a:prstGeom prst="rect">
            <a:avLst/>
          </a:prstGeom>
          <a:noFill/>
          <a:ln/>
        </p:spPr>
        <p:txBody>
          <a:bodyPr wrap="square" lIns="0" tIns="0" rIns="0" bIns="0" rtlCol="0" anchor="t"/>
          <a:lstStyle/>
          <a:p>
            <a:pPr marL="0" indent="0">
              <a:buNone/>
            </a:pPr>
            <a:r>
              <a:rPr lang="en-US" sz="1150" dirty="0">
                <a:solidFill>
                  <a:srgbClr val="1E2A3A"/>
                </a:solidFill>
                <a:latin typeface="Arial" pitchFamily="34" charset="0"/>
                <a:ea typeface="Arial" pitchFamily="34" charset="-122"/>
                <a:cs typeface="Arial" pitchFamily="34" charset="-120"/>
              </a:rPr>
              <a:t>Signature and public key travel ahead of the image.</a:t>
            </a:r>
            <a:endParaRPr lang="en-US" sz="1150" dirty="0"/>
          </a:p>
        </p:txBody>
      </p:sp>
      <p:sp>
        <p:nvSpPr>
          <p:cNvPr id="27" name="Shape 20"/>
          <p:cNvSpPr/>
          <p:nvPr/>
        </p:nvSpPr>
        <p:spPr>
          <a:xfrm>
            <a:off x="5074920" y="1847088"/>
            <a:ext cx="411480" cy="0"/>
          </a:xfrm>
          <a:prstGeom prst="line">
            <a:avLst/>
          </a:prstGeom>
          <a:noFill/>
          <a:ln w="25400">
            <a:solidFill>
              <a:srgbClr val="17365D"/>
            </a:solidFill>
            <a:prstDash val="solid"/>
            <a:tailEnd type="triangle"/>
          </a:ln>
        </p:spPr>
      </p:sp>
      <p:sp>
        <p:nvSpPr>
          <p:cNvPr id="28" name="Shape 21"/>
          <p:cNvSpPr/>
          <p:nvPr/>
        </p:nvSpPr>
        <p:spPr>
          <a:xfrm>
            <a:off x="8366760" y="1847088"/>
            <a:ext cx="411480" cy="0"/>
          </a:xfrm>
          <a:prstGeom prst="line">
            <a:avLst/>
          </a:prstGeom>
          <a:noFill/>
          <a:ln w="25400">
            <a:solidFill>
              <a:srgbClr val="17365D"/>
            </a:solidFill>
            <a:prstDash val="solid"/>
            <a:tailEnd type="triangle"/>
          </a:ln>
        </p:spPr>
      </p:sp>
      <p:sp>
        <p:nvSpPr>
          <p:cNvPr id="30" name="Shape 23"/>
          <p:cNvSpPr/>
          <p:nvPr/>
        </p:nvSpPr>
        <p:spPr>
          <a:xfrm>
            <a:off x="10218420" y="2606040"/>
            <a:ext cx="0" cy="411480"/>
          </a:xfrm>
          <a:prstGeom prst="line">
            <a:avLst/>
          </a:prstGeom>
          <a:noFill/>
          <a:ln w="25400">
            <a:solidFill>
              <a:srgbClr val="08A1D9"/>
            </a:solidFill>
            <a:prstDash val="solid"/>
            <a:tailEnd type="triangle"/>
          </a:ln>
        </p:spPr>
      </p:sp>
      <p:sp>
        <p:nvSpPr>
          <p:cNvPr id="31" name="Shape 24"/>
          <p:cNvSpPr/>
          <p:nvPr/>
        </p:nvSpPr>
        <p:spPr>
          <a:xfrm>
            <a:off x="457200" y="3063240"/>
            <a:ext cx="11274552" cy="1874520"/>
          </a:xfrm>
          <a:prstGeom prst="roundRect">
            <a:avLst>
              <a:gd name="adj" fmla="val 5854"/>
            </a:avLst>
          </a:prstGeom>
          <a:solidFill>
            <a:srgbClr val="E8F6FD"/>
          </a:solidFill>
          <a:ln/>
        </p:spPr>
      </p:sp>
      <p:sp>
        <p:nvSpPr>
          <p:cNvPr id="32" name="Shape 25"/>
          <p:cNvSpPr/>
          <p:nvPr/>
        </p:nvSpPr>
        <p:spPr>
          <a:xfrm>
            <a:off x="594360" y="3200400"/>
            <a:ext cx="1417320" cy="1600200"/>
          </a:xfrm>
          <a:prstGeom prst="roundRect">
            <a:avLst>
              <a:gd name="adj" fmla="val 6452"/>
            </a:avLst>
          </a:prstGeom>
          <a:solidFill>
            <a:srgbClr val="08A1D9"/>
          </a:solidFill>
          <a:ln/>
        </p:spPr>
      </p:sp>
      <p:sp>
        <p:nvSpPr>
          <p:cNvPr id="33" name="Text 26"/>
          <p:cNvSpPr txBox="1"/>
          <p:nvPr/>
        </p:nvSpPr>
        <p:spPr>
          <a:xfrm>
            <a:off x="594360" y="3200400"/>
            <a:ext cx="1417320" cy="1600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Controller</a:t>
            </a:r>
            <a:endParaRPr lang="en-US" sz="1400" dirty="0"/>
          </a:p>
        </p:txBody>
      </p:sp>
      <p:sp>
        <p:nvSpPr>
          <p:cNvPr id="34" name="Shape 27"/>
          <p:cNvSpPr/>
          <p:nvPr/>
        </p:nvSpPr>
        <p:spPr>
          <a:xfrm>
            <a:off x="8823960" y="3291840"/>
            <a:ext cx="2788920" cy="1417320"/>
          </a:xfrm>
          <a:prstGeom prst="roundRect">
            <a:avLst>
              <a:gd name="adj" fmla="val 6452"/>
            </a:avLst>
          </a:prstGeom>
          <a:solidFill>
            <a:srgbClr val="FFFFFF"/>
          </a:solidFill>
          <a:ln w="19050">
            <a:solidFill>
              <a:srgbClr val="08A1D9"/>
            </a:solidFill>
            <a:prstDash val="solid"/>
          </a:ln>
          <a:effectLst>
            <a:outerShdw blurRad="76200" dist="25400" dir="5400000" algn="bl" rotWithShape="0">
              <a:srgbClr val="7A8CA3">
                <a:alpha val="25000"/>
              </a:srgbClr>
            </a:outerShdw>
          </a:effectLst>
        </p:spPr>
      </p:sp>
      <p:sp>
        <p:nvSpPr>
          <p:cNvPr id="35" name="Shape 28"/>
          <p:cNvSpPr/>
          <p:nvPr/>
        </p:nvSpPr>
        <p:spPr>
          <a:xfrm>
            <a:off x="8961120" y="3456432"/>
            <a:ext cx="502920" cy="502920"/>
          </a:xfrm>
          <a:prstGeom prst="ellipse">
            <a:avLst/>
          </a:prstGeom>
          <a:solidFill>
            <a:srgbClr val="08A1D9"/>
          </a:solidFill>
          <a:ln/>
        </p:spPr>
      </p:sp>
      <p:pic>
        <p:nvPicPr>
          <p:cNvPr id="36" name="Image 4" descr="preencoded.png"/>
          <p:cNvPicPr>
            <a:picLocks noChangeAspect="1"/>
          </p:cNvPicPr>
          <p:nvPr/>
        </p:nvPicPr>
        <p:blipFill>
          <a:blip r:embed="rId6"/>
          <a:stretch>
            <a:fillRect/>
          </a:stretch>
        </p:blipFill>
        <p:spPr>
          <a:xfrm>
            <a:off x="9089136" y="3587191"/>
            <a:ext cx="241402" cy="241402"/>
          </a:xfrm>
          <a:prstGeom prst="rect">
            <a:avLst/>
          </a:prstGeom>
        </p:spPr>
      </p:pic>
      <p:sp>
        <p:nvSpPr>
          <p:cNvPr id="37" name="Text 29"/>
          <p:cNvSpPr txBox="1"/>
          <p:nvPr/>
        </p:nvSpPr>
        <p:spPr>
          <a:xfrm>
            <a:off x="9555480" y="3429000"/>
            <a:ext cx="1965960" cy="548640"/>
          </a:xfrm>
          <a:prstGeom prst="rect">
            <a:avLst/>
          </a:prstGeom>
          <a:noFill/>
          <a:ln/>
        </p:spPr>
        <p:txBody>
          <a:bodyPr wrap="square" lIns="0" tIns="0" rIns="0" bIns="0" rtlCol="0" anchor="ctr"/>
          <a:lstStyle/>
          <a:p>
            <a:pPr marL="0" indent="0">
              <a:buNone/>
            </a:pPr>
            <a:r>
              <a:rPr lang="en-US" sz="1300" b="1" dirty="0">
                <a:solidFill>
                  <a:srgbClr val="17365D"/>
                </a:solidFill>
                <a:latin typeface="Arial" pitchFamily="34" charset="0"/>
                <a:ea typeface="Arial" pitchFamily="34" charset="-122"/>
                <a:cs typeface="Arial" pitchFamily="34" charset="-120"/>
              </a:rPr>
              <a:t>Check public key</a:t>
            </a:r>
            <a:endParaRPr lang="en-US" sz="1300" dirty="0"/>
          </a:p>
        </p:txBody>
      </p:sp>
      <p:sp>
        <p:nvSpPr>
          <p:cNvPr id="38" name="Text 30"/>
          <p:cNvSpPr txBox="1"/>
          <p:nvPr/>
        </p:nvSpPr>
        <p:spPr>
          <a:xfrm>
            <a:off x="8961120" y="4023360"/>
            <a:ext cx="2514600" cy="640080"/>
          </a:xfrm>
          <a:prstGeom prst="rect">
            <a:avLst/>
          </a:prstGeom>
          <a:noFill/>
          <a:ln/>
        </p:spPr>
        <p:txBody>
          <a:bodyPr wrap="square" lIns="0" tIns="0" rIns="0" bIns="0" rtlCol="0" anchor="t"/>
          <a:lstStyle/>
          <a:p>
            <a:pPr marL="0" indent="0">
              <a:buNone/>
            </a:pPr>
            <a:r>
              <a:rPr lang="en-US" sz="1150" dirty="0">
                <a:solidFill>
                  <a:srgbClr val="1E2A3A"/>
                </a:solidFill>
                <a:latin typeface="Arial" pitchFamily="34" charset="0"/>
                <a:ea typeface="Arial" pitchFamily="34" charset="-122"/>
                <a:cs typeface="Arial" pitchFamily="34" charset="-120"/>
              </a:rPr>
              <a:t>Hash the received key. Match it with the key hash stored in OTP.</a:t>
            </a:r>
            <a:endParaRPr lang="en-US" sz="1150" dirty="0"/>
          </a:p>
        </p:txBody>
      </p:sp>
      <p:sp>
        <p:nvSpPr>
          <p:cNvPr id="39" name="Shape 31"/>
          <p:cNvSpPr/>
          <p:nvPr/>
        </p:nvSpPr>
        <p:spPr>
          <a:xfrm>
            <a:off x="5532120" y="3291840"/>
            <a:ext cx="2788920" cy="1417320"/>
          </a:xfrm>
          <a:prstGeom prst="roundRect">
            <a:avLst>
              <a:gd name="adj" fmla="val 6452"/>
            </a:avLst>
          </a:prstGeom>
          <a:solidFill>
            <a:srgbClr val="FFFFFF"/>
          </a:solidFill>
          <a:ln w="19050">
            <a:solidFill>
              <a:srgbClr val="08A1D9"/>
            </a:solidFill>
            <a:prstDash val="solid"/>
          </a:ln>
          <a:effectLst>
            <a:outerShdw blurRad="76200" dist="25400" dir="5400000" algn="bl" rotWithShape="0">
              <a:srgbClr val="7A8CA3">
                <a:alpha val="25000"/>
              </a:srgbClr>
            </a:outerShdw>
          </a:effectLst>
        </p:spPr>
      </p:sp>
      <p:sp>
        <p:nvSpPr>
          <p:cNvPr id="40" name="Shape 32"/>
          <p:cNvSpPr/>
          <p:nvPr/>
        </p:nvSpPr>
        <p:spPr>
          <a:xfrm>
            <a:off x="5669280" y="3456432"/>
            <a:ext cx="502920" cy="502920"/>
          </a:xfrm>
          <a:prstGeom prst="ellipse">
            <a:avLst/>
          </a:prstGeom>
          <a:solidFill>
            <a:srgbClr val="08A1D9"/>
          </a:solidFill>
          <a:ln/>
        </p:spPr>
      </p:sp>
      <p:pic>
        <p:nvPicPr>
          <p:cNvPr id="41" name="Image 5" descr="preencoded.png"/>
          <p:cNvPicPr>
            <a:picLocks noChangeAspect="1"/>
          </p:cNvPicPr>
          <p:nvPr/>
        </p:nvPicPr>
        <p:blipFill>
          <a:blip r:embed="rId4"/>
          <a:stretch>
            <a:fillRect/>
          </a:stretch>
        </p:blipFill>
        <p:spPr>
          <a:xfrm>
            <a:off x="5797296" y="3587191"/>
            <a:ext cx="241402" cy="241402"/>
          </a:xfrm>
          <a:prstGeom prst="rect">
            <a:avLst/>
          </a:prstGeom>
        </p:spPr>
      </p:pic>
      <p:sp>
        <p:nvSpPr>
          <p:cNvPr id="42" name="Text 33"/>
          <p:cNvSpPr txBox="1"/>
          <p:nvPr/>
        </p:nvSpPr>
        <p:spPr>
          <a:xfrm>
            <a:off x="6263640" y="3429000"/>
            <a:ext cx="1965960" cy="548640"/>
          </a:xfrm>
          <a:prstGeom prst="rect">
            <a:avLst/>
          </a:prstGeom>
          <a:noFill/>
          <a:ln/>
        </p:spPr>
        <p:txBody>
          <a:bodyPr wrap="square" lIns="0" tIns="0" rIns="0" bIns="0" rtlCol="0" anchor="ctr"/>
          <a:lstStyle/>
          <a:p>
            <a:pPr marL="0" indent="0">
              <a:buNone/>
            </a:pPr>
            <a:r>
              <a:rPr lang="en-US" sz="1300" b="1" dirty="0">
                <a:solidFill>
                  <a:srgbClr val="17365D"/>
                </a:solidFill>
                <a:latin typeface="Arial" pitchFamily="34" charset="0"/>
                <a:ea typeface="Arial" pitchFamily="34" charset="-122"/>
                <a:cs typeface="Arial" pitchFamily="34" charset="-120"/>
              </a:rPr>
              <a:t>Verify signature</a:t>
            </a:r>
            <a:endParaRPr lang="en-US" sz="1300" dirty="0"/>
          </a:p>
        </p:txBody>
      </p:sp>
      <p:sp>
        <p:nvSpPr>
          <p:cNvPr id="43" name="Text 34"/>
          <p:cNvSpPr txBox="1"/>
          <p:nvPr/>
        </p:nvSpPr>
        <p:spPr>
          <a:xfrm>
            <a:off x="5669280" y="4023360"/>
            <a:ext cx="2514600" cy="640080"/>
          </a:xfrm>
          <a:prstGeom prst="rect">
            <a:avLst/>
          </a:prstGeom>
          <a:noFill/>
          <a:ln/>
        </p:spPr>
        <p:txBody>
          <a:bodyPr wrap="square" lIns="0" tIns="0" rIns="0" bIns="0" rtlCol="0" anchor="t"/>
          <a:lstStyle/>
          <a:p>
            <a:pPr marL="0" indent="0">
              <a:buNone/>
            </a:pPr>
            <a:r>
              <a:rPr lang="en-US" sz="1150" dirty="0">
                <a:solidFill>
                  <a:srgbClr val="1E2A3A"/>
                </a:solidFill>
                <a:latin typeface="Arial" pitchFamily="34" charset="0"/>
                <a:ea typeface="Arial" pitchFamily="34" charset="-122"/>
                <a:cs typeface="Arial" pitchFamily="34" charset="-120"/>
              </a:rPr>
              <a:t>Use the checked key to recover the host's digest.</a:t>
            </a:r>
            <a:endParaRPr lang="en-US" sz="1150" dirty="0"/>
          </a:p>
        </p:txBody>
      </p:sp>
      <p:sp>
        <p:nvSpPr>
          <p:cNvPr id="49" name="Shape 39"/>
          <p:cNvSpPr/>
          <p:nvPr/>
        </p:nvSpPr>
        <p:spPr>
          <a:xfrm>
            <a:off x="2240280" y="3291840"/>
            <a:ext cx="2788920" cy="1417320"/>
          </a:xfrm>
          <a:prstGeom prst="roundRect">
            <a:avLst>
              <a:gd name="adj" fmla="val 6452"/>
            </a:avLst>
          </a:prstGeom>
          <a:solidFill>
            <a:srgbClr val="FFFFFF"/>
          </a:solidFill>
          <a:ln w="19050">
            <a:solidFill>
              <a:srgbClr val="1E8E5A"/>
            </a:solidFill>
            <a:prstDash val="solid"/>
          </a:ln>
          <a:effectLst>
            <a:outerShdw blurRad="76200" dist="25400" dir="5400000" algn="bl" rotWithShape="0">
              <a:srgbClr val="7A8CA3">
                <a:alpha val="25000"/>
              </a:srgbClr>
            </a:outerShdw>
          </a:effectLst>
        </p:spPr>
      </p:sp>
      <p:sp>
        <p:nvSpPr>
          <p:cNvPr id="50" name="Shape 40"/>
          <p:cNvSpPr/>
          <p:nvPr/>
        </p:nvSpPr>
        <p:spPr>
          <a:xfrm>
            <a:off x="2377440" y="3456432"/>
            <a:ext cx="502920" cy="502920"/>
          </a:xfrm>
          <a:prstGeom prst="ellipse">
            <a:avLst/>
          </a:prstGeom>
          <a:solidFill>
            <a:srgbClr val="1E8E5A"/>
          </a:solidFill>
          <a:ln/>
        </p:spPr>
      </p:sp>
      <p:pic>
        <p:nvPicPr>
          <p:cNvPr id="51" name="Image 7" descr="preencoded.png"/>
          <p:cNvPicPr>
            <a:picLocks noChangeAspect="1"/>
          </p:cNvPicPr>
          <p:nvPr/>
        </p:nvPicPr>
        <p:blipFill>
          <a:blip r:embed="rId7"/>
          <a:stretch>
            <a:fillRect/>
          </a:stretch>
        </p:blipFill>
        <p:spPr>
          <a:xfrm>
            <a:off x="2505456" y="3587191"/>
            <a:ext cx="241402" cy="241402"/>
          </a:xfrm>
          <a:prstGeom prst="rect">
            <a:avLst/>
          </a:prstGeom>
        </p:spPr>
      </p:pic>
      <p:sp>
        <p:nvSpPr>
          <p:cNvPr id="52" name="Text 41"/>
          <p:cNvSpPr txBox="1"/>
          <p:nvPr/>
        </p:nvSpPr>
        <p:spPr>
          <a:xfrm>
            <a:off x="2971800" y="3429000"/>
            <a:ext cx="1965960" cy="548640"/>
          </a:xfrm>
          <a:prstGeom prst="rect">
            <a:avLst/>
          </a:prstGeom>
          <a:noFill/>
          <a:ln/>
        </p:spPr>
        <p:txBody>
          <a:bodyPr wrap="square" lIns="0" tIns="0" rIns="0" bIns="0" rtlCol="0" anchor="ctr"/>
          <a:lstStyle/>
          <a:p>
            <a:pPr marL="0" indent="0">
              <a:buNone/>
            </a:pPr>
            <a:r>
              <a:rPr lang="en-US" sz="1300" b="1" dirty="0">
                <a:solidFill>
                  <a:srgbClr val="17365D"/>
                </a:solidFill>
                <a:latin typeface="Arial" pitchFamily="34" charset="0"/>
                <a:ea typeface="Arial" pitchFamily="34" charset="-122"/>
                <a:cs typeface="Arial" pitchFamily="34" charset="-120"/>
              </a:rPr>
              <a:t>Hash image &amp; compare</a:t>
            </a:r>
            <a:endParaRPr lang="en-US" sz="1300" dirty="0"/>
          </a:p>
        </p:txBody>
      </p:sp>
      <p:sp>
        <p:nvSpPr>
          <p:cNvPr id="53" name="Text 42"/>
          <p:cNvSpPr txBox="1"/>
          <p:nvPr/>
        </p:nvSpPr>
        <p:spPr>
          <a:xfrm>
            <a:off x="2377440" y="4023360"/>
            <a:ext cx="2514600" cy="640080"/>
          </a:xfrm>
          <a:prstGeom prst="rect">
            <a:avLst/>
          </a:prstGeom>
          <a:noFill/>
          <a:ln/>
        </p:spPr>
        <p:txBody>
          <a:bodyPr wrap="square" lIns="0" tIns="0" rIns="0" bIns="0" rtlCol="0" anchor="t"/>
          <a:lstStyle/>
          <a:p>
            <a:pPr marL="0" indent="0">
              <a:buNone/>
            </a:pPr>
            <a:r>
              <a:rPr lang="en-US" sz="1150" dirty="0">
                <a:solidFill>
                  <a:srgbClr val="1E2A3A"/>
                </a:solidFill>
                <a:latin typeface="Arial" pitchFamily="34" charset="0"/>
                <a:ea typeface="Arial" pitchFamily="34" charset="-122"/>
                <a:cs typeface="Arial" pitchFamily="34" charset="-120"/>
              </a:rPr>
              <a:t>Compute SHA-256 of the image. Match → commit. Else IMAGE_FAIL.</a:t>
            </a:r>
            <a:endParaRPr lang="en-US" sz="1150" dirty="0"/>
          </a:p>
        </p:txBody>
      </p:sp>
      <p:sp>
        <p:nvSpPr>
          <p:cNvPr id="54" name="Shape 43"/>
          <p:cNvSpPr/>
          <p:nvPr/>
        </p:nvSpPr>
        <p:spPr>
          <a:xfrm flipH="1">
            <a:off x="8366760" y="3995928"/>
            <a:ext cx="411480" cy="0"/>
          </a:xfrm>
          <a:prstGeom prst="line">
            <a:avLst/>
          </a:prstGeom>
          <a:noFill/>
          <a:ln w="25400">
            <a:solidFill>
              <a:srgbClr val="08A1D9"/>
            </a:solidFill>
            <a:prstDash val="solid"/>
            <a:tailEnd type="triangle"/>
          </a:ln>
        </p:spPr>
      </p:sp>
      <p:sp>
        <p:nvSpPr>
          <p:cNvPr id="55" name="Shape 44"/>
          <p:cNvSpPr/>
          <p:nvPr/>
        </p:nvSpPr>
        <p:spPr>
          <a:xfrm flipH="1">
            <a:off x="5074920" y="3995928"/>
            <a:ext cx="411480" cy="0"/>
          </a:xfrm>
          <a:prstGeom prst="line">
            <a:avLst/>
          </a:prstGeom>
          <a:noFill/>
          <a:ln w="25400">
            <a:solidFill>
              <a:srgbClr val="08A1D9"/>
            </a:solidFill>
            <a:prstDash val="solid"/>
            <a:tailEnd type="triangle"/>
          </a:ln>
        </p:spPr>
      </p:sp>
      <p:pic>
        <p:nvPicPr>
          <p:cNvPr id="57" name="Image 8" descr="preencoded.png"/>
          <p:cNvPicPr>
            <a:picLocks noChangeAspect="1"/>
          </p:cNvPicPr>
          <p:nvPr/>
        </p:nvPicPr>
        <p:blipFill>
          <a:blip r:embed="rId8"/>
          <a:stretch>
            <a:fillRect/>
          </a:stretch>
        </p:blipFill>
        <p:spPr>
          <a:xfrm>
            <a:off x="457200" y="5138928"/>
            <a:ext cx="310896" cy="310896"/>
          </a:xfrm>
          <a:prstGeom prst="rect">
            <a:avLst/>
          </a:prstGeom>
        </p:spPr>
      </p:pic>
      <p:sp>
        <p:nvSpPr>
          <p:cNvPr id="58" name="Text 46"/>
          <p:cNvSpPr txBox="1"/>
          <p:nvPr/>
        </p:nvSpPr>
        <p:spPr>
          <a:xfrm>
            <a:off x="868680" y="5074920"/>
            <a:ext cx="2834640" cy="914400"/>
          </a:xfrm>
          <a:prstGeom prst="rect">
            <a:avLst/>
          </a:prstGeom>
          <a:noFill/>
          <a:ln/>
        </p:spPr>
        <p:txBody>
          <a:bodyPr wrap="square" lIns="0" tIns="0" rIns="0" bIns="0" rtlCol="0" anchor="t"/>
          <a:lstStyle/>
          <a:p>
            <a:pPr marL="0" indent="0">
              <a:buNone/>
            </a:pPr>
            <a:r>
              <a:rPr lang="en-US" sz="1250" b="1" dirty="0">
                <a:solidFill>
                  <a:srgbClr val="17365D"/>
                </a:solidFill>
                <a:latin typeface="Arial" pitchFamily="34" charset="0"/>
                <a:ea typeface="Arial" pitchFamily="34" charset="-122"/>
                <a:cs typeface="Arial" pitchFamily="34" charset="-120"/>
              </a:rPr>
              <a:t>Only signed images run.</a:t>
            </a:r>
            <a:endParaRPr lang="en-US" sz="1250" dirty="0"/>
          </a:p>
          <a:p>
            <a:pPr marL="0" indent="0">
              <a:buNone/>
            </a:pPr>
            <a:r>
              <a:rPr lang="en-US" sz="1250" dirty="0">
                <a:solidFill>
                  <a:srgbClr val="1E2A3A"/>
                </a:solidFill>
                <a:latin typeface="Arial" pitchFamily="34" charset="0"/>
                <a:ea typeface="Arial" pitchFamily="34" charset="-122"/>
                <a:cs typeface="Arial" pitchFamily="34" charset="-120"/>
              </a:rPr>
              <a:t>An unknown host can't produce a valid signature.</a:t>
            </a:r>
            <a:endParaRPr lang="en-US" sz="1250" dirty="0"/>
          </a:p>
        </p:txBody>
      </p:sp>
      <p:pic>
        <p:nvPicPr>
          <p:cNvPr id="59" name="Image 9" descr="preencoded.png"/>
          <p:cNvPicPr>
            <a:picLocks noChangeAspect="1"/>
          </p:cNvPicPr>
          <p:nvPr/>
        </p:nvPicPr>
        <p:blipFill>
          <a:blip r:embed="rId8"/>
          <a:stretch>
            <a:fillRect/>
          </a:stretch>
        </p:blipFill>
        <p:spPr>
          <a:xfrm>
            <a:off x="3749040" y="5138928"/>
            <a:ext cx="310896" cy="310896"/>
          </a:xfrm>
          <a:prstGeom prst="rect">
            <a:avLst/>
          </a:prstGeom>
        </p:spPr>
      </p:pic>
      <p:sp>
        <p:nvSpPr>
          <p:cNvPr id="60" name="Text 47"/>
          <p:cNvSpPr txBox="1"/>
          <p:nvPr/>
        </p:nvSpPr>
        <p:spPr>
          <a:xfrm>
            <a:off x="4160520" y="5074920"/>
            <a:ext cx="2834640" cy="914400"/>
          </a:xfrm>
          <a:prstGeom prst="rect">
            <a:avLst/>
          </a:prstGeom>
          <a:noFill/>
          <a:ln/>
        </p:spPr>
        <p:txBody>
          <a:bodyPr wrap="square" lIns="0" tIns="0" rIns="0" bIns="0" rtlCol="0" anchor="t"/>
          <a:lstStyle/>
          <a:p>
            <a:pPr marL="0" indent="0">
              <a:buNone/>
            </a:pPr>
            <a:r>
              <a:rPr lang="en-US" sz="1250" b="1" dirty="0">
                <a:solidFill>
                  <a:srgbClr val="17365D"/>
                </a:solidFill>
                <a:latin typeface="Arial" pitchFamily="34" charset="0"/>
                <a:ea typeface="Arial" pitchFamily="34" charset="-122"/>
                <a:cs typeface="Arial" pitchFamily="34" charset="-120"/>
              </a:rPr>
              <a:t>A fake key is rejected.</a:t>
            </a:r>
            <a:endParaRPr lang="en-US" sz="1250" dirty="0"/>
          </a:p>
          <a:p>
            <a:pPr marL="0" indent="0">
              <a:buNone/>
            </a:pPr>
            <a:r>
              <a:rPr lang="en-US" sz="1250" dirty="0">
                <a:solidFill>
                  <a:srgbClr val="1E2A3A"/>
                </a:solidFill>
                <a:latin typeface="Arial" pitchFamily="34" charset="0"/>
                <a:ea typeface="Arial" pitchFamily="34" charset="-122"/>
                <a:cs typeface="Arial" pitchFamily="34" charset="-120"/>
              </a:rPr>
              <a:t>Its hash won't match the one burned into OTP.</a:t>
            </a:r>
            <a:endParaRPr lang="en-US" sz="1250" dirty="0"/>
          </a:p>
        </p:txBody>
      </p:sp>
      <p:pic>
        <p:nvPicPr>
          <p:cNvPr id="61" name="Image 10" descr="preencoded.png"/>
          <p:cNvPicPr>
            <a:picLocks noChangeAspect="1"/>
          </p:cNvPicPr>
          <p:nvPr/>
        </p:nvPicPr>
        <p:blipFill>
          <a:blip r:embed="rId8"/>
          <a:stretch>
            <a:fillRect/>
          </a:stretch>
        </p:blipFill>
        <p:spPr>
          <a:xfrm>
            <a:off x="7040880" y="5138928"/>
            <a:ext cx="310896" cy="310896"/>
          </a:xfrm>
          <a:prstGeom prst="rect">
            <a:avLst/>
          </a:prstGeom>
        </p:spPr>
      </p:pic>
      <p:sp>
        <p:nvSpPr>
          <p:cNvPr id="62" name="Text 48"/>
          <p:cNvSpPr txBox="1"/>
          <p:nvPr/>
        </p:nvSpPr>
        <p:spPr>
          <a:xfrm>
            <a:off x="7452360" y="5074920"/>
            <a:ext cx="2834640" cy="914400"/>
          </a:xfrm>
          <a:prstGeom prst="rect">
            <a:avLst/>
          </a:prstGeom>
          <a:noFill/>
          <a:ln/>
        </p:spPr>
        <p:txBody>
          <a:bodyPr wrap="square" lIns="0" tIns="0" rIns="0" bIns="0" rtlCol="0" anchor="t"/>
          <a:lstStyle/>
          <a:p>
            <a:pPr marL="0" indent="0">
              <a:buNone/>
            </a:pPr>
            <a:r>
              <a:rPr lang="en-US" sz="1250" b="1" dirty="0">
                <a:solidFill>
                  <a:srgbClr val="17365D"/>
                </a:solidFill>
                <a:latin typeface="Arial" pitchFamily="34" charset="0"/>
                <a:ea typeface="Arial" pitchFamily="34" charset="-122"/>
                <a:cs typeface="Arial" pitchFamily="34" charset="-120"/>
              </a:rPr>
              <a:t>Checks run once, at completion.</a:t>
            </a:r>
            <a:endParaRPr lang="en-US" sz="1250" dirty="0"/>
          </a:p>
          <a:p>
            <a:pPr marL="0" indent="0">
              <a:buNone/>
            </a:pPr>
            <a:r>
              <a:rPr lang="en-US" sz="1250" dirty="0">
                <a:solidFill>
                  <a:srgbClr val="1E2A3A"/>
                </a:solidFill>
                <a:latin typeface="Arial" pitchFamily="34" charset="0"/>
                <a:ea typeface="Arial" pitchFamily="34" charset="-122"/>
                <a:cs typeface="Arial" pitchFamily="34" charset="-120"/>
              </a:rPr>
              <a:t>Whole-image CRC-32 first, then the signature.</a:t>
            </a:r>
            <a:endParaRPr lang="en-US" sz="1250" dirty="0"/>
          </a:p>
        </p:txBody>
      </p:sp>
      <p:sp>
        <p:nvSpPr>
          <p:cNvPr id="3" name="Slide Number Placeholder 0"/>
          <p:cNvSpPr>
            <a:spLocks noGrp="1"/>
          </p:cNvSpPr>
          <p:nvPr>
            <p:ph type="sldNum" sz="quarter" idx="4294967295"/>
          </p:nvPr>
        </p:nvSpPr>
        <p:spPr>
          <a:xfrm>
            <a:off x="1138428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A"/>
                </a:solidFill>
                <a:latin typeface="Arial"/>
                <a:ea typeface="Arial"/>
                <a:cs typeface="Aria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36576"/>
            <a:ext cx="8686800" cy="420624"/>
          </a:xfrm>
          <a:prstGeom prst="rect">
            <a:avLst/>
          </a:prstGeom>
          <a:noFill/>
          <a:ln/>
        </p:spPr>
        <p:txBody>
          <a:bodyPr wrap="square" lIns="0" tIns="0" rIns="0" bIns="0" rtlCol="0" anchor="ctr"/>
          <a:lstStyle/>
          <a:p>
            <a:pPr marL="0" indent="0">
              <a:buNone/>
            </a:pPr>
            <a:r>
              <a:rPr lang="en-US" sz="2400" b="1" dirty="0">
                <a:solidFill>
                  <a:srgbClr val="1F5A9E"/>
                </a:solidFill>
                <a:latin typeface="Arial" pitchFamily="34" charset="0"/>
                <a:ea typeface="Arial" pitchFamily="34" charset="-122"/>
                <a:cs typeface="Arial" pitchFamily="34" charset="-120"/>
              </a:rPr>
              <a:t>Timing &amp; Benchmarks</a:t>
            </a:r>
            <a:endParaRPr lang="en-US" sz="2400" dirty="0"/>
          </a:p>
        </p:txBody>
      </p:sp>
      <p:sp>
        <p:nvSpPr>
          <p:cNvPr id="4" name="Shape 1"/>
          <p:cNvSpPr/>
          <p:nvPr/>
        </p:nvSpPr>
        <p:spPr>
          <a:xfrm>
            <a:off x="457200" y="914400"/>
            <a:ext cx="5760720" cy="3840480"/>
          </a:xfrm>
          <a:prstGeom prst="roundRect">
            <a:avLst>
              <a:gd name="adj" fmla="val 2857"/>
            </a:avLst>
          </a:prstGeom>
          <a:solidFill>
            <a:srgbClr val="E8F6FD"/>
          </a:solidFill>
          <a:ln/>
        </p:spPr>
      </p:sp>
      <p:graphicFrame>
        <p:nvGraphicFramePr>
          <p:cNvPr id="5" name="Chart 0"/>
          <p:cNvGraphicFramePr/>
          <p:nvPr/>
        </p:nvGraphicFramePr>
        <p:xfrm>
          <a:off x="594360" y="1005840"/>
          <a:ext cx="548640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8321040" y="914400"/>
            <a:ext cx="1152144" cy="566928"/>
          </a:xfrm>
          <a:prstGeom prst="rect">
            <a:avLst/>
          </a:prstGeom>
          <a:solidFill>
            <a:srgbClr val="C8102E"/>
          </a:solidFill>
          <a:ln/>
        </p:spPr>
      </p:sp>
      <p:sp>
        <p:nvSpPr>
          <p:cNvPr id="7" name="Text 3"/>
          <p:cNvSpPr txBox="1"/>
          <p:nvPr/>
        </p:nvSpPr>
        <p:spPr>
          <a:xfrm>
            <a:off x="8321040" y="914400"/>
            <a:ext cx="1152144"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UDP</a:t>
            </a:r>
            <a:endParaRPr lang="en-US" sz="1400" dirty="0"/>
          </a:p>
        </p:txBody>
      </p:sp>
      <p:sp>
        <p:nvSpPr>
          <p:cNvPr id="8" name="Shape 4"/>
          <p:cNvSpPr/>
          <p:nvPr/>
        </p:nvSpPr>
        <p:spPr>
          <a:xfrm>
            <a:off x="9509760" y="914400"/>
            <a:ext cx="1152144" cy="566928"/>
          </a:xfrm>
          <a:prstGeom prst="rect">
            <a:avLst/>
          </a:prstGeom>
          <a:solidFill>
            <a:srgbClr val="1F6FB5"/>
          </a:solidFill>
          <a:ln/>
        </p:spPr>
      </p:sp>
      <p:sp>
        <p:nvSpPr>
          <p:cNvPr id="9" name="Text 5"/>
          <p:cNvSpPr txBox="1"/>
          <p:nvPr/>
        </p:nvSpPr>
        <p:spPr>
          <a:xfrm>
            <a:off x="9509760" y="914400"/>
            <a:ext cx="1152144"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CAN-FD</a:t>
            </a:r>
            <a:endParaRPr lang="en-US" sz="1400" dirty="0"/>
          </a:p>
        </p:txBody>
      </p:sp>
      <p:sp>
        <p:nvSpPr>
          <p:cNvPr id="10" name="Shape 6"/>
          <p:cNvSpPr/>
          <p:nvPr/>
        </p:nvSpPr>
        <p:spPr>
          <a:xfrm>
            <a:off x="10698480" y="914400"/>
            <a:ext cx="1152144" cy="566928"/>
          </a:xfrm>
          <a:prstGeom prst="rect">
            <a:avLst/>
          </a:prstGeom>
          <a:solidFill>
            <a:srgbClr val="6B778A"/>
          </a:solidFill>
          <a:ln/>
        </p:spPr>
      </p:sp>
      <p:sp>
        <p:nvSpPr>
          <p:cNvPr id="11" name="Text 7"/>
          <p:cNvSpPr txBox="1"/>
          <p:nvPr/>
        </p:nvSpPr>
        <p:spPr>
          <a:xfrm>
            <a:off x="10698480" y="914400"/>
            <a:ext cx="1152144"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UART*</a:t>
            </a:r>
            <a:endParaRPr lang="en-US" sz="1400" dirty="0"/>
          </a:p>
        </p:txBody>
      </p:sp>
      <p:sp>
        <p:nvSpPr>
          <p:cNvPr id="12" name="Shape 8"/>
          <p:cNvSpPr/>
          <p:nvPr/>
        </p:nvSpPr>
        <p:spPr>
          <a:xfrm>
            <a:off x="6583680" y="1554480"/>
            <a:ext cx="1700784" cy="804672"/>
          </a:xfrm>
          <a:prstGeom prst="rect">
            <a:avLst/>
          </a:prstGeom>
          <a:solidFill>
            <a:srgbClr val="D6EEFA"/>
          </a:solidFill>
          <a:ln/>
        </p:spPr>
      </p:sp>
      <p:sp>
        <p:nvSpPr>
          <p:cNvPr id="13" name="Text 9"/>
          <p:cNvSpPr txBox="1"/>
          <p:nvPr/>
        </p:nvSpPr>
        <p:spPr>
          <a:xfrm>
            <a:off x="6693408" y="1554480"/>
            <a:ext cx="1591056" cy="804672"/>
          </a:xfrm>
          <a:prstGeom prst="rect">
            <a:avLst/>
          </a:prstGeom>
          <a:noFill/>
          <a:ln/>
        </p:spPr>
        <p:txBody>
          <a:bodyPr wrap="square" lIns="0" tIns="0" rIns="0" bIns="0" rtlCol="0" anchor="ctr"/>
          <a:lstStyle/>
          <a:p>
            <a:pPr marL="0" indent="0" algn="l">
              <a:buNone/>
            </a:pPr>
            <a:r>
              <a:rPr lang="en-US" sz="1350" b="1" dirty="0">
                <a:solidFill>
                  <a:srgbClr val="17365D"/>
                </a:solidFill>
                <a:latin typeface="Arial" pitchFamily="34" charset="0"/>
                <a:ea typeface="Arial" pitchFamily="34" charset="-122"/>
                <a:cs typeface="Arial" pitchFamily="34" charset="-120"/>
              </a:rPr>
              <a:t>Throughput</a:t>
            </a:r>
            <a:endParaRPr lang="en-US" sz="1350" dirty="0"/>
          </a:p>
        </p:txBody>
      </p:sp>
      <p:sp>
        <p:nvSpPr>
          <p:cNvPr id="14" name="Shape 10"/>
          <p:cNvSpPr/>
          <p:nvPr/>
        </p:nvSpPr>
        <p:spPr>
          <a:xfrm>
            <a:off x="8321040" y="1554480"/>
            <a:ext cx="1152144" cy="804672"/>
          </a:xfrm>
          <a:prstGeom prst="rect">
            <a:avLst/>
          </a:prstGeom>
          <a:solidFill>
            <a:srgbClr val="E8F6FD"/>
          </a:solidFill>
          <a:ln/>
        </p:spPr>
      </p:sp>
      <p:sp>
        <p:nvSpPr>
          <p:cNvPr id="15" name="Text 11"/>
          <p:cNvSpPr txBox="1"/>
          <p:nvPr/>
        </p:nvSpPr>
        <p:spPr>
          <a:xfrm>
            <a:off x="8321040" y="1554480"/>
            <a:ext cx="1152144" cy="804672"/>
          </a:xfrm>
          <a:prstGeom prst="rect">
            <a:avLst/>
          </a:prstGeom>
          <a:noFill/>
          <a:ln/>
        </p:spPr>
        <p:txBody>
          <a:bodyPr wrap="square" lIns="0" tIns="0" rIns="0" bIns="0" rtlCol="0" anchor="ctr"/>
          <a:lstStyle/>
          <a:p>
            <a:pPr marL="0" indent="0" algn="ctr">
              <a:buNone/>
            </a:pPr>
            <a:r>
              <a:rPr lang="en-US" sz="1350" dirty="0">
                <a:solidFill>
                  <a:srgbClr val="17365D"/>
                </a:solidFill>
                <a:latin typeface="Arial" pitchFamily="34" charset="0"/>
                <a:ea typeface="Arial" pitchFamily="34" charset="-122"/>
                <a:cs typeface="Arial" pitchFamily="34" charset="-120"/>
              </a:rPr>
              <a:t>7.1 Mbps</a:t>
            </a:r>
            <a:endParaRPr lang="en-US" sz="1350" dirty="0"/>
          </a:p>
        </p:txBody>
      </p:sp>
      <p:sp>
        <p:nvSpPr>
          <p:cNvPr id="16" name="Shape 12"/>
          <p:cNvSpPr/>
          <p:nvPr/>
        </p:nvSpPr>
        <p:spPr>
          <a:xfrm>
            <a:off x="9509760" y="1554480"/>
            <a:ext cx="1152144" cy="804672"/>
          </a:xfrm>
          <a:prstGeom prst="rect">
            <a:avLst/>
          </a:prstGeom>
          <a:solidFill>
            <a:srgbClr val="E8F6FD"/>
          </a:solidFill>
          <a:ln/>
        </p:spPr>
      </p:sp>
      <p:sp>
        <p:nvSpPr>
          <p:cNvPr id="17" name="Text 13"/>
          <p:cNvSpPr txBox="1"/>
          <p:nvPr/>
        </p:nvSpPr>
        <p:spPr>
          <a:xfrm>
            <a:off x="9509760" y="1554480"/>
            <a:ext cx="1152144" cy="804672"/>
          </a:xfrm>
          <a:prstGeom prst="rect">
            <a:avLst/>
          </a:prstGeom>
          <a:noFill/>
          <a:ln/>
        </p:spPr>
        <p:txBody>
          <a:bodyPr wrap="square" lIns="0" tIns="0" rIns="0" bIns="0" rtlCol="0" anchor="ctr"/>
          <a:lstStyle/>
          <a:p>
            <a:pPr marL="0" indent="0" algn="ctr">
              <a:buNone/>
            </a:pPr>
            <a:r>
              <a:rPr lang="en-US" sz="1350" dirty="0">
                <a:solidFill>
                  <a:srgbClr val="17365D"/>
                </a:solidFill>
                <a:latin typeface="Arial" pitchFamily="34" charset="0"/>
                <a:ea typeface="Arial" pitchFamily="34" charset="-122"/>
                <a:cs typeface="Arial" pitchFamily="34" charset="-120"/>
              </a:rPr>
              <a:t>1.6 Mbps</a:t>
            </a:r>
            <a:endParaRPr lang="en-US" sz="1350" dirty="0"/>
          </a:p>
        </p:txBody>
      </p:sp>
      <p:sp>
        <p:nvSpPr>
          <p:cNvPr id="18" name="Shape 14"/>
          <p:cNvSpPr/>
          <p:nvPr/>
        </p:nvSpPr>
        <p:spPr>
          <a:xfrm>
            <a:off x="10698480" y="1554480"/>
            <a:ext cx="1152144" cy="804672"/>
          </a:xfrm>
          <a:prstGeom prst="rect">
            <a:avLst/>
          </a:prstGeom>
          <a:solidFill>
            <a:srgbClr val="E8F6FD"/>
          </a:solidFill>
          <a:ln/>
        </p:spPr>
      </p:sp>
      <p:sp>
        <p:nvSpPr>
          <p:cNvPr id="19" name="Text 15"/>
          <p:cNvSpPr txBox="1"/>
          <p:nvPr/>
        </p:nvSpPr>
        <p:spPr>
          <a:xfrm>
            <a:off x="10698480" y="1554480"/>
            <a:ext cx="1152144" cy="804672"/>
          </a:xfrm>
          <a:prstGeom prst="rect">
            <a:avLst/>
          </a:prstGeom>
          <a:noFill/>
          <a:ln/>
        </p:spPr>
        <p:txBody>
          <a:bodyPr wrap="square" lIns="0" tIns="0" rIns="0" bIns="0" rtlCol="0" anchor="ctr"/>
          <a:lstStyle/>
          <a:p>
            <a:pPr marL="0" indent="0" algn="ctr">
              <a:buNone/>
            </a:pPr>
            <a:r>
              <a:rPr lang="en-US" sz="1350" dirty="0">
                <a:solidFill>
                  <a:srgbClr val="17365D"/>
                </a:solidFill>
                <a:latin typeface="Arial" pitchFamily="34" charset="0"/>
                <a:ea typeface="Arial" pitchFamily="34" charset="-122"/>
                <a:cs typeface="Arial" pitchFamily="34" charset="-120"/>
              </a:rPr>
              <a:t>0.1 Mbps</a:t>
            </a:r>
            <a:endParaRPr lang="en-US" sz="1350" dirty="0"/>
          </a:p>
        </p:txBody>
      </p:sp>
      <p:sp>
        <p:nvSpPr>
          <p:cNvPr id="20" name="Shape 16"/>
          <p:cNvSpPr/>
          <p:nvPr/>
        </p:nvSpPr>
        <p:spPr>
          <a:xfrm>
            <a:off x="6583680" y="2414015"/>
            <a:ext cx="1700784" cy="804672"/>
          </a:xfrm>
          <a:prstGeom prst="rect">
            <a:avLst/>
          </a:prstGeom>
          <a:solidFill>
            <a:srgbClr val="D6EEFA"/>
          </a:solidFill>
          <a:ln/>
        </p:spPr>
      </p:sp>
      <p:sp>
        <p:nvSpPr>
          <p:cNvPr id="21" name="Text 17"/>
          <p:cNvSpPr txBox="1"/>
          <p:nvPr/>
        </p:nvSpPr>
        <p:spPr>
          <a:xfrm>
            <a:off x="6693408" y="2414015"/>
            <a:ext cx="1591056" cy="804672"/>
          </a:xfrm>
          <a:prstGeom prst="rect">
            <a:avLst/>
          </a:prstGeom>
          <a:noFill/>
          <a:ln/>
        </p:spPr>
        <p:txBody>
          <a:bodyPr wrap="square" lIns="0" tIns="0" rIns="0" bIns="0" rtlCol="0" anchor="ctr"/>
          <a:lstStyle/>
          <a:p>
            <a:pPr marL="0" indent="0" algn="l">
              <a:buNone/>
            </a:pPr>
            <a:r>
              <a:rPr lang="en-US" sz="1350" b="1" dirty="0">
                <a:solidFill>
                  <a:srgbClr val="17365D"/>
                </a:solidFill>
                <a:latin typeface="Arial" pitchFamily="34" charset="0"/>
                <a:ea typeface="Arial" pitchFamily="34" charset="-122"/>
                <a:cs typeface="Arial" pitchFamily="34" charset="-120"/>
              </a:rPr>
              <a:t>Repair rounds</a:t>
            </a:r>
            <a:endParaRPr lang="en-US" sz="1350" dirty="0"/>
          </a:p>
        </p:txBody>
      </p:sp>
      <p:sp>
        <p:nvSpPr>
          <p:cNvPr id="22" name="Shape 18"/>
          <p:cNvSpPr/>
          <p:nvPr/>
        </p:nvSpPr>
        <p:spPr>
          <a:xfrm>
            <a:off x="8321040" y="2414015"/>
            <a:ext cx="1152144" cy="804672"/>
          </a:xfrm>
          <a:prstGeom prst="rect">
            <a:avLst/>
          </a:prstGeom>
          <a:solidFill>
            <a:srgbClr val="FFFFFF"/>
          </a:solidFill>
          <a:ln/>
        </p:spPr>
      </p:sp>
      <p:sp>
        <p:nvSpPr>
          <p:cNvPr id="23" name="Text 19"/>
          <p:cNvSpPr txBox="1"/>
          <p:nvPr/>
        </p:nvSpPr>
        <p:spPr>
          <a:xfrm>
            <a:off x="8321040" y="2414015"/>
            <a:ext cx="1152144" cy="804672"/>
          </a:xfrm>
          <a:prstGeom prst="rect">
            <a:avLst/>
          </a:prstGeom>
          <a:noFill/>
          <a:ln/>
        </p:spPr>
        <p:txBody>
          <a:bodyPr wrap="square" lIns="0" tIns="0" rIns="0" bIns="0" rtlCol="0" anchor="ctr"/>
          <a:lstStyle/>
          <a:p>
            <a:pPr marL="0" indent="0" algn="ctr">
              <a:buNone/>
            </a:pPr>
            <a:r>
              <a:rPr lang="en-US" sz="1350" dirty="0">
                <a:solidFill>
                  <a:srgbClr val="17365D"/>
                </a:solidFill>
                <a:latin typeface="Arial" pitchFamily="34" charset="0"/>
                <a:ea typeface="Arial" pitchFamily="34" charset="-122"/>
                <a:cs typeface="Arial" pitchFamily="34" charset="-120"/>
              </a:rPr>
              <a:t>4</a:t>
            </a:r>
            <a:endParaRPr lang="en-US" sz="1350" dirty="0"/>
          </a:p>
        </p:txBody>
      </p:sp>
      <p:sp>
        <p:nvSpPr>
          <p:cNvPr id="24" name="Shape 20"/>
          <p:cNvSpPr/>
          <p:nvPr/>
        </p:nvSpPr>
        <p:spPr>
          <a:xfrm>
            <a:off x="9509760" y="2414015"/>
            <a:ext cx="1152144" cy="804672"/>
          </a:xfrm>
          <a:prstGeom prst="rect">
            <a:avLst/>
          </a:prstGeom>
          <a:solidFill>
            <a:srgbClr val="FFFFFF"/>
          </a:solidFill>
          <a:ln/>
        </p:spPr>
      </p:sp>
      <p:sp>
        <p:nvSpPr>
          <p:cNvPr id="25" name="Text 21"/>
          <p:cNvSpPr txBox="1"/>
          <p:nvPr/>
        </p:nvSpPr>
        <p:spPr>
          <a:xfrm>
            <a:off x="9509760" y="2414015"/>
            <a:ext cx="1152144" cy="804672"/>
          </a:xfrm>
          <a:prstGeom prst="rect">
            <a:avLst/>
          </a:prstGeom>
          <a:noFill/>
          <a:ln/>
        </p:spPr>
        <p:txBody>
          <a:bodyPr wrap="square" lIns="0" tIns="0" rIns="0" bIns="0" rtlCol="0" anchor="ctr"/>
          <a:lstStyle/>
          <a:p>
            <a:pPr marL="0" indent="0" algn="ctr">
              <a:buNone/>
            </a:pPr>
            <a:r>
              <a:rPr lang="en-US" sz="1350" dirty="0">
                <a:solidFill>
                  <a:srgbClr val="17365D"/>
                </a:solidFill>
                <a:latin typeface="Arial" pitchFamily="34" charset="0"/>
                <a:ea typeface="Arial" pitchFamily="34" charset="-122"/>
                <a:cs typeface="Arial" pitchFamily="34" charset="-120"/>
              </a:rPr>
              <a:t>1</a:t>
            </a:r>
            <a:endParaRPr lang="en-US" sz="1350" dirty="0"/>
          </a:p>
        </p:txBody>
      </p:sp>
      <p:sp>
        <p:nvSpPr>
          <p:cNvPr id="26" name="Shape 22"/>
          <p:cNvSpPr/>
          <p:nvPr/>
        </p:nvSpPr>
        <p:spPr>
          <a:xfrm>
            <a:off x="10698480" y="2414015"/>
            <a:ext cx="1152144" cy="804672"/>
          </a:xfrm>
          <a:prstGeom prst="rect">
            <a:avLst/>
          </a:prstGeom>
          <a:solidFill>
            <a:srgbClr val="FFFFFF"/>
          </a:solidFill>
          <a:ln/>
        </p:spPr>
      </p:sp>
      <p:sp>
        <p:nvSpPr>
          <p:cNvPr id="27" name="Text 23"/>
          <p:cNvSpPr txBox="1"/>
          <p:nvPr/>
        </p:nvSpPr>
        <p:spPr>
          <a:xfrm>
            <a:off x="10698480" y="2414015"/>
            <a:ext cx="1152144" cy="804672"/>
          </a:xfrm>
          <a:prstGeom prst="rect">
            <a:avLst/>
          </a:prstGeom>
          <a:noFill/>
          <a:ln/>
        </p:spPr>
        <p:txBody>
          <a:bodyPr wrap="square" lIns="0" tIns="0" rIns="0" bIns="0" rtlCol="0" anchor="ctr"/>
          <a:lstStyle/>
          <a:p>
            <a:pPr marL="0" indent="0" algn="ctr">
              <a:buNone/>
            </a:pPr>
            <a:r>
              <a:rPr lang="en-US" sz="1350" dirty="0">
                <a:solidFill>
                  <a:srgbClr val="17365D"/>
                </a:solidFill>
                <a:latin typeface="Arial" pitchFamily="34" charset="0"/>
                <a:ea typeface="Arial" pitchFamily="34" charset="-122"/>
                <a:cs typeface="Arial" pitchFamily="34" charset="-120"/>
              </a:rPr>
              <a:t>2</a:t>
            </a:r>
            <a:endParaRPr lang="en-US" sz="1350" dirty="0"/>
          </a:p>
        </p:txBody>
      </p:sp>
      <p:sp>
        <p:nvSpPr>
          <p:cNvPr id="28" name="Shape 24"/>
          <p:cNvSpPr/>
          <p:nvPr/>
        </p:nvSpPr>
        <p:spPr>
          <a:xfrm>
            <a:off x="6583680" y="3273552"/>
            <a:ext cx="1700784" cy="804672"/>
          </a:xfrm>
          <a:prstGeom prst="rect">
            <a:avLst/>
          </a:prstGeom>
          <a:solidFill>
            <a:srgbClr val="D6EEFA"/>
          </a:solidFill>
          <a:ln/>
        </p:spPr>
      </p:sp>
      <p:sp>
        <p:nvSpPr>
          <p:cNvPr id="29" name="Text 25"/>
          <p:cNvSpPr txBox="1"/>
          <p:nvPr/>
        </p:nvSpPr>
        <p:spPr>
          <a:xfrm>
            <a:off x="6693408" y="3273552"/>
            <a:ext cx="1591056" cy="804672"/>
          </a:xfrm>
          <a:prstGeom prst="rect">
            <a:avLst/>
          </a:prstGeom>
          <a:noFill/>
          <a:ln/>
        </p:spPr>
        <p:txBody>
          <a:bodyPr wrap="square" lIns="0" tIns="0" rIns="0" bIns="0" rtlCol="0" anchor="ctr"/>
          <a:lstStyle/>
          <a:p>
            <a:pPr marL="0" indent="0" algn="l">
              <a:buNone/>
            </a:pPr>
            <a:r>
              <a:rPr lang="en-US" sz="1350" b="1" dirty="0">
                <a:solidFill>
                  <a:srgbClr val="17365D"/>
                </a:solidFill>
                <a:latin typeface="Arial" pitchFamily="34" charset="0"/>
                <a:ea typeface="Arial" pitchFamily="34" charset="-122"/>
                <a:cs typeface="Arial" pitchFamily="34" charset="-120"/>
              </a:rPr>
              <a:t>Repair round time</a:t>
            </a:r>
            <a:endParaRPr lang="en-US" sz="1350" dirty="0"/>
          </a:p>
        </p:txBody>
      </p:sp>
      <p:sp>
        <p:nvSpPr>
          <p:cNvPr id="30" name="Shape 26"/>
          <p:cNvSpPr/>
          <p:nvPr/>
        </p:nvSpPr>
        <p:spPr>
          <a:xfrm>
            <a:off x="8321040" y="3273552"/>
            <a:ext cx="1152144" cy="804672"/>
          </a:xfrm>
          <a:prstGeom prst="rect">
            <a:avLst/>
          </a:prstGeom>
          <a:solidFill>
            <a:srgbClr val="E8F6FD"/>
          </a:solidFill>
          <a:ln/>
        </p:spPr>
      </p:sp>
      <p:sp>
        <p:nvSpPr>
          <p:cNvPr id="31" name="Text 27"/>
          <p:cNvSpPr txBox="1"/>
          <p:nvPr/>
        </p:nvSpPr>
        <p:spPr>
          <a:xfrm>
            <a:off x="8321040" y="3273552"/>
            <a:ext cx="1152144" cy="804672"/>
          </a:xfrm>
          <a:prstGeom prst="rect">
            <a:avLst/>
          </a:prstGeom>
          <a:noFill/>
          <a:ln/>
        </p:spPr>
        <p:txBody>
          <a:bodyPr wrap="square" lIns="0" tIns="0" rIns="0" bIns="0" rtlCol="0" anchor="ctr"/>
          <a:lstStyle/>
          <a:p>
            <a:pPr marL="0" indent="0" algn="ctr">
              <a:buNone/>
            </a:pPr>
            <a:r>
              <a:rPr lang="en-US" sz="1350" dirty="0">
                <a:solidFill>
                  <a:srgbClr val="17365D"/>
                </a:solidFill>
                <a:latin typeface="Arial" pitchFamily="34" charset="0"/>
                <a:ea typeface="Arial" pitchFamily="34" charset="-122"/>
                <a:cs typeface="Arial" pitchFamily="34" charset="-120"/>
              </a:rPr>
              <a:t>0.08 s</a:t>
            </a:r>
            <a:endParaRPr lang="en-US" sz="1350" dirty="0"/>
          </a:p>
        </p:txBody>
      </p:sp>
      <p:sp>
        <p:nvSpPr>
          <p:cNvPr id="32" name="Shape 28"/>
          <p:cNvSpPr/>
          <p:nvPr/>
        </p:nvSpPr>
        <p:spPr>
          <a:xfrm>
            <a:off x="9509760" y="3273552"/>
            <a:ext cx="1152144" cy="804672"/>
          </a:xfrm>
          <a:prstGeom prst="rect">
            <a:avLst/>
          </a:prstGeom>
          <a:solidFill>
            <a:srgbClr val="E8F6FD"/>
          </a:solidFill>
          <a:ln/>
        </p:spPr>
      </p:sp>
      <p:sp>
        <p:nvSpPr>
          <p:cNvPr id="33" name="Text 29"/>
          <p:cNvSpPr txBox="1"/>
          <p:nvPr/>
        </p:nvSpPr>
        <p:spPr>
          <a:xfrm>
            <a:off x="9509760" y="3273552"/>
            <a:ext cx="1152144" cy="804672"/>
          </a:xfrm>
          <a:prstGeom prst="rect">
            <a:avLst/>
          </a:prstGeom>
          <a:noFill/>
          <a:ln/>
        </p:spPr>
        <p:txBody>
          <a:bodyPr wrap="square" lIns="0" tIns="0" rIns="0" bIns="0" rtlCol="0" anchor="ctr"/>
          <a:lstStyle/>
          <a:p>
            <a:pPr marL="0" indent="0" algn="ctr">
              <a:buNone/>
            </a:pPr>
            <a:r>
              <a:rPr lang="en-US" sz="1350" dirty="0">
                <a:solidFill>
                  <a:srgbClr val="17365D"/>
                </a:solidFill>
                <a:latin typeface="Arial" pitchFamily="34" charset="0"/>
                <a:ea typeface="Arial" pitchFamily="34" charset="-122"/>
                <a:cs typeface="Arial" pitchFamily="34" charset="-120"/>
              </a:rPr>
              <a:t>0.1 s</a:t>
            </a:r>
            <a:endParaRPr lang="en-US" sz="1350" dirty="0"/>
          </a:p>
        </p:txBody>
      </p:sp>
      <p:sp>
        <p:nvSpPr>
          <p:cNvPr id="34" name="Shape 30"/>
          <p:cNvSpPr/>
          <p:nvPr/>
        </p:nvSpPr>
        <p:spPr>
          <a:xfrm>
            <a:off x="10698480" y="3273552"/>
            <a:ext cx="1152144" cy="804672"/>
          </a:xfrm>
          <a:prstGeom prst="rect">
            <a:avLst/>
          </a:prstGeom>
          <a:solidFill>
            <a:srgbClr val="E8F6FD"/>
          </a:solidFill>
          <a:ln/>
        </p:spPr>
      </p:sp>
      <p:sp>
        <p:nvSpPr>
          <p:cNvPr id="35" name="Text 31"/>
          <p:cNvSpPr txBox="1"/>
          <p:nvPr/>
        </p:nvSpPr>
        <p:spPr>
          <a:xfrm>
            <a:off x="10698480" y="3273552"/>
            <a:ext cx="1152144" cy="804672"/>
          </a:xfrm>
          <a:prstGeom prst="rect">
            <a:avLst/>
          </a:prstGeom>
          <a:noFill/>
          <a:ln/>
        </p:spPr>
        <p:txBody>
          <a:bodyPr wrap="square" lIns="0" tIns="0" rIns="0" bIns="0" rtlCol="0" anchor="ctr"/>
          <a:lstStyle/>
          <a:p>
            <a:pPr marL="0" indent="0" algn="ctr">
              <a:buNone/>
            </a:pPr>
            <a:r>
              <a:rPr lang="en-US" sz="1350" dirty="0">
                <a:solidFill>
                  <a:srgbClr val="17365D"/>
                </a:solidFill>
                <a:latin typeface="Arial" pitchFamily="34" charset="0"/>
                <a:ea typeface="Arial" pitchFamily="34" charset="-122"/>
                <a:cs typeface="Arial" pitchFamily="34" charset="-120"/>
              </a:rPr>
              <a:t>1 s</a:t>
            </a:r>
            <a:endParaRPr lang="en-US" sz="1350" dirty="0"/>
          </a:p>
        </p:txBody>
      </p:sp>
      <p:sp>
        <p:nvSpPr>
          <p:cNvPr id="36" name="Text 32"/>
          <p:cNvSpPr txBox="1"/>
          <p:nvPr/>
        </p:nvSpPr>
        <p:spPr>
          <a:xfrm>
            <a:off x="6583680" y="4206240"/>
            <a:ext cx="5212080" cy="457200"/>
          </a:xfrm>
          <a:prstGeom prst="rect">
            <a:avLst/>
          </a:prstGeom>
          <a:noFill/>
          <a:ln/>
        </p:spPr>
        <p:txBody>
          <a:bodyPr wrap="square" lIns="0" tIns="0" rIns="0" bIns="0" rtlCol="0" anchor="t"/>
          <a:lstStyle/>
          <a:p>
            <a:pPr marL="0" indent="0">
              <a:buNone/>
            </a:pPr>
            <a:r>
              <a:rPr lang="en-US" sz="1100" i="1" dirty="0">
                <a:solidFill>
                  <a:srgbClr val="5B6B7F"/>
                </a:solidFill>
                <a:latin typeface="Arial" pitchFamily="34" charset="0"/>
                <a:ea typeface="Arial" pitchFamily="34" charset="-122"/>
                <a:cs typeface="Arial" pitchFamily="34" charset="-120"/>
              </a:rPr>
              <a:t>Mean of 10 runs, 800 KB image, nominal conditions.  *UART at 115200 baud.</a:t>
            </a:r>
            <a:endParaRPr lang="en-US" sz="1100" dirty="0"/>
          </a:p>
        </p:txBody>
      </p:sp>
      <p:sp>
        <p:nvSpPr>
          <p:cNvPr id="39" name="Text 35"/>
          <p:cNvSpPr txBox="1"/>
          <p:nvPr/>
        </p:nvSpPr>
        <p:spPr>
          <a:xfrm>
            <a:off x="457200" y="4937760"/>
            <a:ext cx="4572000" cy="347472"/>
          </a:xfrm>
          <a:prstGeom prst="rect">
            <a:avLst/>
          </a:prstGeom>
          <a:noFill/>
          <a:ln/>
        </p:spPr>
        <p:txBody>
          <a:bodyPr wrap="square" lIns="0" tIns="0" rIns="0" bIns="0" rtlCol="0" anchor="t"/>
          <a:lstStyle/>
          <a:p>
            <a:pPr marL="0" indent="0">
              <a:buNone/>
            </a:pPr>
            <a:r>
              <a:rPr lang="en-US" sz="1500" b="1" dirty="0">
                <a:solidFill>
                  <a:srgbClr val="17365D"/>
                </a:solidFill>
                <a:latin typeface="Arial" pitchFamily="34" charset="0"/>
                <a:ea typeface="Arial" pitchFamily="34" charset="-122"/>
                <a:cs typeface="Arial" pitchFamily="34" charset="-120"/>
              </a:rPr>
              <a:t>Resource footprint</a:t>
            </a:r>
            <a:endParaRPr lang="en-US" sz="1500" dirty="0"/>
          </a:p>
        </p:txBody>
      </p:sp>
      <p:sp>
        <p:nvSpPr>
          <p:cNvPr id="40" name="Shape 36"/>
          <p:cNvSpPr/>
          <p:nvPr/>
        </p:nvSpPr>
        <p:spPr>
          <a:xfrm>
            <a:off x="457200" y="5349240"/>
            <a:ext cx="2148840" cy="932688"/>
          </a:xfrm>
          <a:prstGeom prst="roundRect">
            <a:avLst>
              <a:gd name="adj" fmla="val 9804"/>
            </a:avLst>
          </a:prstGeom>
          <a:solidFill>
            <a:srgbClr val="C9EDFB"/>
          </a:solidFill>
          <a:ln/>
        </p:spPr>
      </p:sp>
      <p:sp>
        <p:nvSpPr>
          <p:cNvPr id="41" name="Text 37"/>
          <p:cNvSpPr txBox="1"/>
          <p:nvPr/>
        </p:nvSpPr>
        <p:spPr>
          <a:xfrm>
            <a:off x="457200" y="5394960"/>
            <a:ext cx="2148840" cy="475488"/>
          </a:xfrm>
          <a:prstGeom prst="rect">
            <a:avLst/>
          </a:prstGeom>
          <a:noFill/>
          <a:ln/>
        </p:spPr>
        <p:txBody>
          <a:bodyPr wrap="square" lIns="0" tIns="0" rIns="0" bIns="0" rtlCol="0" anchor="ctr"/>
          <a:lstStyle/>
          <a:p>
            <a:pPr marL="0" indent="0" algn="ctr">
              <a:buNone/>
            </a:pPr>
            <a:r>
              <a:rPr lang="en-US" sz="2200" b="1" dirty="0">
                <a:solidFill>
                  <a:srgbClr val="17365D"/>
                </a:solidFill>
                <a:latin typeface="Arial" pitchFamily="34" charset="0"/>
                <a:ea typeface="Arial" pitchFamily="34" charset="-122"/>
                <a:cs typeface="Arial" pitchFamily="34" charset="-120"/>
              </a:rPr>
              <a:t>250 KB</a:t>
            </a:r>
            <a:endParaRPr lang="en-US" sz="2200" dirty="0"/>
          </a:p>
        </p:txBody>
      </p:sp>
      <p:sp>
        <p:nvSpPr>
          <p:cNvPr id="42" name="Text 38"/>
          <p:cNvSpPr txBox="1"/>
          <p:nvPr/>
        </p:nvSpPr>
        <p:spPr>
          <a:xfrm>
            <a:off x="457200" y="5870448"/>
            <a:ext cx="2148840" cy="365760"/>
          </a:xfrm>
          <a:prstGeom prst="rect">
            <a:avLst/>
          </a:prstGeom>
          <a:noFill/>
          <a:ln/>
        </p:spPr>
        <p:txBody>
          <a:bodyPr wrap="square" lIns="0" tIns="0" rIns="0" bIns="0" rtlCol="0" anchor="t"/>
          <a:lstStyle/>
          <a:p>
            <a:pPr marL="0" indent="0" algn="ctr">
              <a:buNone/>
            </a:pPr>
            <a:r>
              <a:rPr lang="en-US" sz="1100" dirty="0">
                <a:solidFill>
                  <a:srgbClr val="1E2A3A"/>
                </a:solidFill>
                <a:latin typeface="Arial" pitchFamily="34" charset="0"/>
                <a:ea typeface="Arial" pitchFamily="34" charset="-122"/>
                <a:cs typeface="Arial" pitchFamily="34" charset="-120"/>
              </a:rPr>
              <a:t>bootloader flash</a:t>
            </a:r>
            <a:endParaRPr lang="en-US" sz="1100" dirty="0"/>
          </a:p>
        </p:txBody>
      </p:sp>
      <p:sp>
        <p:nvSpPr>
          <p:cNvPr id="43" name="Shape 39"/>
          <p:cNvSpPr/>
          <p:nvPr/>
        </p:nvSpPr>
        <p:spPr>
          <a:xfrm>
            <a:off x="2734056" y="5349240"/>
            <a:ext cx="2148840" cy="932688"/>
          </a:xfrm>
          <a:prstGeom prst="roundRect">
            <a:avLst>
              <a:gd name="adj" fmla="val 9804"/>
            </a:avLst>
          </a:prstGeom>
          <a:solidFill>
            <a:srgbClr val="C9EDFB"/>
          </a:solidFill>
          <a:ln/>
        </p:spPr>
      </p:sp>
      <p:sp>
        <p:nvSpPr>
          <p:cNvPr id="44" name="Text 40"/>
          <p:cNvSpPr txBox="1"/>
          <p:nvPr/>
        </p:nvSpPr>
        <p:spPr>
          <a:xfrm>
            <a:off x="2734056" y="5394960"/>
            <a:ext cx="2148840" cy="475488"/>
          </a:xfrm>
          <a:prstGeom prst="rect">
            <a:avLst/>
          </a:prstGeom>
          <a:noFill/>
          <a:ln/>
        </p:spPr>
        <p:txBody>
          <a:bodyPr wrap="square" lIns="0" tIns="0" rIns="0" bIns="0" rtlCol="0" anchor="ctr"/>
          <a:lstStyle/>
          <a:p>
            <a:pPr marL="0" indent="0" algn="ctr">
              <a:buNone/>
            </a:pPr>
            <a:r>
              <a:rPr lang="en-US" sz="2200" b="1" dirty="0">
                <a:solidFill>
                  <a:srgbClr val="17365D"/>
                </a:solidFill>
                <a:latin typeface="Arial" pitchFamily="34" charset="0"/>
                <a:ea typeface="Arial" pitchFamily="34" charset="-122"/>
                <a:cs typeface="Arial" pitchFamily="34" charset="-120"/>
              </a:rPr>
              <a:t>1.5 MB</a:t>
            </a:r>
            <a:endParaRPr lang="en-US" sz="2200" dirty="0"/>
          </a:p>
        </p:txBody>
      </p:sp>
      <p:sp>
        <p:nvSpPr>
          <p:cNvPr id="45" name="Text 41"/>
          <p:cNvSpPr txBox="1"/>
          <p:nvPr/>
        </p:nvSpPr>
        <p:spPr>
          <a:xfrm>
            <a:off x="2734056" y="5870448"/>
            <a:ext cx="2148840" cy="365760"/>
          </a:xfrm>
          <a:prstGeom prst="rect">
            <a:avLst/>
          </a:prstGeom>
          <a:noFill/>
          <a:ln/>
        </p:spPr>
        <p:txBody>
          <a:bodyPr wrap="square" lIns="0" tIns="0" rIns="0" bIns="0" rtlCol="0" anchor="t"/>
          <a:lstStyle/>
          <a:p>
            <a:pPr marL="0" indent="0" algn="ctr">
              <a:buNone/>
            </a:pPr>
            <a:r>
              <a:rPr lang="en-US" sz="1100" dirty="0">
                <a:solidFill>
                  <a:srgbClr val="1E2A3A"/>
                </a:solidFill>
                <a:latin typeface="Arial" pitchFamily="34" charset="0"/>
                <a:ea typeface="Arial" pitchFamily="34" charset="-122"/>
                <a:cs typeface="Arial" pitchFamily="34" charset="-120"/>
              </a:rPr>
              <a:t>bootloader RAM</a:t>
            </a:r>
            <a:endParaRPr lang="en-US" sz="1100" dirty="0"/>
          </a:p>
        </p:txBody>
      </p:sp>
      <p:sp>
        <p:nvSpPr>
          <p:cNvPr id="46" name="Shape 42"/>
          <p:cNvSpPr/>
          <p:nvPr/>
        </p:nvSpPr>
        <p:spPr>
          <a:xfrm>
            <a:off x="5010912" y="5349240"/>
            <a:ext cx="2148840" cy="932688"/>
          </a:xfrm>
          <a:prstGeom prst="roundRect">
            <a:avLst>
              <a:gd name="adj" fmla="val 9804"/>
            </a:avLst>
          </a:prstGeom>
          <a:solidFill>
            <a:srgbClr val="C9EDFB"/>
          </a:solidFill>
          <a:ln/>
        </p:spPr>
      </p:sp>
      <p:sp>
        <p:nvSpPr>
          <p:cNvPr id="47" name="Text 43"/>
          <p:cNvSpPr txBox="1"/>
          <p:nvPr/>
        </p:nvSpPr>
        <p:spPr>
          <a:xfrm>
            <a:off x="5010912" y="5394960"/>
            <a:ext cx="2148840" cy="475488"/>
          </a:xfrm>
          <a:prstGeom prst="rect">
            <a:avLst/>
          </a:prstGeom>
          <a:noFill/>
          <a:ln/>
        </p:spPr>
        <p:txBody>
          <a:bodyPr wrap="square" lIns="0" tIns="0" rIns="0" bIns="0" rtlCol="0" anchor="ctr"/>
          <a:lstStyle/>
          <a:p>
            <a:pPr marL="0" indent="0" algn="ctr">
              <a:buNone/>
            </a:pPr>
            <a:r>
              <a:rPr lang="en-US" sz="2200" b="1" dirty="0">
                <a:solidFill>
                  <a:srgbClr val="17365D"/>
                </a:solidFill>
                <a:latin typeface="Arial" pitchFamily="34" charset="0"/>
                <a:ea typeface="Arial" pitchFamily="34" charset="-122"/>
                <a:cs typeface="Arial" pitchFamily="34" charset="-120"/>
              </a:rPr>
              <a:t>800 KB</a:t>
            </a:r>
            <a:endParaRPr lang="en-US" sz="2200" dirty="0"/>
          </a:p>
        </p:txBody>
      </p:sp>
      <p:sp>
        <p:nvSpPr>
          <p:cNvPr id="48" name="Text 44"/>
          <p:cNvSpPr txBox="1"/>
          <p:nvPr/>
        </p:nvSpPr>
        <p:spPr>
          <a:xfrm>
            <a:off x="5010912" y="5870448"/>
            <a:ext cx="2148840" cy="365760"/>
          </a:xfrm>
          <a:prstGeom prst="rect">
            <a:avLst/>
          </a:prstGeom>
          <a:noFill/>
          <a:ln/>
        </p:spPr>
        <p:txBody>
          <a:bodyPr wrap="square" lIns="0" tIns="0" rIns="0" bIns="0" rtlCol="0" anchor="t"/>
          <a:lstStyle/>
          <a:p>
            <a:pPr marL="0" indent="0" algn="ctr">
              <a:buNone/>
            </a:pPr>
            <a:r>
              <a:rPr lang="en-US" sz="1100" dirty="0">
                <a:solidFill>
                  <a:srgbClr val="1E2A3A"/>
                </a:solidFill>
                <a:latin typeface="Arial" pitchFamily="34" charset="0"/>
                <a:ea typeface="Arial" pitchFamily="34" charset="-122"/>
                <a:cs typeface="Arial" pitchFamily="34" charset="-120"/>
              </a:rPr>
              <a:t>staging buffer (master)</a:t>
            </a:r>
            <a:endParaRPr lang="en-US" sz="1100" dirty="0"/>
          </a:p>
        </p:txBody>
      </p:sp>
      <p:sp>
        <p:nvSpPr>
          <p:cNvPr id="49" name="Shape 45"/>
          <p:cNvSpPr/>
          <p:nvPr/>
        </p:nvSpPr>
        <p:spPr>
          <a:xfrm>
            <a:off x="7287768" y="5349240"/>
            <a:ext cx="2148840" cy="932688"/>
          </a:xfrm>
          <a:prstGeom prst="roundRect">
            <a:avLst>
              <a:gd name="adj" fmla="val 9804"/>
            </a:avLst>
          </a:prstGeom>
          <a:solidFill>
            <a:srgbClr val="C9EDFB"/>
          </a:solidFill>
          <a:ln/>
        </p:spPr>
      </p:sp>
      <p:sp>
        <p:nvSpPr>
          <p:cNvPr id="50" name="Text 46"/>
          <p:cNvSpPr txBox="1"/>
          <p:nvPr/>
        </p:nvSpPr>
        <p:spPr>
          <a:xfrm>
            <a:off x="7287768" y="5394960"/>
            <a:ext cx="2148840" cy="475488"/>
          </a:xfrm>
          <a:prstGeom prst="rect">
            <a:avLst/>
          </a:prstGeom>
          <a:noFill/>
          <a:ln/>
        </p:spPr>
        <p:txBody>
          <a:bodyPr wrap="square" lIns="0" tIns="0" rIns="0" bIns="0" rtlCol="0" anchor="ctr"/>
          <a:lstStyle/>
          <a:p>
            <a:pPr marL="0" indent="0" algn="ctr">
              <a:buNone/>
            </a:pPr>
            <a:r>
              <a:rPr lang="en-US" sz="2200" b="1" dirty="0">
                <a:solidFill>
                  <a:srgbClr val="17365D"/>
                </a:solidFill>
                <a:latin typeface="Arial" pitchFamily="34" charset="0"/>
                <a:ea typeface="Arial" pitchFamily="34" charset="-122"/>
                <a:cs typeface="Arial" pitchFamily="34" charset="-120"/>
              </a:rPr>
              <a:t>160 KB</a:t>
            </a:r>
            <a:endParaRPr lang="en-US" sz="2200" dirty="0"/>
          </a:p>
        </p:txBody>
      </p:sp>
      <p:sp>
        <p:nvSpPr>
          <p:cNvPr id="51" name="Text 47"/>
          <p:cNvSpPr txBox="1"/>
          <p:nvPr/>
        </p:nvSpPr>
        <p:spPr>
          <a:xfrm>
            <a:off x="7287768" y="5870448"/>
            <a:ext cx="2148840" cy="365760"/>
          </a:xfrm>
          <a:prstGeom prst="rect">
            <a:avLst/>
          </a:prstGeom>
          <a:noFill/>
          <a:ln/>
        </p:spPr>
        <p:txBody>
          <a:bodyPr wrap="square" lIns="0" tIns="0" rIns="0" bIns="0" rtlCol="0" anchor="t"/>
          <a:lstStyle/>
          <a:p>
            <a:pPr marL="0" indent="0" algn="ctr">
              <a:buNone/>
            </a:pPr>
            <a:r>
              <a:rPr lang="en-US" sz="1100" dirty="0">
                <a:solidFill>
                  <a:srgbClr val="1E2A3A"/>
                </a:solidFill>
                <a:latin typeface="Arial" pitchFamily="34" charset="0"/>
                <a:ea typeface="Arial" pitchFamily="34" charset="-122"/>
                <a:cs typeface="Arial" pitchFamily="34" charset="-120"/>
              </a:rPr>
              <a:t>CAN / UART matrix (cards)</a:t>
            </a:r>
            <a:endParaRPr lang="en-US" sz="1100" dirty="0"/>
          </a:p>
        </p:txBody>
      </p:sp>
      <p:sp>
        <p:nvSpPr>
          <p:cNvPr id="52" name="Shape 48"/>
          <p:cNvSpPr/>
          <p:nvPr/>
        </p:nvSpPr>
        <p:spPr>
          <a:xfrm>
            <a:off x="9564624" y="5349240"/>
            <a:ext cx="2148840" cy="932688"/>
          </a:xfrm>
          <a:prstGeom prst="roundRect">
            <a:avLst>
              <a:gd name="adj" fmla="val 9804"/>
            </a:avLst>
          </a:prstGeom>
          <a:solidFill>
            <a:srgbClr val="C9EDFB"/>
          </a:solidFill>
          <a:ln/>
        </p:spPr>
      </p:sp>
      <p:sp>
        <p:nvSpPr>
          <p:cNvPr id="53" name="Text 49"/>
          <p:cNvSpPr txBox="1"/>
          <p:nvPr/>
        </p:nvSpPr>
        <p:spPr>
          <a:xfrm>
            <a:off x="9564624" y="5394960"/>
            <a:ext cx="2148840" cy="475488"/>
          </a:xfrm>
          <a:prstGeom prst="rect">
            <a:avLst/>
          </a:prstGeom>
          <a:noFill/>
          <a:ln/>
        </p:spPr>
        <p:txBody>
          <a:bodyPr wrap="square" lIns="0" tIns="0" rIns="0" bIns="0" rtlCol="0" anchor="ctr"/>
          <a:lstStyle/>
          <a:p>
            <a:pPr marL="0" indent="0" algn="ctr">
              <a:buNone/>
            </a:pPr>
            <a:r>
              <a:rPr lang="en-US" sz="2200" b="1" dirty="0">
                <a:solidFill>
                  <a:srgbClr val="17365D"/>
                </a:solidFill>
                <a:latin typeface="Arial" pitchFamily="34" charset="0"/>
                <a:ea typeface="Arial" pitchFamily="34" charset="-122"/>
                <a:cs typeface="Arial" pitchFamily="34" charset="-120"/>
              </a:rPr>
              <a:t>~2 KB</a:t>
            </a:r>
            <a:endParaRPr lang="en-US" sz="2200" dirty="0"/>
          </a:p>
        </p:txBody>
      </p:sp>
      <p:sp>
        <p:nvSpPr>
          <p:cNvPr id="54" name="Text 50"/>
          <p:cNvSpPr txBox="1"/>
          <p:nvPr/>
        </p:nvSpPr>
        <p:spPr>
          <a:xfrm>
            <a:off x="9564624" y="5870448"/>
            <a:ext cx="2148840" cy="365760"/>
          </a:xfrm>
          <a:prstGeom prst="rect">
            <a:avLst/>
          </a:prstGeom>
          <a:noFill/>
          <a:ln/>
        </p:spPr>
        <p:txBody>
          <a:bodyPr wrap="square" lIns="0" tIns="0" rIns="0" bIns="0" rtlCol="0" anchor="t"/>
          <a:lstStyle/>
          <a:p>
            <a:pPr marL="0" indent="0" algn="ctr">
              <a:buNone/>
            </a:pPr>
            <a:r>
              <a:rPr lang="en-US" sz="1100" dirty="0">
                <a:solidFill>
                  <a:srgbClr val="1E2A3A"/>
                </a:solidFill>
                <a:latin typeface="Arial" pitchFamily="34" charset="0"/>
                <a:ea typeface="Arial" pitchFamily="34" charset="-122"/>
                <a:cs typeface="Arial" pitchFamily="34" charset="-120"/>
              </a:rPr>
              <a:t>retransmission bitmap</a:t>
            </a:r>
            <a:endParaRPr lang="en-US" sz="1100" dirty="0"/>
          </a:p>
        </p:txBody>
      </p:sp>
      <p:sp>
        <p:nvSpPr>
          <p:cNvPr id="3" name="Slide Number Placeholder 0"/>
          <p:cNvSpPr>
            <a:spLocks noGrp="1"/>
          </p:cNvSpPr>
          <p:nvPr>
            <p:ph type="sldNum" sz="quarter" idx="4294967295"/>
          </p:nvPr>
        </p:nvSpPr>
        <p:spPr>
          <a:xfrm>
            <a:off x="1138428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A"/>
                </a:solidFill>
                <a:latin typeface="Arial"/>
                <a:ea typeface="Arial"/>
                <a:cs typeface="Aria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36576"/>
            <a:ext cx="8686800" cy="420624"/>
          </a:xfrm>
          <a:prstGeom prst="rect">
            <a:avLst/>
          </a:prstGeom>
          <a:noFill/>
          <a:ln/>
        </p:spPr>
        <p:txBody>
          <a:bodyPr wrap="square" lIns="0" tIns="0" rIns="0" bIns="0" rtlCol="0" anchor="ctr"/>
          <a:lstStyle/>
          <a:p>
            <a:pPr marL="0" indent="0">
              <a:buNone/>
            </a:pPr>
            <a:r>
              <a:rPr lang="en-US" sz="2400" b="1" dirty="0">
                <a:solidFill>
                  <a:srgbClr val="1F5A9E"/>
                </a:solidFill>
                <a:latin typeface="Arial" pitchFamily="34" charset="0"/>
                <a:ea typeface="Arial" pitchFamily="34" charset="-122"/>
                <a:cs typeface="Arial" pitchFamily="34" charset="-120"/>
              </a:rPr>
              <a:t>Conclusion &amp; Future Scope</a:t>
            </a:r>
            <a:endParaRPr lang="en-US" sz="2400" dirty="0"/>
          </a:p>
        </p:txBody>
      </p:sp>
      <p:sp>
        <p:nvSpPr>
          <p:cNvPr id="4" name="Shape 1"/>
          <p:cNvSpPr/>
          <p:nvPr/>
        </p:nvSpPr>
        <p:spPr>
          <a:xfrm>
            <a:off x="457200" y="960120"/>
            <a:ext cx="6903720" cy="384048"/>
          </a:xfrm>
          <a:prstGeom prst="roundRect">
            <a:avLst>
              <a:gd name="adj" fmla="val 14286"/>
            </a:avLst>
          </a:prstGeom>
          <a:solidFill>
            <a:srgbClr val="08A1D9"/>
          </a:solidFill>
          <a:ln/>
        </p:spPr>
      </p:sp>
      <p:sp>
        <p:nvSpPr>
          <p:cNvPr id="5" name="Text 2"/>
          <p:cNvSpPr txBox="1"/>
          <p:nvPr/>
        </p:nvSpPr>
        <p:spPr>
          <a:xfrm>
            <a:off x="457200" y="960120"/>
            <a:ext cx="6903720" cy="384048"/>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What we showed</a:t>
            </a:r>
            <a:endParaRPr lang="en-US" sz="1500" dirty="0"/>
          </a:p>
        </p:txBody>
      </p:sp>
      <p:sp>
        <p:nvSpPr>
          <p:cNvPr id="6" name="Shape 3"/>
          <p:cNvSpPr/>
          <p:nvPr/>
        </p:nvSpPr>
        <p:spPr>
          <a:xfrm>
            <a:off x="457200" y="1399032"/>
            <a:ext cx="6903720" cy="4864608"/>
          </a:xfrm>
          <a:prstGeom prst="roundRect">
            <a:avLst>
              <a:gd name="adj" fmla="val 1880"/>
            </a:avLst>
          </a:prstGeom>
          <a:solidFill>
            <a:srgbClr val="E8F6FD"/>
          </a:solidFill>
          <a:ln/>
        </p:spPr>
      </p:sp>
      <p:pic>
        <p:nvPicPr>
          <p:cNvPr id="7" name="Image 0" descr="preencoded.png"/>
          <p:cNvPicPr>
            <a:picLocks noChangeAspect="1"/>
          </p:cNvPicPr>
          <p:nvPr/>
        </p:nvPicPr>
        <p:blipFill>
          <a:blip r:embed="rId3"/>
          <a:stretch>
            <a:fillRect/>
          </a:stretch>
        </p:blipFill>
        <p:spPr>
          <a:xfrm>
            <a:off x="731520" y="1673352"/>
            <a:ext cx="384048" cy="384048"/>
          </a:xfrm>
          <a:prstGeom prst="rect">
            <a:avLst/>
          </a:prstGeom>
        </p:spPr>
      </p:pic>
      <p:sp>
        <p:nvSpPr>
          <p:cNvPr id="8" name="Text 4"/>
          <p:cNvSpPr txBox="1"/>
          <p:nvPr/>
        </p:nvSpPr>
        <p:spPr>
          <a:xfrm>
            <a:off x="1234440" y="1600200"/>
            <a:ext cx="6035040" cy="502920"/>
          </a:xfrm>
          <a:prstGeom prst="rect">
            <a:avLst/>
          </a:prstGeom>
          <a:noFill/>
          <a:ln/>
        </p:spPr>
        <p:txBody>
          <a:bodyPr wrap="square" lIns="0" tIns="0" rIns="0" bIns="0" rtlCol="0" anchor="ctr"/>
          <a:lstStyle/>
          <a:p>
            <a:pPr marL="0" indent="0">
              <a:buNone/>
            </a:pPr>
            <a:r>
              <a:rPr lang="en-US" sz="1600" dirty="0">
                <a:solidFill>
                  <a:srgbClr val="1E2A3A"/>
                </a:solidFill>
                <a:latin typeface="Arial" pitchFamily="34" charset="0"/>
                <a:ea typeface="Arial" pitchFamily="34" charset="-122"/>
                <a:cs typeface="Arial" pitchFamily="34" charset="-120"/>
              </a:rPr>
              <a:t>One reliable-transfer protocol serves UDP, CAN-FD and UART.</a:t>
            </a:r>
            <a:endParaRPr lang="en-US" sz="1600" dirty="0"/>
          </a:p>
        </p:txBody>
      </p:sp>
      <p:pic>
        <p:nvPicPr>
          <p:cNvPr id="9" name="Image 1" descr="preencoded.png"/>
          <p:cNvPicPr>
            <a:picLocks noChangeAspect="1"/>
          </p:cNvPicPr>
          <p:nvPr/>
        </p:nvPicPr>
        <p:blipFill>
          <a:blip r:embed="rId3"/>
          <a:stretch>
            <a:fillRect/>
          </a:stretch>
        </p:blipFill>
        <p:spPr>
          <a:xfrm>
            <a:off x="731520" y="2432304"/>
            <a:ext cx="384048" cy="384048"/>
          </a:xfrm>
          <a:prstGeom prst="rect">
            <a:avLst/>
          </a:prstGeom>
        </p:spPr>
      </p:pic>
      <p:sp>
        <p:nvSpPr>
          <p:cNvPr id="10" name="Text 5"/>
          <p:cNvSpPr txBox="1"/>
          <p:nvPr/>
        </p:nvSpPr>
        <p:spPr>
          <a:xfrm>
            <a:off x="1234440" y="2359152"/>
            <a:ext cx="6035040" cy="502920"/>
          </a:xfrm>
          <a:prstGeom prst="rect">
            <a:avLst/>
          </a:prstGeom>
          <a:noFill/>
          <a:ln/>
        </p:spPr>
        <p:txBody>
          <a:bodyPr wrap="square" lIns="0" tIns="0" rIns="0" bIns="0" rtlCol="0" anchor="ctr"/>
          <a:lstStyle/>
          <a:p>
            <a:pPr marL="0" indent="0">
              <a:buNone/>
            </a:pPr>
            <a:r>
              <a:rPr lang="en-US" sz="1600" dirty="0">
                <a:solidFill>
                  <a:srgbClr val="1E2A3A"/>
                </a:solidFill>
                <a:latin typeface="Arial" pitchFamily="34" charset="0"/>
                <a:ea typeface="Arial" pitchFamily="34" charset="-122"/>
                <a:cs typeface="Arial" pitchFamily="34" charset="-120"/>
              </a:rPr>
              <a:t>A coverage bitmap tells the sender exactly which blocks to resend.</a:t>
            </a:r>
            <a:endParaRPr lang="en-US" sz="1600" dirty="0"/>
          </a:p>
        </p:txBody>
      </p:sp>
      <p:pic>
        <p:nvPicPr>
          <p:cNvPr id="11" name="Image 2" descr="preencoded.png"/>
          <p:cNvPicPr>
            <a:picLocks noChangeAspect="1"/>
          </p:cNvPicPr>
          <p:nvPr/>
        </p:nvPicPr>
        <p:blipFill>
          <a:blip r:embed="rId3"/>
          <a:stretch>
            <a:fillRect/>
          </a:stretch>
        </p:blipFill>
        <p:spPr>
          <a:xfrm>
            <a:off x="731520" y="3191256"/>
            <a:ext cx="384048" cy="384048"/>
          </a:xfrm>
          <a:prstGeom prst="rect">
            <a:avLst/>
          </a:prstGeom>
        </p:spPr>
      </p:pic>
      <p:sp>
        <p:nvSpPr>
          <p:cNvPr id="12" name="Text 6"/>
          <p:cNvSpPr txBox="1"/>
          <p:nvPr/>
        </p:nvSpPr>
        <p:spPr>
          <a:xfrm>
            <a:off x="1234440" y="3118104"/>
            <a:ext cx="6035040" cy="502920"/>
          </a:xfrm>
          <a:prstGeom prst="rect">
            <a:avLst/>
          </a:prstGeom>
          <a:noFill/>
          <a:ln/>
        </p:spPr>
        <p:txBody>
          <a:bodyPr wrap="square" lIns="0" tIns="0" rIns="0" bIns="0" rtlCol="0" anchor="ctr"/>
          <a:lstStyle/>
          <a:p>
            <a:pPr marL="0" indent="0">
              <a:buNone/>
            </a:pPr>
            <a:r>
              <a:rPr lang="en-US" sz="1600" dirty="0">
                <a:solidFill>
                  <a:srgbClr val="1E2A3A"/>
                </a:solidFill>
                <a:latin typeface="Arial" pitchFamily="34" charset="0"/>
                <a:ea typeface="Arial" pitchFamily="34" charset="-122"/>
                <a:cs typeface="Arial" pitchFamily="34" charset="-120"/>
              </a:rPr>
              <a:t>The receiver reports COMPLETE before it reboots, so the host always knows.</a:t>
            </a:r>
            <a:endParaRPr lang="en-US" sz="1600" dirty="0"/>
          </a:p>
        </p:txBody>
      </p:sp>
      <p:pic>
        <p:nvPicPr>
          <p:cNvPr id="13" name="Image 3" descr="preencoded.png"/>
          <p:cNvPicPr>
            <a:picLocks noChangeAspect="1"/>
          </p:cNvPicPr>
          <p:nvPr/>
        </p:nvPicPr>
        <p:blipFill>
          <a:blip r:embed="rId3"/>
          <a:stretch>
            <a:fillRect/>
          </a:stretch>
        </p:blipFill>
        <p:spPr>
          <a:xfrm>
            <a:off x="731520" y="3950208"/>
            <a:ext cx="384048" cy="384048"/>
          </a:xfrm>
          <a:prstGeom prst="rect">
            <a:avLst/>
          </a:prstGeom>
        </p:spPr>
      </p:pic>
      <p:sp>
        <p:nvSpPr>
          <p:cNvPr id="14" name="Text 7"/>
          <p:cNvSpPr txBox="1"/>
          <p:nvPr/>
        </p:nvSpPr>
        <p:spPr>
          <a:xfrm>
            <a:off x="1234440" y="3877056"/>
            <a:ext cx="6035040" cy="502920"/>
          </a:xfrm>
          <a:prstGeom prst="rect">
            <a:avLst/>
          </a:prstGeom>
          <a:noFill/>
          <a:ln/>
        </p:spPr>
        <p:txBody>
          <a:bodyPr wrap="square" lIns="0" tIns="0" rIns="0" bIns="0" rtlCol="0" anchor="ctr"/>
          <a:lstStyle/>
          <a:p>
            <a:pPr marL="0" indent="0">
              <a:buNone/>
            </a:pPr>
            <a:r>
              <a:rPr lang="en-US" sz="1600" dirty="0">
                <a:solidFill>
                  <a:srgbClr val="1E2A3A"/>
                </a:solidFill>
                <a:latin typeface="Arial" pitchFamily="34" charset="0"/>
                <a:ea typeface="Arial" pitchFamily="34" charset="-122"/>
                <a:cs typeface="Arial" pitchFamily="34" charset="-120"/>
              </a:rPr>
              <a:t>Dual banks with backup-first metadata survive a power cut at any step.</a:t>
            </a:r>
            <a:endParaRPr lang="en-US" sz="1600" dirty="0"/>
          </a:p>
        </p:txBody>
      </p:sp>
      <p:pic>
        <p:nvPicPr>
          <p:cNvPr id="15" name="Image 4" descr="preencoded.png"/>
          <p:cNvPicPr>
            <a:picLocks noChangeAspect="1"/>
          </p:cNvPicPr>
          <p:nvPr/>
        </p:nvPicPr>
        <p:blipFill>
          <a:blip r:embed="rId3"/>
          <a:stretch>
            <a:fillRect/>
          </a:stretch>
        </p:blipFill>
        <p:spPr>
          <a:xfrm>
            <a:off x="731520" y="4709160"/>
            <a:ext cx="384048" cy="384048"/>
          </a:xfrm>
          <a:prstGeom prst="rect">
            <a:avLst/>
          </a:prstGeom>
        </p:spPr>
      </p:pic>
      <p:sp>
        <p:nvSpPr>
          <p:cNvPr id="16" name="Text 8"/>
          <p:cNvSpPr txBox="1"/>
          <p:nvPr/>
        </p:nvSpPr>
        <p:spPr>
          <a:xfrm>
            <a:off x="1234440" y="4636008"/>
            <a:ext cx="6035040" cy="502920"/>
          </a:xfrm>
          <a:prstGeom prst="rect">
            <a:avLst/>
          </a:prstGeom>
          <a:noFill/>
          <a:ln/>
        </p:spPr>
        <p:txBody>
          <a:bodyPr wrap="square" lIns="0" tIns="0" rIns="0" bIns="0" rtlCol="0" anchor="ctr"/>
          <a:lstStyle/>
          <a:p>
            <a:pPr marL="0" indent="0">
              <a:buNone/>
            </a:pPr>
            <a:r>
              <a:rPr lang="en-US" sz="1600" dirty="0">
                <a:solidFill>
                  <a:srgbClr val="1E2A3A"/>
                </a:solidFill>
                <a:latin typeface="Arial" pitchFamily="34" charset="0"/>
                <a:ea typeface="Arial" pitchFamily="34" charset="-122"/>
                <a:cs typeface="Arial" pitchFamily="34" charset="-120"/>
              </a:rPr>
              <a:t>A boot-attempt watchdog rolls a bad image back on its own.</a:t>
            </a:r>
            <a:endParaRPr lang="en-US" sz="1600" dirty="0"/>
          </a:p>
        </p:txBody>
      </p:sp>
      <p:pic>
        <p:nvPicPr>
          <p:cNvPr id="17" name="Image 5" descr="preencoded.png"/>
          <p:cNvPicPr>
            <a:picLocks noChangeAspect="1"/>
          </p:cNvPicPr>
          <p:nvPr/>
        </p:nvPicPr>
        <p:blipFill>
          <a:blip r:embed="rId3"/>
          <a:stretch>
            <a:fillRect/>
          </a:stretch>
        </p:blipFill>
        <p:spPr>
          <a:xfrm>
            <a:off x="731520" y="5468112"/>
            <a:ext cx="384048" cy="384048"/>
          </a:xfrm>
          <a:prstGeom prst="rect">
            <a:avLst/>
          </a:prstGeom>
        </p:spPr>
      </p:pic>
      <p:sp>
        <p:nvSpPr>
          <p:cNvPr id="18" name="Text 9"/>
          <p:cNvSpPr txBox="1"/>
          <p:nvPr/>
        </p:nvSpPr>
        <p:spPr>
          <a:xfrm>
            <a:off x="1234440" y="5394960"/>
            <a:ext cx="6035040" cy="502920"/>
          </a:xfrm>
          <a:prstGeom prst="rect">
            <a:avLst/>
          </a:prstGeom>
          <a:noFill/>
          <a:ln/>
        </p:spPr>
        <p:txBody>
          <a:bodyPr wrap="square" lIns="0" tIns="0" rIns="0" bIns="0" rtlCol="0" anchor="ctr"/>
          <a:lstStyle/>
          <a:p>
            <a:pPr marL="0" indent="0">
              <a:buNone/>
            </a:pPr>
            <a:r>
              <a:rPr lang="en-US" sz="1600" dirty="0">
                <a:solidFill>
                  <a:srgbClr val="1E2A3A"/>
                </a:solidFill>
                <a:latin typeface="Arial" pitchFamily="34" charset="0"/>
                <a:ea typeface="Arial" pitchFamily="34" charset="-122"/>
                <a:cs typeface="Arial" pitchFamily="34" charset="-120"/>
              </a:rPr>
              <a:t>Every controller runs all of this independently.</a:t>
            </a:r>
            <a:endParaRPr lang="en-US" sz="1600" dirty="0"/>
          </a:p>
        </p:txBody>
      </p:sp>
      <p:sp>
        <p:nvSpPr>
          <p:cNvPr id="25" name="Slide Number Placeholder 0"/>
          <p:cNvSpPr>
            <a:spLocks noGrp="1"/>
          </p:cNvSpPr>
          <p:nvPr>
            <p:ph type="sldNum" sz="quarter" idx="4294967295"/>
          </p:nvPr>
        </p:nvSpPr>
        <p:spPr>
          <a:xfrm>
            <a:off x="1138428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A"/>
                </a:solidFill>
                <a:latin typeface="Arial"/>
                <a:ea typeface="Arial"/>
                <a:cs typeface="Arial"/>
              </a:defRPr>
            </a:lvl1pPr>
          </a:lstStyle>
          <a:p>
            <a:pPr algn="r"/>
            <a:fld id="{F7021451-1387-4CA6-816F-3879F97B5CBC}" type="slidenum">
              <a:rPr lang="en-US" b="0"/>
              <a:t>18</a:t>
            </a:fld>
            <a:endParaRPr lang="en-US"/>
          </a:p>
        </p:txBody>
      </p:sp>
      <p:sp>
        <p:nvSpPr>
          <p:cNvPr id="41" name="FW Shape 41"/>
          <p:cNvSpPr/>
          <p:nvPr/>
        </p:nvSpPr>
        <p:spPr>
          <a:xfrm>
            <a:off x="7589520" y="960120"/>
            <a:ext cx="4133087" cy="384048"/>
          </a:xfrm>
          <a:prstGeom prst="roundRect">
            <a:avLst>
              <a:gd name="adj" fmla="val 14286"/>
            </a:avLst>
          </a:prstGeom>
          <a:solidFill>
            <a:srgbClr val="08A1D9"/>
          </a:solidFill>
          <a:ln>
            <a:noFill/>
          </a:ln>
        </p:spPr>
      </p:sp>
      <p:sp>
        <p:nvSpPr>
          <p:cNvPr id="42" name="FW Text 42"/>
          <p:cNvSpPr txBox="1"/>
          <p:nvPr/>
        </p:nvSpPr>
        <p:spPr>
          <a:xfrm>
            <a:off x="7680960" y="960120"/>
            <a:ext cx="3950207" cy="384048"/>
          </a:xfrm>
          <a:prstGeom prst="rect">
            <a:avLst/>
          </a:prstGeom>
          <a:noFill/>
          <a:ln/>
        </p:spPr>
        <p:txBody>
          <a:bodyPr wrap="square" lIns="0" tIns="0" rIns="0" bIns="0" rtlCol="0" anchor="ctr"/>
          <a:lstStyle/>
          <a:p>
            <a:pPr algn="ctr"/>
            <a:r>
              <a:rPr lang="en-US" sz="1500" b="1" dirty="0">
                <a:solidFill>
                  <a:srgbClr val="FFFFFF"/>
                </a:solidFill>
                <a:latin typeface="Arial"/>
                <a:ea typeface="Arial"/>
                <a:cs typeface="Arial"/>
              </a:rPr>
              <a:t>Future work</a:t>
            </a:r>
          </a:p>
        </p:txBody>
      </p:sp>
      <p:sp>
        <p:nvSpPr>
          <p:cNvPr id="43" name="FW Shape 43"/>
          <p:cNvSpPr/>
          <p:nvPr/>
        </p:nvSpPr>
        <p:spPr>
          <a:xfrm>
            <a:off x="7589520" y="1399032"/>
            <a:ext cx="4133087" cy="4864608"/>
          </a:xfrm>
          <a:prstGeom prst="roundRect">
            <a:avLst>
              <a:gd name="adj" fmla="val 5000"/>
            </a:avLst>
          </a:prstGeom>
          <a:solidFill>
            <a:srgbClr val="E8F6FD"/>
          </a:solidFill>
          <a:ln>
            <a:noFill/>
          </a:ln>
        </p:spPr>
      </p:sp>
      <p:sp>
        <p:nvSpPr>
          <p:cNvPr id="44" name="FW Text 44"/>
          <p:cNvSpPr txBox="1"/>
          <p:nvPr/>
        </p:nvSpPr>
        <p:spPr>
          <a:xfrm>
            <a:off x="7863840" y="1600200"/>
            <a:ext cx="3584447" cy="822960"/>
          </a:xfrm>
          <a:prstGeom prst="rect">
            <a:avLst/>
          </a:prstGeom>
          <a:noFill/>
          <a:ln/>
        </p:spPr>
        <p:txBody>
          <a:bodyPr wrap="square" lIns="0" tIns="0" rIns="0" bIns="0" rtlCol="0" anchor="t"/>
          <a:lstStyle/>
          <a:p>
            <a:pPr algn="l"/>
            <a:r>
              <a:rPr lang="en-US" sz="1800" b="1" dirty="0">
                <a:solidFill>
                  <a:srgbClr val="17365D"/>
                </a:solidFill>
                <a:latin typeface="Arial"/>
                <a:ea typeface="Arial"/>
                <a:cs typeface="Arial"/>
              </a:rPr>
              <a:t>A self-updating controller network</a:t>
            </a:r>
          </a:p>
        </p:txBody>
      </p:sp>
      <p:sp>
        <p:nvSpPr>
          <p:cNvPr id="45" name="FW Shape 45"/>
          <p:cNvSpPr/>
          <p:nvPr/>
        </p:nvSpPr>
        <p:spPr>
          <a:xfrm>
            <a:off x="7863840" y="2697480"/>
            <a:ext cx="457200" cy="457200"/>
          </a:xfrm>
          <a:prstGeom prst="ellipse">
            <a:avLst/>
          </a:prstGeom>
          <a:solidFill>
            <a:srgbClr val="08A1D9"/>
          </a:solidFill>
          <a:ln>
            <a:noFill/>
          </a:ln>
        </p:spPr>
      </p:sp>
      <p:sp>
        <p:nvSpPr>
          <p:cNvPr id="46" name="FW Text 46"/>
          <p:cNvSpPr txBox="1"/>
          <p:nvPr/>
        </p:nvSpPr>
        <p:spPr>
          <a:xfrm>
            <a:off x="7863840" y="2697480"/>
            <a:ext cx="457200" cy="457200"/>
          </a:xfrm>
          <a:prstGeom prst="rect">
            <a:avLst/>
          </a:prstGeom>
          <a:noFill/>
          <a:ln/>
        </p:spPr>
        <p:txBody>
          <a:bodyPr wrap="square" lIns="0" tIns="0" rIns="0" bIns="0" rtlCol="0" anchor="ctr"/>
          <a:lstStyle/>
          <a:p>
            <a:pPr algn="ctr"/>
            <a:r>
              <a:rPr lang="en-US" sz="1500" b="1" dirty="0">
                <a:solidFill>
                  <a:srgbClr val="FFFFFF"/>
                </a:solidFill>
                <a:latin typeface="Arial"/>
                <a:ea typeface="Arial"/>
                <a:cs typeface="Arial"/>
              </a:rPr>
              <a:t>1</a:t>
            </a:r>
          </a:p>
        </p:txBody>
      </p:sp>
      <p:sp>
        <p:nvSpPr>
          <p:cNvPr id="47" name="FW Text 47"/>
          <p:cNvSpPr txBox="1"/>
          <p:nvPr/>
        </p:nvSpPr>
        <p:spPr>
          <a:xfrm>
            <a:off x="8458200" y="2606040"/>
            <a:ext cx="3035807" cy="640080"/>
          </a:xfrm>
          <a:prstGeom prst="rect">
            <a:avLst/>
          </a:prstGeom>
          <a:noFill/>
          <a:ln/>
        </p:spPr>
        <p:txBody>
          <a:bodyPr wrap="square" lIns="0" tIns="0" rIns="0" bIns="0" rtlCol="0" anchor="ctr"/>
          <a:lstStyle/>
          <a:p>
            <a:pPr algn="l"/>
            <a:r>
              <a:rPr lang="en-US" sz="1600" b="0" dirty="0">
                <a:solidFill>
                  <a:srgbClr val="1E2A3A"/>
                </a:solidFill>
                <a:latin typeface="Arial"/>
                <a:ea typeface="Arial"/>
                <a:cs typeface="Arial"/>
              </a:rPr>
              <a:t>Controllers discover each other automatically.</a:t>
            </a:r>
          </a:p>
        </p:txBody>
      </p:sp>
      <p:sp>
        <p:nvSpPr>
          <p:cNvPr id="48" name="FW Shape 48"/>
          <p:cNvSpPr/>
          <p:nvPr/>
        </p:nvSpPr>
        <p:spPr>
          <a:xfrm>
            <a:off x="7863840" y="3840479"/>
            <a:ext cx="457200" cy="457200"/>
          </a:xfrm>
          <a:prstGeom prst="ellipse">
            <a:avLst/>
          </a:prstGeom>
          <a:solidFill>
            <a:srgbClr val="1F6FB5"/>
          </a:solidFill>
          <a:ln>
            <a:noFill/>
          </a:ln>
        </p:spPr>
      </p:sp>
      <p:sp>
        <p:nvSpPr>
          <p:cNvPr id="49" name="FW Text 49"/>
          <p:cNvSpPr txBox="1"/>
          <p:nvPr/>
        </p:nvSpPr>
        <p:spPr>
          <a:xfrm>
            <a:off x="7863840" y="3840479"/>
            <a:ext cx="457200" cy="457200"/>
          </a:xfrm>
          <a:prstGeom prst="rect">
            <a:avLst/>
          </a:prstGeom>
          <a:noFill/>
          <a:ln/>
        </p:spPr>
        <p:txBody>
          <a:bodyPr wrap="square" lIns="0" tIns="0" rIns="0" bIns="0" rtlCol="0" anchor="ctr"/>
          <a:lstStyle/>
          <a:p>
            <a:pPr algn="ctr"/>
            <a:r>
              <a:rPr lang="en-US" sz="1500" b="1" dirty="0">
                <a:solidFill>
                  <a:srgbClr val="FFFFFF"/>
                </a:solidFill>
                <a:latin typeface="Arial"/>
                <a:ea typeface="Arial"/>
                <a:cs typeface="Arial"/>
              </a:rPr>
              <a:t>2</a:t>
            </a:r>
          </a:p>
        </p:txBody>
      </p:sp>
      <p:sp>
        <p:nvSpPr>
          <p:cNvPr id="50" name="FW Text 50"/>
          <p:cNvSpPr txBox="1"/>
          <p:nvPr/>
        </p:nvSpPr>
        <p:spPr>
          <a:xfrm>
            <a:off x="8458200" y="3749039"/>
            <a:ext cx="3035807" cy="640080"/>
          </a:xfrm>
          <a:prstGeom prst="rect">
            <a:avLst/>
          </a:prstGeom>
          <a:noFill/>
          <a:ln/>
        </p:spPr>
        <p:txBody>
          <a:bodyPr wrap="square" lIns="0" tIns="0" rIns="0" bIns="0" rtlCol="0" anchor="ctr"/>
          <a:lstStyle/>
          <a:p>
            <a:pPr algn="l"/>
            <a:r>
              <a:rPr lang="en-US" sz="1600" b="0" dirty="0">
                <a:solidFill>
                  <a:srgbClr val="1E2A3A"/>
                </a:solidFill>
                <a:latin typeface="Arial"/>
                <a:ea typeface="Arial"/>
                <a:cs typeface="Arial"/>
              </a:rPr>
              <a:t>They compare firmware versions across the network.</a:t>
            </a:r>
          </a:p>
        </p:txBody>
      </p:sp>
      <p:sp>
        <p:nvSpPr>
          <p:cNvPr id="51" name="FW Shape 51"/>
          <p:cNvSpPr/>
          <p:nvPr/>
        </p:nvSpPr>
        <p:spPr>
          <a:xfrm>
            <a:off x="7863840" y="4983479"/>
            <a:ext cx="457200" cy="457200"/>
          </a:xfrm>
          <a:prstGeom prst="ellipse">
            <a:avLst/>
          </a:prstGeom>
          <a:solidFill>
            <a:srgbClr val="08A1D9"/>
          </a:solidFill>
          <a:ln>
            <a:noFill/>
          </a:ln>
        </p:spPr>
      </p:sp>
      <p:sp>
        <p:nvSpPr>
          <p:cNvPr id="52" name="FW Text 52"/>
          <p:cNvSpPr txBox="1"/>
          <p:nvPr/>
        </p:nvSpPr>
        <p:spPr>
          <a:xfrm>
            <a:off x="7863840" y="4983479"/>
            <a:ext cx="457200" cy="457200"/>
          </a:xfrm>
          <a:prstGeom prst="rect">
            <a:avLst/>
          </a:prstGeom>
          <a:noFill/>
          <a:ln/>
        </p:spPr>
        <p:txBody>
          <a:bodyPr wrap="square" lIns="0" tIns="0" rIns="0" bIns="0" rtlCol="0" anchor="ctr"/>
          <a:lstStyle/>
          <a:p>
            <a:pPr algn="ctr"/>
            <a:r>
              <a:rPr lang="en-US" sz="1500" b="1" dirty="0">
                <a:solidFill>
                  <a:srgbClr val="FFFFFF"/>
                </a:solidFill>
                <a:latin typeface="Arial"/>
                <a:ea typeface="Arial"/>
                <a:cs typeface="Arial"/>
              </a:rPr>
              <a:t>3</a:t>
            </a:r>
          </a:p>
        </p:txBody>
      </p:sp>
      <p:sp>
        <p:nvSpPr>
          <p:cNvPr id="53" name="FW Text 53"/>
          <p:cNvSpPr txBox="1"/>
          <p:nvPr/>
        </p:nvSpPr>
        <p:spPr>
          <a:xfrm>
            <a:off x="8458200" y="4892040"/>
            <a:ext cx="3035807" cy="640080"/>
          </a:xfrm>
          <a:prstGeom prst="rect">
            <a:avLst/>
          </a:prstGeom>
          <a:noFill/>
          <a:ln/>
        </p:spPr>
        <p:txBody>
          <a:bodyPr wrap="square" lIns="0" tIns="0" rIns="0" bIns="0" rtlCol="0" anchor="ctr"/>
          <a:lstStyle/>
          <a:p>
            <a:pPr algn="l"/>
            <a:r>
              <a:rPr lang="en-US" sz="1600" b="0" dirty="0">
                <a:solidFill>
                  <a:srgbClr val="1E2A3A"/>
                </a:solidFill>
                <a:latin typeface="Arial"/>
                <a:ea typeface="Arial"/>
                <a:cs typeface="Arial"/>
              </a:rPr>
              <a:t>Updates spread node to node, without central control.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36576"/>
            <a:ext cx="8686800" cy="420624"/>
          </a:xfrm>
          <a:prstGeom prst="rect">
            <a:avLst/>
          </a:prstGeom>
          <a:noFill/>
          <a:ln/>
        </p:spPr>
        <p:txBody>
          <a:bodyPr wrap="square" lIns="0" tIns="0" rIns="0" bIns="0" rtlCol="0" anchor="ctr"/>
          <a:lstStyle/>
          <a:p>
            <a:pPr marL="0" indent="0">
              <a:buNone/>
            </a:pPr>
            <a:r>
              <a:rPr lang="en-US" sz="2400" b="1" dirty="0">
                <a:solidFill>
                  <a:srgbClr val="1F5A9E"/>
                </a:solidFill>
                <a:latin typeface="Arial" pitchFamily="34" charset="0"/>
                <a:ea typeface="Arial" pitchFamily="34" charset="-122"/>
                <a:cs typeface="Arial" pitchFamily="34" charset="-120"/>
              </a:rPr>
              <a:t>References</a:t>
            </a:r>
            <a:endParaRPr lang="en-US" sz="2400" dirty="0"/>
          </a:p>
        </p:txBody>
      </p:sp>
      <p:sp>
        <p:nvSpPr>
          <p:cNvPr id="3" name="Shape 1"/>
          <p:cNvSpPr/>
          <p:nvPr/>
        </p:nvSpPr>
        <p:spPr>
          <a:xfrm>
            <a:off x="457200" y="960120"/>
            <a:ext cx="11274552" cy="5303520"/>
          </a:xfrm>
          <a:prstGeom prst="roundRect">
            <a:avLst>
              <a:gd name="adj" fmla="val 2069"/>
            </a:avLst>
          </a:prstGeom>
          <a:solidFill>
            <a:srgbClr val="E8F6FD"/>
          </a:solidFill>
          <a:ln/>
        </p:spPr>
      </p:sp>
      <p:sp>
        <p:nvSpPr>
          <p:cNvPr id="4" name="Text 2"/>
          <p:cNvSpPr txBox="1"/>
          <p:nvPr/>
        </p:nvSpPr>
        <p:spPr>
          <a:xfrm>
            <a:off x="685800" y="1143000"/>
            <a:ext cx="502920" cy="548640"/>
          </a:xfrm>
          <a:prstGeom prst="rect">
            <a:avLst/>
          </a:prstGeom>
          <a:noFill/>
          <a:ln/>
        </p:spPr>
        <p:txBody>
          <a:bodyPr wrap="square" lIns="0" tIns="0" rIns="0" bIns="0" rtlCol="0" anchor="t"/>
          <a:lstStyle/>
          <a:p>
            <a:pPr marL="0" indent="0">
              <a:buNone/>
            </a:pPr>
            <a:r>
              <a:rPr lang="en-US" sz="1300" b="1" dirty="0">
                <a:solidFill>
                  <a:srgbClr val="08A1D9"/>
                </a:solidFill>
                <a:latin typeface="Arial" pitchFamily="34" charset="0"/>
                <a:ea typeface="Arial" pitchFamily="34" charset="-122"/>
                <a:cs typeface="Arial" pitchFamily="34" charset="-120"/>
              </a:rPr>
              <a:t>[1]</a:t>
            </a:r>
            <a:endParaRPr lang="en-US" sz="1300" dirty="0"/>
          </a:p>
        </p:txBody>
      </p:sp>
      <p:sp>
        <p:nvSpPr>
          <p:cNvPr id="5" name="Text 3"/>
          <p:cNvSpPr txBox="1"/>
          <p:nvPr/>
        </p:nvSpPr>
        <p:spPr>
          <a:xfrm>
            <a:off x="1188720" y="1143000"/>
            <a:ext cx="10332720" cy="548640"/>
          </a:xfrm>
          <a:prstGeom prst="rect">
            <a:avLst/>
          </a:prstGeom>
          <a:noFill/>
          <a:ln/>
        </p:spPr>
        <p:txBody>
          <a:bodyPr wrap="square" lIns="0" tIns="0" rIns="0" bIns="0" rtlCol="0" anchor="t"/>
          <a:lstStyle/>
          <a:p>
            <a:pPr marL="0" indent="0">
              <a:buNone/>
            </a:pPr>
            <a:r>
              <a:rPr lang="en-US" sz="1300" dirty="0">
                <a:solidFill>
                  <a:srgbClr val="1E2A3A"/>
                </a:solidFill>
                <a:latin typeface="Arial" pitchFamily="34" charset="0"/>
                <a:ea typeface="Arial" pitchFamily="34" charset="-122"/>
                <a:cs typeface="Arial" pitchFamily="34" charset="-120"/>
              </a:rPr>
              <a:t>MCUboot Project, "MCUboot: secure bootloader for 32-bit microcontrollers," project documentation. https://www.mcuboot.com/</a:t>
            </a:r>
            <a:endParaRPr lang="en-US" sz="1300" dirty="0"/>
          </a:p>
        </p:txBody>
      </p:sp>
      <p:sp>
        <p:nvSpPr>
          <p:cNvPr id="6" name="Text 4"/>
          <p:cNvSpPr txBox="1"/>
          <p:nvPr/>
        </p:nvSpPr>
        <p:spPr>
          <a:xfrm>
            <a:off x="685800" y="1773936"/>
            <a:ext cx="502920" cy="548640"/>
          </a:xfrm>
          <a:prstGeom prst="rect">
            <a:avLst/>
          </a:prstGeom>
          <a:noFill/>
          <a:ln/>
        </p:spPr>
        <p:txBody>
          <a:bodyPr wrap="square" lIns="0" tIns="0" rIns="0" bIns="0" rtlCol="0" anchor="t"/>
          <a:lstStyle/>
          <a:p>
            <a:pPr marL="0" indent="0">
              <a:buNone/>
            </a:pPr>
            <a:r>
              <a:rPr lang="en-US" sz="1300" b="1" dirty="0">
                <a:solidFill>
                  <a:srgbClr val="08A1D9"/>
                </a:solidFill>
                <a:latin typeface="Arial" pitchFamily="34" charset="0"/>
                <a:ea typeface="Arial" pitchFamily="34" charset="-122"/>
                <a:cs typeface="Arial" pitchFamily="34" charset="-120"/>
              </a:rPr>
              <a:t>[2]</a:t>
            </a:r>
            <a:endParaRPr lang="en-US" sz="1300" dirty="0"/>
          </a:p>
        </p:txBody>
      </p:sp>
      <p:sp>
        <p:nvSpPr>
          <p:cNvPr id="7" name="Text 5"/>
          <p:cNvSpPr txBox="1"/>
          <p:nvPr/>
        </p:nvSpPr>
        <p:spPr>
          <a:xfrm>
            <a:off x="1188720" y="1773936"/>
            <a:ext cx="10332720" cy="548640"/>
          </a:xfrm>
          <a:prstGeom prst="rect">
            <a:avLst/>
          </a:prstGeom>
          <a:noFill/>
          <a:ln/>
        </p:spPr>
        <p:txBody>
          <a:bodyPr wrap="square" lIns="0" tIns="0" rIns="0" bIns="0" rtlCol="0" anchor="t"/>
          <a:lstStyle/>
          <a:p>
            <a:pPr marL="0" indent="0">
              <a:buNone/>
            </a:pPr>
            <a:r>
              <a:rPr lang="en-US" sz="1300" dirty="0">
                <a:solidFill>
                  <a:srgbClr val="1E2A3A"/>
                </a:solidFill>
                <a:latin typeface="Arial" pitchFamily="34" charset="0"/>
                <a:ea typeface="Arial" pitchFamily="34" charset="-122"/>
                <a:cs typeface="Arial" pitchFamily="34" charset="-120"/>
              </a:rPr>
              <a:t>B. Moran, H. Tschofenig, D. Brown, M. Meriac, "A Firmware Update Architecture for Internet of Things," RFC 9019, IETF, 2021.</a:t>
            </a:r>
            <a:endParaRPr lang="en-US" sz="1300" dirty="0"/>
          </a:p>
        </p:txBody>
      </p:sp>
      <p:sp>
        <p:nvSpPr>
          <p:cNvPr id="8" name="Text 6"/>
          <p:cNvSpPr txBox="1"/>
          <p:nvPr/>
        </p:nvSpPr>
        <p:spPr>
          <a:xfrm>
            <a:off x="685800" y="2404872"/>
            <a:ext cx="502920" cy="548640"/>
          </a:xfrm>
          <a:prstGeom prst="rect">
            <a:avLst/>
          </a:prstGeom>
          <a:noFill/>
          <a:ln/>
        </p:spPr>
        <p:txBody>
          <a:bodyPr wrap="square" lIns="0" tIns="0" rIns="0" bIns="0" rtlCol="0" anchor="t"/>
          <a:lstStyle/>
          <a:p>
            <a:pPr marL="0" indent="0">
              <a:buNone/>
            </a:pPr>
            <a:r>
              <a:rPr lang="en-US" sz="1300" b="1" dirty="0">
                <a:solidFill>
                  <a:srgbClr val="08A1D9"/>
                </a:solidFill>
                <a:latin typeface="Arial" pitchFamily="34" charset="0"/>
                <a:ea typeface="Arial" pitchFamily="34" charset="-122"/>
                <a:cs typeface="Arial" pitchFamily="34" charset="-120"/>
              </a:rPr>
              <a:t>[3]</a:t>
            </a:r>
            <a:endParaRPr lang="en-US" sz="1300" dirty="0"/>
          </a:p>
        </p:txBody>
      </p:sp>
      <p:sp>
        <p:nvSpPr>
          <p:cNvPr id="9" name="Text 7"/>
          <p:cNvSpPr txBox="1"/>
          <p:nvPr/>
        </p:nvSpPr>
        <p:spPr>
          <a:xfrm>
            <a:off x="1188720" y="2404872"/>
            <a:ext cx="10332720" cy="548640"/>
          </a:xfrm>
          <a:prstGeom prst="rect">
            <a:avLst/>
          </a:prstGeom>
          <a:noFill/>
          <a:ln/>
        </p:spPr>
        <p:txBody>
          <a:bodyPr wrap="square" lIns="0" tIns="0" rIns="0" bIns="0" rtlCol="0" anchor="t"/>
          <a:lstStyle/>
          <a:p>
            <a:pPr marL="0" indent="0">
              <a:buNone/>
            </a:pPr>
            <a:r>
              <a:rPr lang="en-US" sz="1300" dirty="0">
                <a:solidFill>
                  <a:srgbClr val="1E2A3A"/>
                </a:solidFill>
                <a:latin typeface="Arial" pitchFamily="34" charset="0"/>
                <a:ea typeface="Arial" pitchFamily="34" charset="-122"/>
                <a:cs typeface="Arial" pitchFamily="34" charset="-120"/>
              </a:rPr>
              <a:t>ISO, "Road vehicles – Unified diagnostic services (UDS)," ISO 14229, 2020.</a:t>
            </a:r>
            <a:endParaRPr lang="en-US" sz="1300" dirty="0"/>
          </a:p>
        </p:txBody>
      </p:sp>
      <p:sp>
        <p:nvSpPr>
          <p:cNvPr id="10" name="Text 8"/>
          <p:cNvSpPr txBox="1"/>
          <p:nvPr/>
        </p:nvSpPr>
        <p:spPr>
          <a:xfrm>
            <a:off x="685800" y="3035808"/>
            <a:ext cx="502920" cy="548640"/>
          </a:xfrm>
          <a:prstGeom prst="rect">
            <a:avLst/>
          </a:prstGeom>
          <a:noFill/>
          <a:ln/>
        </p:spPr>
        <p:txBody>
          <a:bodyPr wrap="square" lIns="0" tIns="0" rIns="0" bIns="0" rtlCol="0" anchor="t"/>
          <a:lstStyle/>
          <a:p>
            <a:pPr marL="0" indent="0">
              <a:buNone/>
            </a:pPr>
            <a:r>
              <a:rPr lang="en-US" sz="1300" b="1" dirty="0">
                <a:solidFill>
                  <a:srgbClr val="08A1D9"/>
                </a:solidFill>
                <a:latin typeface="Arial" pitchFamily="34" charset="0"/>
                <a:ea typeface="Arial" pitchFamily="34" charset="-122"/>
                <a:cs typeface="Arial" pitchFamily="34" charset="-120"/>
              </a:rPr>
              <a:t>[4]</a:t>
            </a:r>
            <a:endParaRPr lang="en-US" sz="1300" dirty="0"/>
          </a:p>
        </p:txBody>
      </p:sp>
      <p:sp>
        <p:nvSpPr>
          <p:cNvPr id="11" name="Text 9"/>
          <p:cNvSpPr txBox="1"/>
          <p:nvPr/>
        </p:nvSpPr>
        <p:spPr>
          <a:xfrm>
            <a:off x="1188720" y="3035808"/>
            <a:ext cx="10332720" cy="548640"/>
          </a:xfrm>
          <a:prstGeom prst="rect">
            <a:avLst/>
          </a:prstGeom>
          <a:noFill/>
          <a:ln/>
        </p:spPr>
        <p:txBody>
          <a:bodyPr wrap="square" lIns="0" tIns="0" rIns="0" bIns="0" rtlCol="0" anchor="t"/>
          <a:lstStyle/>
          <a:p>
            <a:pPr marL="0" indent="0">
              <a:buNone/>
            </a:pPr>
            <a:r>
              <a:rPr lang="en-US" sz="1300" dirty="0">
                <a:solidFill>
                  <a:srgbClr val="1E2A3A"/>
                </a:solidFill>
                <a:latin typeface="Arial" pitchFamily="34" charset="0"/>
                <a:ea typeface="Arial" pitchFamily="34" charset="-122"/>
                <a:cs typeface="Arial" pitchFamily="34" charset="-120"/>
              </a:rPr>
              <a:t>ISO, "Road vehicles – Diagnostic communication over CAN (DoCAN) – Part 2: Transport protocol and network layer services," ISO 15765-2, 2016.</a:t>
            </a:r>
            <a:endParaRPr lang="en-US" sz="1300" dirty="0"/>
          </a:p>
        </p:txBody>
      </p:sp>
      <p:sp>
        <p:nvSpPr>
          <p:cNvPr id="12" name="Text 10"/>
          <p:cNvSpPr txBox="1"/>
          <p:nvPr/>
        </p:nvSpPr>
        <p:spPr>
          <a:xfrm>
            <a:off x="685800" y="3666744"/>
            <a:ext cx="502920" cy="548640"/>
          </a:xfrm>
          <a:prstGeom prst="rect">
            <a:avLst/>
          </a:prstGeom>
          <a:noFill/>
          <a:ln/>
        </p:spPr>
        <p:txBody>
          <a:bodyPr wrap="square" lIns="0" tIns="0" rIns="0" bIns="0" rtlCol="0" anchor="t"/>
          <a:lstStyle/>
          <a:p>
            <a:pPr marL="0" indent="0">
              <a:buNone/>
            </a:pPr>
            <a:r>
              <a:rPr lang="en-US" sz="1300" b="1" dirty="0">
                <a:solidFill>
                  <a:srgbClr val="08A1D9"/>
                </a:solidFill>
                <a:latin typeface="Arial" pitchFamily="34" charset="0"/>
                <a:ea typeface="Arial" pitchFamily="34" charset="-122"/>
                <a:cs typeface="Arial" pitchFamily="34" charset="-120"/>
              </a:rPr>
              <a:t>[5]</a:t>
            </a:r>
            <a:endParaRPr lang="en-US" sz="1300" dirty="0"/>
          </a:p>
        </p:txBody>
      </p:sp>
      <p:sp>
        <p:nvSpPr>
          <p:cNvPr id="13" name="Text 11"/>
          <p:cNvSpPr txBox="1"/>
          <p:nvPr/>
        </p:nvSpPr>
        <p:spPr>
          <a:xfrm>
            <a:off x="1188720" y="3666744"/>
            <a:ext cx="10332720" cy="548640"/>
          </a:xfrm>
          <a:prstGeom prst="rect">
            <a:avLst/>
          </a:prstGeom>
          <a:noFill/>
          <a:ln/>
        </p:spPr>
        <p:txBody>
          <a:bodyPr wrap="square" lIns="0" tIns="0" rIns="0" bIns="0" rtlCol="0" anchor="t"/>
          <a:lstStyle/>
          <a:p>
            <a:pPr marL="0" indent="0">
              <a:buNone/>
            </a:pPr>
            <a:r>
              <a:rPr lang="en-US" sz="1300" dirty="0">
                <a:solidFill>
                  <a:srgbClr val="1E2A3A"/>
                </a:solidFill>
                <a:latin typeface="Arial" pitchFamily="34" charset="0"/>
                <a:ea typeface="Arial" pitchFamily="34" charset="-122"/>
                <a:cs typeface="Arial" pitchFamily="34" charset="-120"/>
              </a:rPr>
              <a:t>ISO, "Road vehicles – Controller area network (CAN) – Part 1: Data link layer and physical signalling," ISO 11898-1, 2015.</a:t>
            </a:r>
            <a:endParaRPr lang="en-US" sz="1300" dirty="0"/>
          </a:p>
        </p:txBody>
      </p:sp>
      <p:sp>
        <p:nvSpPr>
          <p:cNvPr id="14" name="Text 12"/>
          <p:cNvSpPr txBox="1"/>
          <p:nvPr/>
        </p:nvSpPr>
        <p:spPr>
          <a:xfrm>
            <a:off x="685800" y="4297680"/>
            <a:ext cx="502920" cy="548640"/>
          </a:xfrm>
          <a:prstGeom prst="rect">
            <a:avLst/>
          </a:prstGeom>
          <a:noFill/>
          <a:ln/>
        </p:spPr>
        <p:txBody>
          <a:bodyPr wrap="square" lIns="0" tIns="0" rIns="0" bIns="0" rtlCol="0" anchor="t"/>
          <a:lstStyle/>
          <a:p>
            <a:pPr marL="0" indent="0">
              <a:buNone/>
            </a:pPr>
            <a:r>
              <a:rPr lang="en-US" sz="1300" b="1" dirty="0">
                <a:solidFill>
                  <a:srgbClr val="08A1D9"/>
                </a:solidFill>
                <a:latin typeface="Arial" pitchFamily="34" charset="0"/>
                <a:ea typeface="Arial" pitchFamily="34" charset="-122"/>
                <a:cs typeface="Arial" pitchFamily="34" charset="-120"/>
              </a:rPr>
              <a:t>[6]</a:t>
            </a:r>
            <a:endParaRPr lang="en-US" sz="1300" dirty="0"/>
          </a:p>
        </p:txBody>
      </p:sp>
      <p:sp>
        <p:nvSpPr>
          <p:cNvPr id="15" name="Text 13"/>
          <p:cNvSpPr txBox="1"/>
          <p:nvPr/>
        </p:nvSpPr>
        <p:spPr>
          <a:xfrm>
            <a:off x="1188720" y="4297680"/>
            <a:ext cx="10332720" cy="548640"/>
          </a:xfrm>
          <a:prstGeom prst="rect">
            <a:avLst/>
          </a:prstGeom>
          <a:noFill/>
          <a:ln/>
        </p:spPr>
        <p:txBody>
          <a:bodyPr wrap="square" lIns="0" tIns="0" rIns="0" bIns="0" rtlCol="0" anchor="t"/>
          <a:lstStyle/>
          <a:p>
            <a:pPr marL="0" indent="0">
              <a:buNone/>
            </a:pPr>
            <a:r>
              <a:rPr lang="en-US" sz="1300" dirty="0">
                <a:solidFill>
                  <a:srgbClr val="1E2A3A"/>
                </a:solidFill>
                <a:latin typeface="Arial" pitchFamily="34" charset="0"/>
                <a:ea typeface="Arial" pitchFamily="34" charset="-122"/>
                <a:cs typeface="Arial" pitchFamily="34" charset="-120"/>
              </a:rPr>
              <a:t>CENELEC, "Railway applications – Software for railway control and protection systems," EN 50128, 2011.</a:t>
            </a:r>
            <a:endParaRPr lang="en-US" sz="1300" dirty="0"/>
          </a:p>
        </p:txBody>
      </p:sp>
      <p:sp>
        <p:nvSpPr>
          <p:cNvPr id="16" name="Text 14"/>
          <p:cNvSpPr txBox="1"/>
          <p:nvPr/>
        </p:nvSpPr>
        <p:spPr>
          <a:xfrm>
            <a:off x="685800" y="4928616"/>
            <a:ext cx="502920" cy="548640"/>
          </a:xfrm>
          <a:prstGeom prst="rect">
            <a:avLst/>
          </a:prstGeom>
          <a:noFill/>
          <a:ln/>
        </p:spPr>
        <p:txBody>
          <a:bodyPr wrap="square" lIns="0" tIns="0" rIns="0" bIns="0" rtlCol="0" anchor="t"/>
          <a:lstStyle/>
          <a:p>
            <a:pPr marL="0" indent="0">
              <a:buNone/>
            </a:pPr>
            <a:r>
              <a:rPr lang="en-US" sz="1300" b="1" dirty="0">
                <a:solidFill>
                  <a:srgbClr val="08A1D9"/>
                </a:solidFill>
                <a:latin typeface="Arial" pitchFamily="34" charset="0"/>
                <a:ea typeface="Arial" pitchFamily="34" charset="-122"/>
                <a:cs typeface="Arial" pitchFamily="34" charset="-120"/>
              </a:rPr>
              <a:t>[7]</a:t>
            </a:r>
            <a:endParaRPr lang="en-US" sz="1300" dirty="0"/>
          </a:p>
        </p:txBody>
      </p:sp>
      <p:sp>
        <p:nvSpPr>
          <p:cNvPr id="17" name="Text 15"/>
          <p:cNvSpPr txBox="1"/>
          <p:nvPr/>
        </p:nvSpPr>
        <p:spPr>
          <a:xfrm>
            <a:off x="1188720" y="4928616"/>
            <a:ext cx="10332720" cy="548640"/>
          </a:xfrm>
          <a:prstGeom prst="rect">
            <a:avLst/>
          </a:prstGeom>
          <a:noFill/>
          <a:ln/>
        </p:spPr>
        <p:txBody>
          <a:bodyPr wrap="square" lIns="0" tIns="0" rIns="0" bIns="0" rtlCol="0" anchor="t"/>
          <a:lstStyle/>
          <a:p>
            <a:pPr marL="0" indent="0">
              <a:buNone/>
            </a:pPr>
            <a:r>
              <a:rPr lang="en-US" sz="1300" dirty="0">
                <a:solidFill>
                  <a:srgbClr val="1E2A3A"/>
                </a:solidFill>
                <a:latin typeface="Arial" pitchFamily="34" charset="0"/>
                <a:ea typeface="Arial" pitchFamily="34" charset="-122"/>
                <a:cs typeface="Arial" pitchFamily="34" charset="-120"/>
              </a:rPr>
              <a:t>CENELEC, "Railway applications – Safety related electronic systems for signalling," EN 50129, 2018.</a:t>
            </a:r>
            <a:endParaRPr lang="en-US" sz="1300" dirty="0"/>
          </a:p>
        </p:txBody>
      </p:sp>
      <p:sp>
        <p:nvSpPr>
          <p:cNvPr id="18" name="Text 16"/>
          <p:cNvSpPr txBox="1"/>
          <p:nvPr/>
        </p:nvSpPr>
        <p:spPr>
          <a:xfrm>
            <a:off x="685800" y="5559552"/>
            <a:ext cx="502920" cy="548640"/>
          </a:xfrm>
          <a:prstGeom prst="rect">
            <a:avLst/>
          </a:prstGeom>
          <a:noFill/>
          <a:ln/>
        </p:spPr>
        <p:txBody>
          <a:bodyPr wrap="square" lIns="0" tIns="0" rIns="0" bIns="0" rtlCol="0" anchor="t"/>
          <a:lstStyle/>
          <a:p>
            <a:pPr marL="0" indent="0">
              <a:buNone/>
            </a:pPr>
            <a:r>
              <a:rPr lang="en-US" sz="1300" b="1" dirty="0">
                <a:solidFill>
                  <a:srgbClr val="08A1D9"/>
                </a:solidFill>
                <a:latin typeface="Arial" pitchFamily="34" charset="0"/>
                <a:ea typeface="Arial" pitchFamily="34" charset="-122"/>
                <a:cs typeface="Arial" pitchFamily="34" charset="-120"/>
              </a:rPr>
              <a:t>[8]</a:t>
            </a:r>
            <a:endParaRPr lang="en-US" sz="1300" dirty="0"/>
          </a:p>
        </p:txBody>
      </p:sp>
      <p:sp>
        <p:nvSpPr>
          <p:cNvPr id="19" name="Text 17"/>
          <p:cNvSpPr txBox="1"/>
          <p:nvPr/>
        </p:nvSpPr>
        <p:spPr>
          <a:xfrm>
            <a:off x="1188720" y="5559552"/>
            <a:ext cx="10332720" cy="548640"/>
          </a:xfrm>
          <a:prstGeom prst="rect">
            <a:avLst/>
          </a:prstGeom>
          <a:noFill/>
          <a:ln/>
        </p:spPr>
        <p:txBody>
          <a:bodyPr wrap="square" lIns="0" tIns="0" rIns="0" bIns="0" rtlCol="0" anchor="t"/>
          <a:lstStyle/>
          <a:p>
            <a:pPr marL="0" indent="0">
              <a:buNone/>
            </a:pPr>
            <a:r>
              <a:rPr lang="en-US" sz="1300" dirty="0">
                <a:solidFill>
                  <a:srgbClr val="1E2A3A"/>
                </a:solidFill>
                <a:latin typeface="Arial" pitchFamily="34" charset="0"/>
                <a:ea typeface="Arial" pitchFamily="34" charset="-122"/>
                <a:cs typeface="Arial" pitchFamily="34" charset="-120"/>
              </a:rPr>
              <a:t>NIST, "Secure Hash Standard (SHS)," FIPS PUB 180-4, 2015.</a:t>
            </a:r>
            <a:endParaRPr lang="en-US" sz="1300" dirty="0"/>
          </a:p>
        </p:txBody>
      </p:sp>
      <p:sp>
        <p:nvSpPr>
          <p:cNvPr id="25" name="Slide Number Placeholder 0"/>
          <p:cNvSpPr>
            <a:spLocks noGrp="1"/>
          </p:cNvSpPr>
          <p:nvPr>
            <p:ph type="sldNum" sz="quarter" idx="4294967295"/>
          </p:nvPr>
        </p:nvSpPr>
        <p:spPr>
          <a:xfrm>
            <a:off x="1138428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A"/>
                </a:solidFill>
                <a:latin typeface="Arial"/>
                <a:ea typeface="Arial"/>
                <a:cs typeface="Aria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home/claude/build/thankyou.png"/>
          <p:cNvPicPr>
            <a:picLocks noChangeAspect="1"/>
          </p:cNvPicPr>
          <p:nvPr/>
        </p:nvPicPr>
        <p:blipFill>
          <a:blip r:embed="rId3"/>
          <a:stretch>
            <a:fillRect/>
          </a:stretch>
        </p:blipFill>
        <p:spPr>
          <a:xfrm>
            <a:off x="3520440" y="1828800"/>
            <a:ext cx="5157216" cy="1828800"/>
          </a:xfrm>
          <a:prstGeom prst="rect">
            <a:avLst/>
          </a:prstGeom>
        </p:spPr>
      </p:pic>
      <p:sp>
        <p:nvSpPr>
          <p:cNvPr id="4" name="Text 1"/>
          <p:cNvSpPr txBox="1"/>
          <p:nvPr/>
        </p:nvSpPr>
        <p:spPr>
          <a:xfrm>
            <a:off x="1371600" y="4754880"/>
            <a:ext cx="9445752" cy="365760"/>
          </a:xfrm>
          <a:prstGeom prst="rect">
            <a:avLst/>
          </a:prstGeom>
          <a:noFill/>
          <a:ln/>
        </p:spPr>
        <p:txBody>
          <a:bodyPr wrap="square" lIns="0" tIns="0" rIns="0" bIns="0" rtlCol="0" anchor="t"/>
          <a:lstStyle/>
          <a:p>
            <a:pPr marL="0" indent="0" algn="ctr">
              <a:buNone/>
            </a:pPr>
            <a:r>
              <a:rPr lang="en-US" sz="1300" dirty="0">
                <a:solidFill>
                  <a:srgbClr val="5B6B7F"/>
                </a:solidFill>
                <a:latin typeface="Arial" pitchFamily="34" charset="0"/>
                <a:ea typeface="Arial" pitchFamily="34" charset="-122"/>
                <a:cs typeface="Arial" pitchFamily="34" charset="-120"/>
              </a:rPr>
              <a:t>abhinavpathak@bel.co.in  ·  manupratapshekhawat@bel.co.in  ·  munishkhanna@bel.co.in</a:t>
            </a:r>
            <a:endParaRPr lang="en-US" sz="1300" dirty="0"/>
          </a:p>
        </p:txBody>
      </p:sp>
      <p:sp>
        <p:nvSpPr>
          <p:cNvPr id="25" name="Slide Number Placeholder 0"/>
          <p:cNvSpPr>
            <a:spLocks noGrp="1"/>
          </p:cNvSpPr>
          <p:nvPr>
            <p:ph type="sldNum" sz="quarter" idx="4294967295"/>
          </p:nvPr>
        </p:nvSpPr>
        <p:spPr>
          <a:xfrm>
            <a:off x="1138428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A"/>
                </a:solidFill>
                <a:latin typeface="Arial"/>
                <a:ea typeface="Arial"/>
                <a:cs typeface="Arial"/>
              </a:defRPr>
            </a:lvl1pPr>
          </a:lstStyle>
          <a:p>
            <a:pPr algn="r"/>
            <a:fld id="{F7021451-1387-4CA6-816F-3879F97B5CBC}" type="slidenum">
              <a:rPr lang="en-US" b="0"/>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949</TotalTime>
  <Words>3273</Words>
  <Application>Microsoft Office PowerPoint</Application>
  <PresentationFormat>Widescreen</PresentationFormat>
  <Paragraphs>565</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Multi-protocol Fail-Safe Bootloader Framework</dc:title>
  <dc:subject>PptxGenJS Presentation</dc:subject>
  <dc:creator>Abhinav Pathak, Manu Pratap Shekhawat, Munish Khanna</dc:creator>
  <cp:lastModifiedBy>HP</cp:lastModifiedBy>
  <cp:revision>15</cp:revision>
  <dcterms:created xsi:type="dcterms:W3CDTF">2026-09-25T02:53:30Z</dcterms:created>
  <dcterms:modified xsi:type="dcterms:W3CDTF">2026-09-28T18:17:47Z</dcterms:modified>
</cp:coreProperties>
</file>